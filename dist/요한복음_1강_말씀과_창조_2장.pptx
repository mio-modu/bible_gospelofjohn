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과 · 하나님에 대한 증언" id="{3b3ebd5e-b156-a525-e5f6-5255bb8b3cb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카드는 나란한 이유가 아니라 순서입니다. 보내심(전제) → 알려주심(사역) → 떠오르게 하심(결과). ‘말씀’이라는 단어에는 반드시 말한 이가 전제됩니다 — 요한복음은 ‘나를 보내신 아버지’를 40번 넘게 씁니다 (6:38, 17:3).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‘건축가와 인부’ 비유는 쓰지 마십시오 — 그것이 아리우스가 주장한 구도이고 니케아가 거부한 내용입니다. 예수님은 창조의 도구가 아니라 창조주이십니다. 근거 : 히 1:10이 시편 102:25(야훼께 드리는 시)를 아들에게 적용합니다. 요 1:3의 이중 부정 “지은 것이 하나도 그가 없이는 된 것이 없느니라”는 예외를 남기지 않으므로, 예수님이 피조물이면 자기가 자기를 지은 모순이 됩니다. 요한이 1절(신성)을 3절(창조) 앞에 둔 것도 이 오해를 막기 위해서입니다. 비유를 쓰신다면 ‘말하는 사람과 그 말’ — 분리되지 않으면서 구별됩니다.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938528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b="1" spc="400" kern="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2395728"/>
            <a:ext cx="100584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041648"/>
            <a:ext cx="96012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5000"/>
              </a:lnSpc>
              <a:buNone/>
              <a:defRPr lang="en-US" sz="20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lnSpc>
                <a:spcPct val="1350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60120" y="2011680"/>
            <a:ext cx="2011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3127248"/>
            <a:ext cx="98755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20624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81328"/>
            <a:ext cx="10820095" cy="4791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81328"/>
            <a:ext cx="10820095" cy="4791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R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창조주이신 예수님 (1:1~3)</a:t>
            </a:r>
            <a:endParaRPr lang="en-US" sz="3600" dirty="0"/>
          </a:p>
        </p:txBody>
      </p:sp>
      <p:sp>
        <p:nvSpPr>
          <p:cNvPr id="3" name="qtag"/>
          <p:cNvSpPr txBox="1"/>
          <p:nvPr/>
        </p:nvSpPr>
        <p:spPr>
          <a:xfrm>
            <a:off x="9784080" y="420624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22~23</a:t>
            </a:r>
            <a:endParaRPr lang="en-US" sz="1600" dirty="0"/>
          </a:p>
        </p:txBody>
      </p:sp>
      <p:sp>
        <p:nvSpPr>
          <p:cNvPr id="4" name="keyline"/>
          <p:cNvSpPr/>
          <p:nvPr/>
        </p:nvSpPr>
        <p:spPr>
          <a:xfrm>
            <a:off x="685800" y="1591056"/>
            <a:ext cx="10820095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5" name="keyline-text"/>
          <p:cNvSpPr txBox="1"/>
          <p:nvPr/>
        </p:nvSpPr>
        <p:spPr>
          <a:xfrm>
            <a:off x="960120" y="1591056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1절과 14절의 ‘말씀’은 예수님이시다 — 14절 “말씀이 육신이 되어”가 이를 확정한다</a:t>
            </a:r>
            <a:endParaRPr lang="en-US" sz="2000" dirty="0"/>
          </a:p>
        </p:txBody>
      </p:sp>
      <p:sp>
        <p:nvSpPr>
          <p:cNvPr id="6" name="subhead-badge"/>
          <p:cNvSpPr/>
          <p:nvPr/>
        </p:nvSpPr>
        <p:spPr>
          <a:xfrm>
            <a:off x="685800" y="2706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ubhead-badge-text"/>
          <p:cNvSpPr txBox="1"/>
          <p:nvPr/>
        </p:nvSpPr>
        <p:spPr>
          <a:xfrm>
            <a:off x="685800" y="2706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500" dirty="0"/>
          </a:p>
        </p:txBody>
      </p:sp>
      <p:sp>
        <p:nvSpPr>
          <p:cNvPr id="8" name="subhead-text"/>
          <p:cNvSpPr txBox="1"/>
          <p:nvPr/>
        </p:nvSpPr>
        <p:spPr>
          <a:xfrm>
            <a:off x="1255471" y="2724912"/>
            <a:ext cx="10250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예수님을 ‘말씀(로고스)’이라 묘사했는가</a:t>
            </a:r>
            <a:endParaRPr lang="en-US" sz="2150" dirty="0"/>
          </a:p>
        </p:txBody>
      </p:sp>
      <p:sp>
        <p:nvSpPr>
          <p:cNvPr id="9" name="card-0"/>
          <p:cNvSpPr/>
          <p:nvPr/>
        </p:nvSpPr>
        <p:spPr>
          <a:xfrm>
            <a:off x="685800" y="3310128"/>
            <a:ext cx="3448202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0-head"/>
          <p:cNvSpPr txBox="1"/>
          <p:nvPr/>
        </p:nvSpPr>
        <p:spPr>
          <a:xfrm>
            <a:off x="923544" y="3547872"/>
            <a:ext cx="2972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보내심 받은 분이므로</a:t>
            </a:r>
            <a:endParaRPr lang="en-US" sz="2000" dirty="0"/>
          </a:p>
        </p:txBody>
      </p:sp>
      <p:sp>
        <p:nvSpPr>
          <p:cNvPr id="11" name="card-0-body"/>
          <p:cNvSpPr txBox="1"/>
          <p:nvPr/>
        </p:nvSpPr>
        <p:spPr>
          <a:xfrm>
            <a:off x="923544" y="4261104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말씀에는 반드시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이가 있다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아버지가 보내신 분</a:t>
            </a:r>
            <a:endParaRPr lang="en-US" sz="1700" dirty="0"/>
          </a:p>
        </p:txBody>
      </p:sp>
      <p:sp>
        <p:nvSpPr>
          <p:cNvPr id="12" name="card-1"/>
          <p:cNvSpPr/>
          <p:nvPr/>
        </p:nvSpPr>
        <p:spPr>
          <a:xfrm>
            <a:off x="4371746" y="3310128"/>
            <a:ext cx="3448202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3" name="card-1-head"/>
          <p:cNvSpPr txBox="1"/>
          <p:nvPr/>
        </p:nvSpPr>
        <p:spPr>
          <a:xfrm>
            <a:off x="4609490" y="3547872"/>
            <a:ext cx="2972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하나님을 알려주시므로</a:t>
            </a:r>
            <a:endParaRPr lang="en-US" sz="2000" dirty="0"/>
          </a:p>
        </p:txBody>
      </p:sp>
      <p:sp>
        <p:nvSpPr>
          <p:cNvPr id="14" name="card-1-body"/>
          <p:cNvSpPr txBox="1"/>
          <p:nvPr/>
        </p:nvSpPr>
        <p:spPr>
          <a:xfrm>
            <a:off x="4609490" y="4261104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하나님에 대한 개념을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통해서 얻는다</a:t>
            </a:r>
            <a:endParaRPr lang="en-US" sz="1700" dirty="0"/>
          </a:p>
        </p:txBody>
      </p:sp>
      <p:sp>
        <p:nvSpPr>
          <p:cNvPr id="15" name="card-2"/>
          <p:cNvSpPr/>
          <p:nvPr/>
        </p:nvSpPr>
        <p:spPr>
          <a:xfrm>
            <a:off x="8057693" y="3310128"/>
            <a:ext cx="3448202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6" name="card-2-head"/>
          <p:cNvSpPr txBox="1"/>
          <p:nvPr/>
        </p:nvSpPr>
        <p:spPr>
          <a:xfrm>
            <a:off x="8295437" y="3547872"/>
            <a:ext cx="2972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하나님을 떠오르게 하므로</a:t>
            </a:r>
            <a:endParaRPr lang="en-US" sz="2000" dirty="0"/>
          </a:p>
        </p:txBody>
      </p:sp>
      <p:sp>
        <p:nvSpPr>
          <p:cNvPr id="17" name="card-2-body"/>
          <p:cNvSpPr txBox="1"/>
          <p:nvPr/>
        </p:nvSpPr>
        <p:spPr>
          <a:xfrm>
            <a:off x="8295437" y="4261104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말씀을 들으면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분이 떠오른다</a:t>
            </a:r>
            <a:endParaRPr lang="en-US" sz="1700" dirty="0"/>
          </a:p>
        </p:txBody>
      </p:sp>
      <p:sp>
        <p:nvSpPr>
          <p:cNvPr id="18" name="note"/>
          <p:cNvSpPr txBox="1"/>
          <p:nvPr/>
        </p:nvSpPr>
        <p:spPr>
          <a:xfrm>
            <a:off x="685800" y="561441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보면 하나님이 보입니다 (14:9)</a:t>
            </a:r>
            <a:endParaRPr lang="en-US" sz="19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685800" y="1481328"/>
            <a:ext cx="10820095" cy="4791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 안의 삼위 하나님</a:t>
            </a:r>
            <a:endParaRPr lang="en-US" sz="3600" dirty="0"/>
          </a:p>
        </p:txBody>
      </p:sp>
      <p:sp>
        <p:nvSpPr>
          <p:cNvPr id="3" name="qtag"/>
          <p:cNvSpPr txBox="1"/>
          <p:nvPr/>
        </p:nvSpPr>
        <p:spPr>
          <a:xfrm>
            <a:off x="9784080" y="420624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1:1~3 심화</a:t>
            </a:r>
            <a:endParaRPr lang="en-US" sz="1600" dirty="0"/>
          </a:p>
        </p:txBody>
      </p:sp>
      <p:sp>
        <p:nvSpPr>
          <p:cNvPr id="4" name="keyline"/>
          <p:cNvSpPr/>
          <p:nvPr/>
        </p:nvSpPr>
        <p:spPr>
          <a:xfrm>
            <a:off x="685800" y="1572768"/>
            <a:ext cx="10820095" cy="768096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</p:sp>
      <p:sp>
        <p:nvSpPr>
          <p:cNvPr id="5" name="keyline-text"/>
          <p:cNvSpPr txBox="1"/>
          <p:nvPr/>
        </p:nvSpPr>
        <p:spPr>
          <a:xfrm>
            <a:off x="960120" y="1572768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창조는 한 분 하나님의 한 사역입니다 — 셋이 나누어 맡은 것이 아닙니다</a:t>
            </a:r>
            <a:endParaRPr lang="en-US" sz="2100" dirty="0"/>
          </a:p>
        </p:txBody>
      </p:sp>
      <p:sp>
        <p:nvSpPr>
          <p:cNvPr id="6" name="card-0"/>
          <p:cNvSpPr/>
          <p:nvPr/>
        </p:nvSpPr>
        <p:spPr>
          <a:xfrm>
            <a:off x="685800" y="2542032"/>
            <a:ext cx="3448202" cy="2761488"/>
          </a:xfrm>
          <a:prstGeom prst="roundRect">
            <a:avLst>
              <a:gd name="adj" fmla="val 198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badge"/>
          <p:cNvSpPr/>
          <p:nvPr/>
        </p:nvSpPr>
        <p:spPr>
          <a:xfrm>
            <a:off x="923544" y="2779776"/>
            <a:ext cx="59436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card-0-badge-text"/>
          <p:cNvSpPr txBox="1"/>
          <p:nvPr/>
        </p:nvSpPr>
        <p:spPr>
          <a:xfrm>
            <a:off x="923544" y="27797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성부</a:t>
            </a:r>
            <a:endParaRPr lang="en-US" sz="1500" dirty="0"/>
          </a:p>
        </p:txBody>
      </p:sp>
      <p:sp>
        <p:nvSpPr>
          <p:cNvPr id="9" name="card-0-head"/>
          <p:cNvSpPr txBox="1"/>
          <p:nvPr/>
        </p:nvSpPr>
        <p:spPr>
          <a:xfrm>
            <a:off x="923544" y="3310128"/>
            <a:ext cx="29727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그에게서 (ἐκ)</a:t>
            </a:r>
            <a:endParaRPr lang="en-US" sz="2200" dirty="0"/>
          </a:p>
        </p:txBody>
      </p:sp>
      <p:sp>
        <p:nvSpPr>
          <p:cNvPr id="10" name="card-0-body"/>
          <p:cNvSpPr txBox="1"/>
          <p:nvPr/>
        </p:nvSpPr>
        <p:spPr>
          <a:xfrm>
            <a:off x="923544" y="3735324"/>
            <a:ext cx="2972714" cy="86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“만물이 그에게서 났고”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고린도전서 8:6</a:t>
            </a:r>
            <a:endParaRPr lang="en-US" sz="1700" dirty="0"/>
          </a:p>
        </p:txBody>
      </p:sp>
      <p:sp>
        <p:nvSpPr>
          <p:cNvPr id="11" name="card-0-foot"/>
          <p:cNvSpPr txBox="1"/>
          <p:nvPr/>
        </p:nvSpPr>
        <p:spPr>
          <a:xfrm>
            <a:off x="923544" y="4636834"/>
            <a:ext cx="2972714" cy="4655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창조의 발원</a:t>
            </a:r>
            <a:endParaRPr lang="en-US" sz="1550" dirty="0"/>
          </a:p>
        </p:txBody>
      </p:sp>
      <p:sp>
        <p:nvSpPr>
          <p:cNvPr id="12" name="card-1"/>
          <p:cNvSpPr/>
          <p:nvPr/>
        </p:nvSpPr>
        <p:spPr>
          <a:xfrm>
            <a:off x="4371746" y="2542032"/>
            <a:ext cx="3448202" cy="2761488"/>
          </a:xfrm>
          <a:prstGeom prst="roundRect">
            <a:avLst>
              <a:gd name="adj" fmla="val 198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3" name="card-1-badge"/>
          <p:cNvSpPr/>
          <p:nvPr/>
        </p:nvSpPr>
        <p:spPr>
          <a:xfrm>
            <a:off x="4609490" y="2779776"/>
            <a:ext cx="59436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card-1-badge-text"/>
          <p:cNvSpPr txBox="1"/>
          <p:nvPr/>
        </p:nvSpPr>
        <p:spPr>
          <a:xfrm>
            <a:off x="4609490" y="27797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성자</a:t>
            </a:r>
            <a:endParaRPr lang="en-US" sz="1500" dirty="0"/>
          </a:p>
        </p:txBody>
      </p:sp>
      <p:sp>
        <p:nvSpPr>
          <p:cNvPr id="15" name="card-1-head"/>
          <p:cNvSpPr txBox="1"/>
          <p:nvPr/>
        </p:nvSpPr>
        <p:spPr>
          <a:xfrm>
            <a:off x="4609490" y="3310128"/>
            <a:ext cx="29727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그로 말미암아 (διά)</a:t>
            </a:r>
            <a:endParaRPr lang="en-US" sz="2200" dirty="0"/>
          </a:p>
        </p:txBody>
      </p:sp>
      <p:sp>
        <p:nvSpPr>
          <p:cNvPr id="16" name="card-1-body"/>
          <p:cNvSpPr txBox="1"/>
          <p:nvPr/>
        </p:nvSpPr>
        <p:spPr>
          <a:xfrm>
            <a:off x="4609490" y="3735324"/>
            <a:ext cx="2972714" cy="86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“만물이 그로 말미암아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지은 바 되었으니”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1:3</a:t>
            </a:r>
            <a:endParaRPr lang="en-US" sz="1700" dirty="0"/>
          </a:p>
        </p:txBody>
      </p:sp>
      <p:sp>
        <p:nvSpPr>
          <p:cNvPr id="17" name="card-1-foot"/>
          <p:cNvSpPr txBox="1"/>
          <p:nvPr/>
        </p:nvSpPr>
        <p:spPr>
          <a:xfrm>
            <a:off x="4609490" y="4636834"/>
            <a:ext cx="2972714" cy="4655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창조의 중개</a:t>
            </a:r>
            <a:endParaRPr lang="en-US" sz="1550" dirty="0"/>
          </a:p>
        </p:txBody>
      </p:sp>
      <p:sp>
        <p:nvSpPr>
          <p:cNvPr id="18" name="card-2"/>
          <p:cNvSpPr/>
          <p:nvPr/>
        </p:nvSpPr>
        <p:spPr>
          <a:xfrm>
            <a:off x="8057693" y="2542032"/>
            <a:ext cx="3448202" cy="2761488"/>
          </a:xfrm>
          <a:prstGeom prst="roundRect">
            <a:avLst>
              <a:gd name="adj" fmla="val 198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2-badge"/>
          <p:cNvSpPr/>
          <p:nvPr/>
        </p:nvSpPr>
        <p:spPr>
          <a:xfrm>
            <a:off x="8295437" y="2779776"/>
            <a:ext cx="59436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card-2-badge-text"/>
          <p:cNvSpPr txBox="1"/>
          <p:nvPr/>
        </p:nvSpPr>
        <p:spPr>
          <a:xfrm>
            <a:off x="8295437" y="27797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성령</a:t>
            </a:r>
            <a:endParaRPr lang="en-US" sz="1500" dirty="0"/>
          </a:p>
        </p:txBody>
      </p:sp>
      <p:sp>
        <p:nvSpPr>
          <p:cNvPr id="21" name="card-2-head"/>
          <p:cNvSpPr txBox="1"/>
          <p:nvPr/>
        </p:nvSpPr>
        <p:spPr>
          <a:xfrm>
            <a:off x="8295437" y="3310128"/>
            <a:ext cx="29727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수면 위에 운행</a:t>
            </a:r>
            <a:endParaRPr lang="en-US" sz="2200" dirty="0"/>
          </a:p>
        </p:txBody>
      </p:sp>
      <p:sp>
        <p:nvSpPr>
          <p:cNvPr id="22" name="card-2-body"/>
          <p:cNvSpPr txBox="1"/>
          <p:nvPr/>
        </p:nvSpPr>
        <p:spPr>
          <a:xfrm>
            <a:off x="8295437" y="3735324"/>
            <a:ext cx="2972714" cy="86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“하나님의 영은 수면 위에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운행하시니라”</a:t>
            </a:r>
            <a:endParaRPr lang="en-US" sz="17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창세기 1:2</a:t>
            </a:r>
            <a:endParaRPr lang="en-US" sz="1700" dirty="0"/>
          </a:p>
        </p:txBody>
      </p:sp>
      <p:sp>
        <p:nvSpPr>
          <p:cNvPr id="23" name="card-2-foot"/>
          <p:cNvSpPr txBox="1"/>
          <p:nvPr/>
        </p:nvSpPr>
        <p:spPr>
          <a:xfrm>
            <a:off x="8295437" y="4636834"/>
            <a:ext cx="2972714" cy="4655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창조의 생기</a:t>
            </a:r>
            <a:endParaRPr lang="en-US" sz="1550" dirty="0"/>
          </a:p>
        </p:txBody>
      </p:sp>
      <p:sp>
        <p:nvSpPr>
          <p:cNvPr id="24" name="keyline"/>
          <p:cNvSpPr/>
          <p:nvPr/>
        </p:nvSpPr>
        <p:spPr>
          <a:xfrm>
            <a:off x="685800" y="5504688"/>
            <a:ext cx="10820095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/>
        </p:spPr>
      </p:sp>
      <p:sp>
        <p:nvSpPr>
          <p:cNvPr id="25" name="keyline-text"/>
          <p:cNvSpPr txBox="1"/>
          <p:nvPr/>
        </p:nvSpPr>
        <p:spPr>
          <a:xfrm>
            <a:off x="960120" y="5504688"/>
            <a:ext cx="10271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구분되지만 나뉘지 않습니다  ·  능력의 서열이 아니라 관계의 질서입니다</a:t>
            </a:r>
            <a:endParaRPr lang="en-US" sz="210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685800" y="1481328"/>
            <a:ext cx="10820095" cy="4791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ry - Gospel of John">
  <a:themeElements>
    <a:clrScheme name="Glory - Gospel of John">
      <a:dk1>
        <a:srgbClr val="17202B"/>
      </a:dk1>
      <a:lt1>
        <a:srgbClr val="FFFFFF"/>
      </a:lt1>
      <a:dk2>
        <a:srgbClr val="0E1826"/>
      </a:dk2>
      <a:lt2>
        <a:srgbClr val="F1F4F7"/>
      </a:lt2>
      <a:accent1>
        <a:srgbClr val="C19A4B"/>
      </a:accent1>
      <a:accent2>
        <a:srgbClr val="1F3A52"/>
      </a:accent2>
      <a:accent3>
        <a:srgbClr val="5E7488"/>
      </a:accent3>
      <a:accent4>
        <a:srgbClr val="AEB9C4"/>
      </a:accent4>
      <a:accent5>
        <a:srgbClr val="9A7628"/>
      </a:accent5>
      <a:accent6>
        <a:srgbClr val="E0CA9A"/>
      </a:accent6>
      <a:hlink>
        <a:srgbClr val="1F3A52"/>
      </a:hlink>
      <a:folHlink>
        <a:srgbClr val="5E7488"/>
      </a:folHlink>
    </a:clrScheme>
    <a:fontScheme name="Glory - Gospel of John">
      <a:majorFont>
        <a:latin typeface="맑은 고딕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요한복음 1강 · 말씀과 창조</dc:title>
  <dc:subject>PptxGenJS Presentation</dc:subject>
  <dc:creator>박성은 목사</dc:creator>
  <cp:lastModifiedBy>박성은 목사</cp:lastModifiedBy>
  <cp:revision>1</cp:revision>
  <dcterms:created xsi:type="dcterms:W3CDTF">2026-10-25T05:17:38Z</dcterms:created>
  <dcterms:modified xsi:type="dcterms:W3CDTF">2026-10-25T05:17:38Z</dcterms:modified>
</cp:coreProperties>
</file>