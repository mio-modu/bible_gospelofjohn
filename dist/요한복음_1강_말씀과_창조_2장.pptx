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과 · 하나님에 대한 증언" id="{e6f93b1f-81e2-84ec-3822-276c2ab4a05e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카드는 나란한 이유가 아니라 순서입니다 — 나오심(전제) → 알려주심(사역) → 떠오르게 하심(결과). ‘말씀’이라는 단어에는 반드시 말한 이가 전제됩니다. ‘보내심 받은’도 요한의 표현이지만(40회 이상), 그 말만 쓰면 선지자·사도와 같은 급으로 들립니다. 요한은 ‘보내심’을 쓸 때마다 어디서 왔는지를 붙여 그 오해를 막습니다 — 16:28 아버지에게서 나와, 6:38 하늘에서 내려온, 3:13 하늘에서 내려온 자, 17:5 창세 전에 가졌던 영화. 선지자는 태어나서 보내심을 받고, 예수님은 계시다가 오셨습니다.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‘건축가와 인부’ 비유는 쓰지 마십시오 — 그것이 아리우스가 주장한 구도이고 니케아가 거부한 내용입니다. 예수님은 창조의 도구가 아니라 창조주이십니다. 근거 : 히 1:10이 시편 102:25(야훼께 드리는 시)를 아들에게 적용합니다. 요 1:3의 이중 부정 “지은 것이 하나도 그가 없이는 된 것이 없느니라”는 예외를 남기지 않으므로, 예수님이 피조물이면 자기가 자기를 지은 모순이 됩니다. 요한이 1절(신성)을 3절(창조) 앞에 둔 것도 이 오해를 막기 위해서입니다. 비유를 쓰신다면 ‘말하는 사람과 그 말’ — 분리되지 않으면서 구별됩니다.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273552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11296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아버지에게서 나오셨으므로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4224528"/>
            <a:ext cx="29727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말씀에는 반드시 말한 이가 있다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“내가 아버지에게서 나와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세상에 왔고” (16:28)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273552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11296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24528"/>
            <a:ext cx="29727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273552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11296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24528"/>
            <a:ext cx="29727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76072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안의 삼위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 심화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72768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72768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창조는 한 분 하나님의 한 사역입니다 — 셋이 나누어 맡은 것이 아닙니다</a:t>
            </a:r>
            <a:endParaRPr lang="en-US" sz="2100" dirty="0"/>
          </a:p>
        </p:txBody>
      </p:sp>
      <p:sp>
        <p:nvSpPr>
          <p:cNvPr id="6" name="card-0"/>
          <p:cNvSpPr/>
          <p:nvPr/>
        </p:nvSpPr>
        <p:spPr>
          <a:xfrm>
            <a:off x="685800" y="2542032"/>
            <a:ext cx="3448202" cy="2761488"/>
          </a:xfrm>
          <a:prstGeom prst="roundRect">
            <a:avLst>
              <a:gd name="adj" fmla="val 198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2779776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2779776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3101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그에게서 (ἐκ)</a:t>
            </a:r>
            <a:endParaRPr lang="en-US" sz="22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3735324"/>
            <a:ext cx="2972714" cy="864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그에게서 났고”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고린도전서 8:6</a:t>
            </a:r>
            <a:endParaRPr lang="en-US" sz="1700" dirty="0"/>
          </a:p>
        </p:txBody>
      </p:sp>
      <p:sp>
        <p:nvSpPr>
          <p:cNvPr id="11" name="card-0-foot"/>
          <p:cNvSpPr txBox="1"/>
          <p:nvPr/>
        </p:nvSpPr>
        <p:spPr>
          <a:xfrm>
            <a:off x="923544" y="4636834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창조의 발원</a:t>
            </a:r>
            <a:endParaRPr lang="en-US" sz="1550" dirty="0"/>
          </a:p>
        </p:txBody>
      </p:sp>
      <p:sp>
        <p:nvSpPr>
          <p:cNvPr id="12" name="card-1"/>
          <p:cNvSpPr/>
          <p:nvPr/>
        </p:nvSpPr>
        <p:spPr>
          <a:xfrm>
            <a:off x="4371746" y="2542032"/>
            <a:ext cx="3448202" cy="2761488"/>
          </a:xfrm>
          <a:prstGeom prst="roundRect">
            <a:avLst>
              <a:gd name="adj" fmla="val 198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badge"/>
          <p:cNvSpPr/>
          <p:nvPr/>
        </p:nvSpPr>
        <p:spPr>
          <a:xfrm>
            <a:off x="4609490" y="2779776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4" name="card-1-badge-text"/>
          <p:cNvSpPr txBox="1"/>
          <p:nvPr/>
        </p:nvSpPr>
        <p:spPr>
          <a:xfrm>
            <a:off x="4609490" y="2779776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성자</a:t>
            </a:r>
            <a:endParaRPr lang="en-US" sz="1500" dirty="0"/>
          </a:p>
        </p:txBody>
      </p:sp>
      <p:sp>
        <p:nvSpPr>
          <p:cNvPr id="15" name="card-1-head"/>
          <p:cNvSpPr txBox="1"/>
          <p:nvPr/>
        </p:nvSpPr>
        <p:spPr>
          <a:xfrm>
            <a:off x="4609490" y="33101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그로 말미암아 (διά)</a:t>
            </a:r>
            <a:endParaRPr lang="en-US" sz="2200" dirty="0"/>
          </a:p>
        </p:txBody>
      </p:sp>
      <p:sp>
        <p:nvSpPr>
          <p:cNvPr id="16" name="card-1-body"/>
          <p:cNvSpPr txBox="1"/>
          <p:nvPr/>
        </p:nvSpPr>
        <p:spPr>
          <a:xfrm>
            <a:off x="4609490" y="3735324"/>
            <a:ext cx="2972714" cy="864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1:3</a:t>
            </a:r>
            <a:endParaRPr lang="en-US" sz="1700" dirty="0"/>
          </a:p>
        </p:txBody>
      </p:sp>
      <p:sp>
        <p:nvSpPr>
          <p:cNvPr id="17" name="card-1-foot"/>
          <p:cNvSpPr txBox="1"/>
          <p:nvPr/>
        </p:nvSpPr>
        <p:spPr>
          <a:xfrm>
            <a:off x="4609490" y="4636834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창조의 중개</a:t>
            </a:r>
            <a:endParaRPr lang="en-US" sz="1550" dirty="0"/>
          </a:p>
        </p:txBody>
      </p:sp>
      <p:sp>
        <p:nvSpPr>
          <p:cNvPr id="18" name="card-2"/>
          <p:cNvSpPr/>
          <p:nvPr/>
        </p:nvSpPr>
        <p:spPr>
          <a:xfrm>
            <a:off x="8057693" y="2542032"/>
            <a:ext cx="3448202" cy="2761488"/>
          </a:xfrm>
          <a:prstGeom prst="roundRect">
            <a:avLst>
              <a:gd name="adj" fmla="val 198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2-badge"/>
          <p:cNvSpPr/>
          <p:nvPr/>
        </p:nvSpPr>
        <p:spPr>
          <a:xfrm>
            <a:off x="8295437" y="2779776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2-badge-text"/>
          <p:cNvSpPr txBox="1"/>
          <p:nvPr/>
        </p:nvSpPr>
        <p:spPr>
          <a:xfrm>
            <a:off x="8295437" y="2779776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</a:t>
            </a:r>
            <a:endParaRPr lang="en-US" sz="1500" dirty="0"/>
          </a:p>
        </p:txBody>
      </p:sp>
      <p:sp>
        <p:nvSpPr>
          <p:cNvPr id="21" name="card-2-head"/>
          <p:cNvSpPr txBox="1"/>
          <p:nvPr/>
        </p:nvSpPr>
        <p:spPr>
          <a:xfrm>
            <a:off x="8295437" y="33101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수면 위에 운행</a:t>
            </a:r>
            <a:endParaRPr lang="en-US" sz="2200" dirty="0"/>
          </a:p>
        </p:txBody>
      </p:sp>
      <p:sp>
        <p:nvSpPr>
          <p:cNvPr id="22" name="card-2-body"/>
          <p:cNvSpPr txBox="1"/>
          <p:nvPr/>
        </p:nvSpPr>
        <p:spPr>
          <a:xfrm>
            <a:off x="8295437" y="3735324"/>
            <a:ext cx="2972714" cy="864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영은 수면 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운행하시니라”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1:2</a:t>
            </a:r>
            <a:endParaRPr lang="en-US" sz="1700" dirty="0"/>
          </a:p>
        </p:txBody>
      </p:sp>
      <p:sp>
        <p:nvSpPr>
          <p:cNvPr id="23" name="card-2-foot"/>
          <p:cNvSpPr txBox="1"/>
          <p:nvPr/>
        </p:nvSpPr>
        <p:spPr>
          <a:xfrm>
            <a:off x="8295437" y="4636834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창조의 생기</a:t>
            </a:r>
            <a:endParaRPr lang="en-US" sz="1550" dirty="0"/>
          </a:p>
        </p:txBody>
      </p:sp>
      <p:sp>
        <p:nvSpPr>
          <p:cNvPr id="24" name="keyline"/>
          <p:cNvSpPr/>
          <p:nvPr/>
        </p:nvSpPr>
        <p:spPr>
          <a:xfrm>
            <a:off x="685800" y="5504688"/>
            <a:ext cx="10820095" cy="713232"/>
          </a:xfrm>
          <a:prstGeom prst="roundRect">
            <a:avLst>
              <a:gd name="adj" fmla="val 12821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5504688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구분되지만 나뉘지 않습니다  ·  능력의 서열이 아니라 관계의 질서입니다</a:t>
            </a:r>
            <a:endParaRPr lang="en-US" sz="21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1강 · 말씀과 창조</dc:title>
  <dc:subject>PptxGenJS Presentation</dc:subject>
  <dc:creator>박성은 목사</dc:creator>
  <cp:lastModifiedBy>박성은 목사</cp:lastModifiedBy>
  <cp:revision>1</cp:revision>
  <dcterms:created xsi:type="dcterms:W3CDTF">2026-10-25T05:21:01Z</dcterms:created>
  <dcterms:modified xsi:type="dcterms:W3CDTF">2026-10-25T05:21:01Z</dcterms:modified>
</cp:coreProperties>
</file>