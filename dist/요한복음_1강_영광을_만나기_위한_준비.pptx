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오리엔테이션" id="{1e424387-06de-82c9-544b-5a9db08974d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요한복음 분석" id="{746885e5-7782-8ede-4281-6df7c892b7bc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1과 · 예수님에 대한 증언" id="{7630b8a6-9938-213f-f035-62b2200a588a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1과 · 하나님에 대한 증언" id="{ce84b2d4-9595-aff1-88a5-053207dc4cea}">
          <p14:sldIdLst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</p14:sldIdLst>
        </p14:section>
        <p14:section name="마무리" id="{1dcf8e8c-d755-874a-5d1a-960a1de7834f}">
          <p14:sldIdLst>
            <p14:sldId id="311"/>
            <p14:sldId id="312"/>
            <p14:sldId id="313"/>
          </p14:sldIdLst>
        </p14:section>
        <p14:section name="부록" id="{bcc71881-ae00-1861-e7b5-009f07157c44}">
          <p14:sldIdLst>
            <p14:sldId id="314"/>
            <p14:sldId id="31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202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7202B"/>
                </a:solidFill>
                <a:latin typeface="Arial"/>
              </a:rPr>
              <a:t>복음서별 ‘사랑’ 사용 횟수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‘사랑’ 사용 횟수</c:v>
                </c:pt>
              </c:strCache>
            </c:strRef>
          </c:tx>
          <c:spPr>
            <a:solidFill>
              <a:srgbClr val="AEB9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19A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마태복음</c:v>
                  </c:pt>
                  <c:pt idx="1">
                    <c:v>마가복음</c:v>
                  </c:pt>
                  <c:pt idx="2">
                    <c:v>누가복음</c:v>
                  </c:pt>
                  <c:pt idx="3">
                    <c:v>요한복음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7</c:v>
                </c:pt>
                <c:pt idx="2">
                  <c:v>16</c:v>
                </c:pt>
                <c:pt idx="3">
                  <c:v>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720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74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→ 과정 소개 → 소그룹 나눔(소개·조장선출) → 1과 강의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강사 소개와 공동체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조장은 자원을 먼저 받고, 없으면 추천으로 세웁니다. 조장 연락처를 꼭 확보하세요.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20:31은 1강에서 가장 중요한 구절입니다. 성구 암송 과제로 제시해도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두문자는 2주차 복습 퀴즈로 다시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“저자에 대해 알면 알수록 그 글을 더 깊이 이해할 수 있다.” — 요한복음을 공부하기 전에 먼저 요한을 알자.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잠시 멈추고 질문: 여러분을 담대하게 만드는 것은 무엇입니까?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1절은 신약에서 삼위일체를 가장 압축적으로 보여주는 구절 중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5000"/>
              </a:lnSpc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lnSpc>
                <a:spcPct val="135000"/>
              </a:lnSpc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요한복음 OBC · 제1강 영광을 만나기 위한 준비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요한복음 OBC · 제1강 영광을 만나기 위한 준비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RE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요한복음 OBC · 제1강 영광을 만나기 위한 준비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요한복음 OBC · 제1강 영광을 만나기 위한 준비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1"/>
                </a:solidFill>
              </a:rPr>
              <a:t>OBC 요한복음 · 제 1 강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영광을 만나기 위한 준비</a:t>
            </a:r>
            <a:endParaRPr lang="en-US" sz="5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chemeClr val="accent6"/>
                </a:solidFill>
              </a:rPr>
              <a:t>요한복음 1:1~18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BEE Korea 교재 제1과   |   서누리 성인공동체 · 드리머스 청년공동체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eeting"/>
          <p:cNvSpPr txBox="1"/>
          <p:nvPr/>
        </p:nvSpPr>
        <p:spPr>
          <a:xfrm>
            <a:off x="685800" y="2148840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사랑하고 축복합니다</a:t>
            </a:r>
            <a:endParaRPr lang="en-US" sz="4800" dirty="0"/>
          </a:p>
        </p:txBody>
      </p:sp>
      <p:sp>
        <p:nvSpPr>
          <p:cNvPr id="3" name="greeting-sub"/>
          <p:cNvSpPr txBox="1"/>
          <p:nvPr/>
        </p:nvSpPr>
        <p:spPr>
          <a:xfrm>
            <a:off x="685800" y="321868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여덟 주 동안 요한복음과 함께 예수님을 더 깊이 만나는 여정에 초대합니다</a:t>
            </a:r>
            <a:endParaRPr lang="en-US" sz="1800" dirty="0"/>
          </a:p>
        </p:txBody>
      </p:sp>
      <p:sp>
        <p:nvSpPr>
          <p:cNvPr id="4" name="dot-badge"/>
          <p:cNvSpPr/>
          <p:nvPr/>
        </p:nvSpPr>
        <p:spPr>
          <a:xfrm>
            <a:off x="685800" y="4041648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dot-badge-text"/>
          <p:cNvSpPr txBox="1"/>
          <p:nvPr/>
        </p:nvSpPr>
        <p:spPr>
          <a:xfrm>
            <a:off x="685800" y="4041648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" dirty="0"/>
          </a:p>
        </p:txBody>
      </p:sp>
      <p:sp>
        <p:nvSpPr>
          <p:cNvPr id="6" name="teacher"/>
          <p:cNvSpPr txBox="1"/>
          <p:nvPr/>
        </p:nvSpPr>
        <p:spPr>
          <a:xfrm>
            <a:off x="905256" y="39136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박성은 목사</a:t>
            </a:r>
            <a:endParaRPr lang="en-US" sz="17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오늘 우리가 함께할 길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737360"/>
            <a:ext cx="1973824" cy="2651760"/>
          </a:xfrm>
          <a:prstGeom prst="roundRect">
            <a:avLst>
              <a:gd name="adj" fmla="val 2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9751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505456"/>
            <a:ext cx="149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오리엔테이션</a:t>
            </a:r>
            <a:endParaRPr lang="en-US" sz="16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34640"/>
            <a:ext cx="149833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8주 과정 안내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수료 기준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강의 진행 순서</a:t>
            </a:r>
            <a:endParaRPr lang="en-US" sz="1300" dirty="0"/>
          </a:p>
        </p:txBody>
      </p:sp>
      <p:sp>
        <p:nvSpPr>
          <p:cNvPr id="8" name="card-1"/>
          <p:cNvSpPr/>
          <p:nvPr/>
        </p:nvSpPr>
        <p:spPr>
          <a:xfrm>
            <a:off x="2897368" y="1737360"/>
            <a:ext cx="1973824" cy="2651760"/>
          </a:xfrm>
          <a:prstGeom prst="roundRect">
            <a:avLst>
              <a:gd name="adj" fmla="val 2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135112" y="19751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135112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3135112" y="2505456"/>
            <a:ext cx="149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소그룹 나눔</a:t>
            </a:r>
            <a:endParaRPr lang="en-US" sz="1600" dirty="0"/>
          </a:p>
        </p:txBody>
      </p:sp>
      <p:sp>
        <p:nvSpPr>
          <p:cNvPr id="12" name="card-1-body"/>
          <p:cNvSpPr txBox="1"/>
          <p:nvPr/>
        </p:nvSpPr>
        <p:spPr>
          <a:xfrm>
            <a:off x="3135112" y="2834640"/>
            <a:ext cx="149833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자기소개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요한복음 수강 계기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조장 선출</a:t>
            </a:r>
            <a:endParaRPr lang="en-US" sz="1300" dirty="0"/>
          </a:p>
        </p:txBody>
      </p:sp>
      <p:sp>
        <p:nvSpPr>
          <p:cNvPr id="13" name="card-2"/>
          <p:cNvSpPr/>
          <p:nvPr/>
        </p:nvSpPr>
        <p:spPr>
          <a:xfrm>
            <a:off x="5108936" y="1737360"/>
            <a:ext cx="1973824" cy="2651760"/>
          </a:xfrm>
          <a:prstGeom prst="roundRect">
            <a:avLst>
              <a:gd name="adj" fmla="val 2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5346680" y="19751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5346680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card-2-head"/>
          <p:cNvSpPr txBox="1"/>
          <p:nvPr/>
        </p:nvSpPr>
        <p:spPr>
          <a:xfrm>
            <a:off x="5346680" y="2505456"/>
            <a:ext cx="149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요한복음 분석</a:t>
            </a:r>
            <a:endParaRPr lang="en-US" sz="1600" dirty="0"/>
          </a:p>
        </p:txBody>
      </p:sp>
      <p:sp>
        <p:nvSpPr>
          <p:cNvPr id="17" name="card-2-body"/>
          <p:cNvSpPr txBox="1"/>
          <p:nvPr/>
        </p:nvSpPr>
        <p:spPr>
          <a:xfrm>
            <a:off x="5346680" y="2834640"/>
            <a:ext cx="149833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저자 · 기록목적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구조와 완전수 7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한 장씩 전체 조망</a:t>
            </a:r>
            <a:endParaRPr lang="en-US" sz="1300" dirty="0"/>
          </a:p>
        </p:txBody>
      </p:sp>
      <p:sp>
        <p:nvSpPr>
          <p:cNvPr id="18" name="card-3"/>
          <p:cNvSpPr/>
          <p:nvPr/>
        </p:nvSpPr>
        <p:spPr>
          <a:xfrm>
            <a:off x="7320504" y="1737360"/>
            <a:ext cx="1973824" cy="2651760"/>
          </a:xfrm>
          <a:prstGeom prst="roundRect">
            <a:avLst>
              <a:gd name="adj" fmla="val 2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7558248" y="19751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7558248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card-3-head"/>
          <p:cNvSpPr txBox="1"/>
          <p:nvPr/>
        </p:nvSpPr>
        <p:spPr>
          <a:xfrm>
            <a:off x="7558248" y="2505456"/>
            <a:ext cx="149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제1과 강의</a:t>
            </a:r>
            <a:endParaRPr lang="en-US" sz="1600" dirty="0"/>
          </a:p>
        </p:txBody>
      </p:sp>
      <p:sp>
        <p:nvSpPr>
          <p:cNvPr id="22" name="card-3-body"/>
          <p:cNvSpPr txBox="1"/>
          <p:nvPr/>
        </p:nvSpPr>
        <p:spPr>
          <a:xfrm>
            <a:off x="7558248" y="2834640"/>
            <a:ext cx="149833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예수님에 대한 증언,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요한복음 (1장 전반)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질문 1~21</a:t>
            </a:r>
            <a:endParaRPr lang="en-US" sz="1300" dirty="0"/>
          </a:p>
        </p:txBody>
      </p:sp>
      <p:sp>
        <p:nvSpPr>
          <p:cNvPr id="23" name="card-4"/>
          <p:cNvSpPr/>
          <p:nvPr/>
        </p:nvSpPr>
        <p:spPr>
          <a:xfrm>
            <a:off x="9532071" y="1737360"/>
            <a:ext cx="1973824" cy="2651760"/>
          </a:xfrm>
          <a:prstGeom prst="roundRect">
            <a:avLst>
              <a:gd name="adj" fmla="val 2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769815" y="19751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769815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card-4-head"/>
          <p:cNvSpPr txBox="1"/>
          <p:nvPr/>
        </p:nvSpPr>
        <p:spPr>
          <a:xfrm>
            <a:off x="9769815" y="2505456"/>
            <a:ext cx="149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제1과 강의</a:t>
            </a:r>
            <a:endParaRPr lang="en-US" sz="1600" dirty="0"/>
          </a:p>
        </p:txBody>
      </p:sp>
      <p:sp>
        <p:nvSpPr>
          <p:cNvPr id="27" name="card-4-body"/>
          <p:cNvSpPr txBox="1"/>
          <p:nvPr/>
        </p:nvSpPr>
        <p:spPr>
          <a:xfrm>
            <a:off x="9769815" y="2834640"/>
            <a:ext cx="149833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하나님에 대한 증언,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예수님 (1:1~18)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질문 22~41</a:t>
            </a:r>
            <a:endParaRPr lang="en-US" sz="1300" dirty="0"/>
          </a:p>
        </p:txBody>
      </p:sp>
      <p:sp>
        <p:nvSpPr>
          <p:cNvPr id="28" name="keyline"/>
          <p:cNvSpPr/>
          <p:nvPr/>
        </p:nvSpPr>
        <p:spPr>
          <a:xfrm>
            <a:off x="685800" y="4754880"/>
            <a:ext cx="1082009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475488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오늘의 한 문장  ·  “요한복음은 예수님이 누구신지를 증언하는 복음서입니다”</a:t>
            </a:r>
            <a:endParaRPr lang="en-US" sz="1800" dirty="0"/>
          </a:p>
        </p:txBody>
      </p:sp>
      <p:sp>
        <p:nvSpPr>
          <p:cNvPr id="30" name="note"/>
          <p:cNvSpPr txBox="1"/>
          <p:nvPr/>
        </p:nvSpPr>
        <p:spPr>
          <a:xfrm>
            <a:off x="685800" y="57150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※ 1주차는 오리엔테이션이 있어 소그룹 나눔을 강의보다 앞에 둡니다. 2주차부터는 강의1 → 나눔 → 강의2 순서입니다.</a:t>
            </a:r>
            <a:endParaRPr lang="en-US" sz="12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8주 과정 안내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63040"/>
          <a:ext cx="1082009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  <a:gridCol w="2651760"/>
                <a:gridCol w="2221992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제1과  영광을 만나기 위한 준비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1:1~18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제2과  영광이 드러나다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1:19~4:42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제3과  영광을 드러내시다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4:43~6장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제4과  영광이신 예수님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7~10장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제5과  영광이신 하나님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11~12장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제6과  영광으로의 최후 여정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13~14장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제7과  영광 안에 거함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15~17장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6강 소감문 · 시험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제8과  영광으로의 초대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18~21장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간증문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note"/>
          <p:cNvSpPr txBox="1"/>
          <p:nvPr/>
        </p:nvSpPr>
        <p:spPr>
          <a:xfrm>
            <a:off x="685800" y="57607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※ 날짜는 개강일에 맞춰 기입해 주세요.   ※ 공휴일 휴강 주차가 있으면 한 주씩 뒤로 조정합니다.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수료 기준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40864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소감문</a:t>
            </a:r>
            <a:endParaRPr lang="en-US" sz="1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02052"/>
            <a:ext cx="2051228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매주 제출 (총 6주간)</a:t>
            </a:r>
            <a:endParaRPr lang="en-US" sz="14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94258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강의 다음 주 제출</a:t>
            </a:r>
            <a:endParaRPr lang="en-US" sz="1200" dirty="0"/>
          </a:p>
        </p:txBody>
      </p:sp>
      <p:sp>
        <p:nvSpPr>
          <p:cNvPr id="9" name="card-1"/>
          <p:cNvSpPr/>
          <p:nvPr/>
        </p:nvSpPr>
        <p:spPr>
          <a:xfrm>
            <a:off x="3450260" y="1572768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40864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간증문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702052"/>
            <a:ext cx="2051228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8주차 강의까지 제출</a:t>
            </a:r>
            <a:endParaRPr lang="en-US" sz="14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94258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마지막 주 마감</a:t>
            </a:r>
            <a:endParaRPr lang="en-US" sz="1200" dirty="0"/>
          </a:p>
        </p:txBody>
      </p:sp>
      <p:sp>
        <p:nvSpPr>
          <p:cNvPr id="15" name="card-2"/>
          <p:cNvSpPr/>
          <p:nvPr/>
        </p:nvSpPr>
        <p:spPr>
          <a:xfrm>
            <a:off x="6214720" y="1572768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340864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성적 산출</a:t>
            </a:r>
            <a:endParaRPr lang="en-US" sz="18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702052"/>
            <a:ext cx="2051228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출석 60% · 과제 30% · 시험 10%</a:t>
            </a:r>
            <a:endParaRPr lang="en-US" sz="14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94258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시험은 7주차</a:t>
            </a:r>
            <a:endParaRPr lang="en-US" sz="1200" dirty="0"/>
          </a:p>
        </p:txBody>
      </p:sp>
      <p:sp>
        <p:nvSpPr>
          <p:cNvPr id="21" name="card-3"/>
          <p:cNvSpPr/>
          <p:nvPr/>
        </p:nvSpPr>
        <p:spPr>
          <a:xfrm>
            <a:off x="8979179" y="1572768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340864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출석</a:t>
            </a:r>
            <a:endParaRPr lang="en-US" sz="18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702052"/>
            <a:ext cx="2051228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결석 1회까지만 허용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지각 20분 이상 2회 = 결석 1회</a:t>
            </a:r>
            <a:endParaRPr lang="en-US" sz="14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94258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지각 유의</a:t>
            </a:r>
            <a:endParaRPr lang="en-US" sz="1200" dirty="0"/>
          </a:p>
        </p:txBody>
      </p:sp>
      <p:sp>
        <p:nvSpPr>
          <p:cNvPr id="27" name="keyline"/>
          <p:cNvSpPr/>
          <p:nvPr/>
        </p:nvSpPr>
        <p:spPr>
          <a:xfrm>
            <a:off x="685800" y="4681728"/>
            <a:ext cx="10820095" cy="896112"/>
          </a:xfrm>
          <a:prstGeom prst="roundRect">
            <a:avLst>
              <a:gd name="adj" fmla="val 10204"/>
            </a:avLst>
          </a:prstGeom>
          <a:solidFill>
            <a:schemeClr val="tx2"/>
          </a:solidFill>
          <a:ln/>
        </p:spPr>
      </p:sp>
      <p:sp>
        <p:nvSpPr>
          <p:cNvPr id="28" name="keyline-text"/>
          <p:cNvSpPr txBox="1"/>
          <p:nvPr/>
        </p:nvSpPr>
        <p:spPr>
          <a:xfrm>
            <a:off x="960120" y="4681728"/>
            <a:ext cx="1027145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권장 숙제  ·  성구 암송  |  매주 요한복음 일독  |  다음 과 예습</a:t>
            </a:r>
            <a:endParaRPr lang="en-US" sz="1800" dirty="0"/>
          </a:p>
        </p:txBody>
      </p:sp>
      <p:sp>
        <p:nvSpPr>
          <p:cNvPr id="29" name="note"/>
          <p:cNvSpPr txBox="1"/>
          <p:nvPr/>
        </p:nvSpPr>
        <p:spPr>
          <a:xfrm>
            <a:off x="685800" y="57607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완주가 목표입니다. 못 따라오는 사람이 생기면 조장이 먼저 챙겨 주세요.</a:t>
            </a:r>
            <a:endParaRPr lang="en-US" sz="13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매주 강의 진행 순서</a:t>
            </a:r>
            <a:endParaRPr lang="en-US" sz="3200" dirty="0"/>
          </a:p>
        </p:txBody>
      </p:sp>
      <p:sp>
        <p:nvSpPr>
          <p:cNvPr id="3" name="row-0"/>
          <p:cNvSpPr/>
          <p:nvPr/>
        </p:nvSpPr>
        <p:spPr>
          <a:xfrm>
            <a:off x="685800" y="1536192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4" name="row-0-time"/>
          <p:cNvSpPr txBox="1"/>
          <p:nvPr/>
        </p:nvSpPr>
        <p:spPr>
          <a:xfrm>
            <a:off x="923544" y="153619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8:00 ~ 8:10</a:t>
            </a:r>
            <a:endParaRPr lang="en-US" sz="1700" dirty="0"/>
          </a:p>
        </p:txBody>
      </p:sp>
      <p:sp>
        <p:nvSpPr>
          <p:cNvPr id="5" name="row-0-head"/>
          <p:cNvSpPr txBox="1"/>
          <p:nvPr/>
        </p:nvSpPr>
        <p:spPr>
          <a:xfrm>
            <a:off x="3063240" y="1536192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찬양 · 대표기도</a:t>
            </a:r>
            <a:endParaRPr lang="en-US" sz="1700" dirty="0"/>
          </a:p>
        </p:txBody>
      </p:sp>
      <p:sp>
        <p:nvSpPr>
          <p:cNvPr id="6" name="row-0-desc"/>
          <p:cNvSpPr txBox="1"/>
          <p:nvPr/>
        </p:nvSpPr>
        <p:spPr>
          <a:xfrm>
            <a:off x="8823960" y="153619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10분</a:t>
            </a:r>
            <a:endParaRPr lang="en-US" sz="1300" dirty="0"/>
          </a:p>
        </p:txBody>
      </p:sp>
      <p:sp>
        <p:nvSpPr>
          <p:cNvPr id="7" name="row-1"/>
          <p:cNvSpPr/>
          <p:nvPr/>
        </p:nvSpPr>
        <p:spPr>
          <a:xfrm>
            <a:off x="685800" y="2194560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8" name="row-1-time"/>
          <p:cNvSpPr txBox="1"/>
          <p:nvPr/>
        </p:nvSpPr>
        <p:spPr>
          <a:xfrm>
            <a:off x="923544" y="21945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8:10 ~ 8:55</a:t>
            </a:r>
            <a:endParaRPr lang="en-US" sz="1700" dirty="0"/>
          </a:p>
        </p:txBody>
      </p:sp>
      <p:sp>
        <p:nvSpPr>
          <p:cNvPr id="9" name="row-1-head"/>
          <p:cNvSpPr txBox="1"/>
          <p:nvPr/>
        </p:nvSpPr>
        <p:spPr>
          <a:xfrm>
            <a:off x="3063240" y="219456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강의 1</a:t>
            </a:r>
            <a:endParaRPr lang="en-US" sz="1700" dirty="0"/>
          </a:p>
        </p:txBody>
      </p:sp>
      <p:sp>
        <p:nvSpPr>
          <p:cNvPr id="10" name="row-1-desc"/>
          <p:cNvSpPr txBox="1"/>
          <p:nvPr/>
        </p:nvSpPr>
        <p:spPr>
          <a:xfrm>
            <a:off x="8823960" y="2194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45분 · 2주차부터 소감문 리뷰</a:t>
            </a:r>
            <a:endParaRPr lang="en-US" sz="1300" dirty="0"/>
          </a:p>
        </p:txBody>
      </p:sp>
      <p:sp>
        <p:nvSpPr>
          <p:cNvPr id="11" name="row-2"/>
          <p:cNvSpPr/>
          <p:nvPr/>
        </p:nvSpPr>
        <p:spPr>
          <a:xfrm>
            <a:off x="685800" y="2852928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12" name="row-2-time"/>
          <p:cNvSpPr txBox="1"/>
          <p:nvPr/>
        </p:nvSpPr>
        <p:spPr>
          <a:xfrm>
            <a:off x="923544" y="28529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8:55 ~ 9:05</a:t>
            </a:r>
            <a:endParaRPr lang="en-US" sz="1700" dirty="0"/>
          </a:p>
        </p:txBody>
      </p:sp>
      <p:sp>
        <p:nvSpPr>
          <p:cNvPr id="13" name="row-2-head"/>
          <p:cNvSpPr txBox="1"/>
          <p:nvPr/>
        </p:nvSpPr>
        <p:spPr>
          <a:xfrm>
            <a:off x="3063240" y="2852928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휴식</a:t>
            </a:r>
            <a:endParaRPr lang="en-US" sz="1700" dirty="0"/>
          </a:p>
        </p:txBody>
      </p:sp>
      <p:sp>
        <p:nvSpPr>
          <p:cNvPr id="14" name="row-2-desc"/>
          <p:cNvSpPr txBox="1"/>
          <p:nvPr/>
        </p:nvSpPr>
        <p:spPr>
          <a:xfrm>
            <a:off x="8823960" y="28529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10분</a:t>
            </a:r>
            <a:endParaRPr lang="en-US" sz="1300" dirty="0"/>
          </a:p>
        </p:txBody>
      </p:sp>
      <p:sp>
        <p:nvSpPr>
          <p:cNvPr id="15" name="row-3"/>
          <p:cNvSpPr/>
          <p:nvPr/>
        </p:nvSpPr>
        <p:spPr>
          <a:xfrm>
            <a:off x="685800" y="3511296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6" name="row-3-time"/>
          <p:cNvSpPr txBox="1"/>
          <p:nvPr/>
        </p:nvSpPr>
        <p:spPr>
          <a:xfrm>
            <a:off x="923544" y="35112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9:05 ~ 9:27</a:t>
            </a:r>
            <a:endParaRPr lang="en-US" sz="1700" dirty="0"/>
          </a:p>
        </p:txBody>
      </p:sp>
      <p:sp>
        <p:nvSpPr>
          <p:cNvPr id="17" name="row-3-head"/>
          <p:cNvSpPr txBox="1"/>
          <p:nvPr/>
        </p:nvSpPr>
        <p:spPr>
          <a:xfrm>
            <a:off x="3063240" y="3511296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조별 소그룹 나눔 · 전체 나눔</a:t>
            </a:r>
            <a:endParaRPr lang="en-US" sz="1700" dirty="0"/>
          </a:p>
        </p:txBody>
      </p:sp>
      <p:sp>
        <p:nvSpPr>
          <p:cNvPr id="18" name="row-3-desc"/>
          <p:cNvSpPr txBox="1"/>
          <p:nvPr/>
        </p:nvSpPr>
        <p:spPr>
          <a:xfrm>
            <a:off x="8823960" y="351129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22분</a:t>
            </a:r>
            <a:endParaRPr lang="en-US" sz="1300" dirty="0"/>
          </a:p>
        </p:txBody>
      </p:sp>
      <p:sp>
        <p:nvSpPr>
          <p:cNvPr id="19" name="row-4"/>
          <p:cNvSpPr/>
          <p:nvPr/>
        </p:nvSpPr>
        <p:spPr>
          <a:xfrm>
            <a:off x="685800" y="4169664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20" name="row-4-time"/>
          <p:cNvSpPr txBox="1"/>
          <p:nvPr/>
        </p:nvSpPr>
        <p:spPr>
          <a:xfrm>
            <a:off x="923544" y="416966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9:27 ~ 9:57</a:t>
            </a:r>
            <a:endParaRPr lang="en-US" sz="1700" dirty="0"/>
          </a:p>
        </p:txBody>
      </p:sp>
      <p:sp>
        <p:nvSpPr>
          <p:cNvPr id="21" name="row-4-head"/>
          <p:cNvSpPr txBox="1"/>
          <p:nvPr/>
        </p:nvSpPr>
        <p:spPr>
          <a:xfrm>
            <a:off x="3063240" y="4169664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강의 2</a:t>
            </a:r>
            <a:endParaRPr lang="en-US" sz="1700" dirty="0"/>
          </a:p>
        </p:txBody>
      </p:sp>
      <p:sp>
        <p:nvSpPr>
          <p:cNvPr id="22" name="row-4-desc"/>
          <p:cNvSpPr txBox="1"/>
          <p:nvPr/>
        </p:nvSpPr>
        <p:spPr>
          <a:xfrm>
            <a:off x="8823960" y="41696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30분</a:t>
            </a:r>
            <a:endParaRPr lang="en-US" sz="1300" dirty="0"/>
          </a:p>
        </p:txBody>
      </p:sp>
      <p:sp>
        <p:nvSpPr>
          <p:cNvPr id="23" name="row-5"/>
          <p:cNvSpPr/>
          <p:nvPr/>
        </p:nvSpPr>
        <p:spPr>
          <a:xfrm>
            <a:off x="685800" y="4828032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4" name="row-5-time"/>
          <p:cNvSpPr txBox="1"/>
          <p:nvPr/>
        </p:nvSpPr>
        <p:spPr>
          <a:xfrm>
            <a:off x="923544" y="48280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9:57 ~ 10:00</a:t>
            </a:r>
            <a:endParaRPr lang="en-US" sz="1700" dirty="0"/>
          </a:p>
        </p:txBody>
      </p:sp>
      <p:sp>
        <p:nvSpPr>
          <p:cNvPr id="25" name="row-5-head"/>
          <p:cNvSpPr txBox="1"/>
          <p:nvPr/>
        </p:nvSpPr>
        <p:spPr>
          <a:xfrm>
            <a:off x="3063240" y="4828032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광고 및 마무리</a:t>
            </a:r>
            <a:endParaRPr lang="en-US" sz="1700" dirty="0"/>
          </a:p>
        </p:txBody>
      </p:sp>
      <p:sp>
        <p:nvSpPr>
          <p:cNvPr id="26" name="row-5-desc"/>
          <p:cNvSpPr txBox="1"/>
          <p:nvPr/>
        </p:nvSpPr>
        <p:spPr>
          <a:xfrm>
            <a:off x="8823960" y="48280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3분</a:t>
            </a:r>
            <a:endParaRPr lang="en-US" sz="1300" dirty="0"/>
          </a:p>
        </p:txBody>
      </p:sp>
      <p:sp>
        <p:nvSpPr>
          <p:cNvPr id="27" name="note"/>
          <p:cNvSpPr txBox="1"/>
          <p:nvPr/>
        </p:nvSpPr>
        <p:spPr>
          <a:xfrm>
            <a:off x="685800" y="5760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PM 8:00 ~ 10:00</a:t>
            </a:r>
            <a:endParaRPr lang="en-US" sz="13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이 강의가 가는 방향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3448202" cy="3657600"/>
          </a:xfrm>
          <a:prstGeom prst="roundRect">
            <a:avLst>
              <a:gd name="adj" fmla="val 15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40864"/>
            <a:ext cx="297271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한 가지 질문으로 끝까지 간다</a:t>
            </a:r>
            <a:endParaRPr lang="en-US" sz="1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990088"/>
            <a:ext cx="2972714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“예수님은 누구신가?”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요한복음은 사건의 나열이 아니라 예수님의 신성(神性)을 증언하는 복음서입니다. 매 과를 이 질문으로 읽습니다.</a:t>
            </a:r>
            <a:endParaRPr lang="en-US" sz="1400" dirty="0"/>
          </a:p>
        </p:txBody>
      </p:sp>
      <p:sp>
        <p:nvSpPr>
          <p:cNvPr id="8" name="card-1"/>
          <p:cNvSpPr/>
          <p:nvPr/>
        </p:nvSpPr>
        <p:spPr>
          <a:xfrm>
            <a:off x="4371746" y="1572768"/>
            <a:ext cx="3448202" cy="3657600"/>
          </a:xfrm>
          <a:prstGeom prst="roundRect">
            <a:avLst>
              <a:gd name="adj" fmla="val 15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40864"/>
            <a:ext cx="297271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교재 8과를 ‘영광’ 한 단어로 꿴다</a:t>
            </a:r>
            <a:endParaRPr lang="en-US" sz="18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990088"/>
            <a:ext cx="2972714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준비 → 드러남 → 드러내심 → 영광이신 예수님 → 영광이신 하나님 → 최후 여정 → 영광 안에 거함 → 영광으로의 초대</a:t>
            </a:r>
            <a:endParaRPr lang="en-US" sz="1400" dirty="0"/>
          </a:p>
        </p:txBody>
      </p:sp>
      <p:sp>
        <p:nvSpPr>
          <p:cNvPr id="13" name="card-2"/>
          <p:cNvSpPr/>
          <p:nvPr/>
        </p:nvSpPr>
        <p:spPr>
          <a:xfrm>
            <a:off x="8057693" y="1572768"/>
            <a:ext cx="3448202" cy="3657600"/>
          </a:xfrm>
          <a:prstGeom prst="roundRect">
            <a:avLst>
              <a:gd name="adj" fmla="val 15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③</a:t>
            </a:r>
            <a:endParaRPr lang="en-US" sz="13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40864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매주 세 단계로 소화한다</a:t>
            </a:r>
            <a:endParaRPr lang="en-US" sz="18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702052"/>
            <a:ext cx="2972714" cy="2290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관찰 (본문이 무엇을 말하는가)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분석 (구조·배경·단어)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적용 (나에게 무엇을 요구하는가)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나눔은 적용 단계입니다.</a:t>
            </a:r>
            <a:endParaRPr lang="en-US" sz="1400" dirty="0"/>
          </a:p>
        </p:txBody>
      </p:sp>
      <p:sp>
        <p:nvSpPr>
          <p:cNvPr id="18" name="keyline"/>
          <p:cNvSpPr/>
          <p:nvPr/>
        </p:nvSpPr>
        <p:spPr>
          <a:xfrm>
            <a:off x="685800" y="5449824"/>
            <a:ext cx="1082009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449824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지식이 아니라 만남이 목표입니다  ·  요한복음 20:31</a:t>
            </a:r>
            <a:endParaRPr lang="en-US" sz="17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소그룹 나눔 Ⅰ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서로를 소개하고, 조장을 세웁니다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자기소개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이름 · 소속 공동체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요즘 나의 한 주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한 문장으로 나를 소개한다면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4371746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요한복음 수강 계기</a:t>
            </a:r>
            <a:endParaRPr lang="en-US" sz="20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왜 이 과정을 신청했나요?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이 여덟 주 동안 기대하는 것 한 가지</a:t>
            </a:r>
            <a:endParaRPr lang="en-US" sz="1500" dirty="0"/>
          </a:p>
        </p:txBody>
      </p:sp>
      <p:sp>
        <p:nvSpPr>
          <p:cNvPr id="14" name="card-2"/>
          <p:cNvSpPr/>
          <p:nvPr/>
        </p:nvSpPr>
        <p:spPr>
          <a:xfrm>
            <a:off x="8057693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조장 선출</a:t>
            </a:r>
            <a:endParaRPr lang="en-US" sz="20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출석 · 과제 체크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단체방 운영 및 기도 요청 취합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결석자 연락</a:t>
            </a:r>
            <a:endParaRPr lang="en-US" sz="15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285232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진행 가이드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1인 2분 이내 · 전체 22분 · 마지막 3분에 조장 확정 후 전체 나눔에서 조장 소개</a:t>
            </a:r>
            <a:endParaRPr lang="en-US" sz="1400" dirty="0"/>
          </a:p>
        </p:txBody>
      </p:sp>
      <p:sp>
        <p:nvSpPr>
          <p:cNvPr id="21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요한복음, 한눈에 보기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저자 · 기록목적 · 구조 · 완전수 7 · 21장 전체 조망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누가, 언제, 왜 썼는가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685800" y="1481328"/>
            <a:ext cx="2526716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stat-0-num"/>
          <p:cNvSpPr txBox="1"/>
          <p:nvPr/>
        </p:nvSpPr>
        <p:spPr>
          <a:xfrm>
            <a:off x="795528" y="164592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요한</a:t>
            </a:r>
            <a:endParaRPr lang="en-US" sz="3400" dirty="0"/>
          </a:p>
        </p:txBody>
      </p:sp>
      <p:sp>
        <p:nvSpPr>
          <p:cNvPr id="5" name="stat-0-label"/>
          <p:cNvSpPr txBox="1"/>
          <p:nvPr/>
        </p:nvSpPr>
        <p:spPr>
          <a:xfrm>
            <a:off x="795528" y="2359152"/>
            <a:ext cx="23072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사도 요한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본문에는 ‘예수께서 사랑하시던 제자’로만 표기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450260" y="1481328"/>
            <a:ext cx="2526716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stat-1-num"/>
          <p:cNvSpPr txBox="1"/>
          <p:nvPr/>
        </p:nvSpPr>
        <p:spPr>
          <a:xfrm>
            <a:off x="3559988" y="164592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AD 85~90</a:t>
            </a:r>
            <a:endParaRPr lang="en-US" sz="3400" dirty="0"/>
          </a:p>
        </p:txBody>
      </p:sp>
      <p:sp>
        <p:nvSpPr>
          <p:cNvPr id="8" name="stat-1-label"/>
          <p:cNvSpPr txBox="1"/>
          <p:nvPr/>
        </p:nvSpPr>
        <p:spPr>
          <a:xfrm>
            <a:off x="3559988" y="2359152"/>
            <a:ext cx="23072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공관복음(55~68년)보다 후대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밧모섬 유배(95년) 이전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214720" y="1481328"/>
            <a:ext cx="2526716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stat-2-num"/>
          <p:cNvSpPr txBox="1"/>
          <p:nvPr/>
        </p:nvSpPr>
        <p:spPr>
          <a:xfrm>
            <a:off x="6324448" y="164592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에베소</a:t>
            </a:r>
            <a:endParaRPr lang="en-US" sz="3400" dirty="0"/>
          </a:p>
        </p:txBody>
      </p:sp>
      <p:sp>
        <p:nvSpPr>
          <p:cNvPr id="11" name="stat-2-label"/>
          <p:cNvSpPr txBox="1"/>
          <p:nvPr/>
        </p:nvSpPr>
        <p:spPr>
          <a:xfrm>
            <a:off x="6324448" y="2359152"/>
            <a:ext cx="23072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기록 장소(전승)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소아시아 교회를 향해 기록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79179" y="1481328"/>
            <a:ext cx="2526716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stat-3-num"/>
          <p:cNvSpPr txBox="1"/>
          <p:nvPr/>
        </p:nvSpPr>
        <p:spPr>
          <a:xfrm>
            <a:off x="9088907" y="164592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21장</a:t>
            </a:r>
            <a:endParaRPr lang="en-US" sz="3400" dirty="0"/>
          </a:p>
        </p:txBody>
      </p:sp>
      <p:sp>
        <p:nvSpPr>
          <p:cNvPr id="14" name="stat-3-label"/>
          <p:cNvSpPr txBox="1"/>
          <p:nvPr/>
        </p:nvSpPr>
        <p:spPr>
          <a:xfrm>
            <a:off x="9088907" y="2359152"/>
            <a:ext cx="23072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879절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네 복음서 중 가장 나중의 기록</a:t>
            </a:r>
            <a:endParaRPr lang="en-US" sz="1400" dirty="0"/>
          </a:p>
        </p:txBody>
      </p:sp>
      <p:sp>
        <p:nvSpPr>
          <p:cNvPr id="15" name="subhead-badge"/>
          <p:cNvSpPr/>
          <p:nvPr/>
        </p:nvSpPr>
        <p:spPr>
          <a:xfrm>
            <a:off x="685800" y="361188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ubhead-badge-text"/>
          <p:cNvSpPr txBox="1"/>
          <p:nvPr/>
        </p:nvSpPr>
        <p:spPr>
          <a:xfrm>
            <a:off x="685800" y="3611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왜</a:t>
            </a:r>
            <a:endParaRPr lang="en-US" sz="1400" dirty="0"/>
          </a:p>
        </p:txBody>
      </p:sp>
      <p:sp>
        <p:nvSpPr>
          <p:cNvPr id="17" name="subhead-text"/>
          <p:cNvSpPr txBox="1"/>
          <p:nvPr/>
        </p:nvSpPr>
        <p:spPr>
          <a:xfrm>
            <a:off x="1161288" y="3602736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집필 동기 — 세 방향에서 흔들리는 교회를 붙들기 위해</a:t>
            </a:r>
            <a:endParaRPr lang="en-US" sz="1900" dirty="0"/>
          </a:p>
        </p:txBody>
      </p:sp>
      <p:sp>
        <p:nvSpPr>
          <p:cNvPr id="18" name="card-0"/>
          <p:cNvSpPr/>
          <p:nvPr/>
        </p:nvSpPr>
        <p:spPr>
          <a:xfrm>
            <a:off x="685800" y="4041648"/>
            <a:ext cx="3448202" cy="146304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0-head"/>
          <p:cNvSpPr txBox="1"/>
          <p:nvPr/>
        </p:nvSpPr>
        <p:spPr>
          <a:xfrm>
            <a:off x="923544" y="4279392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정치</a:t>
            </a:r>
            <a:endParaRPr lang="en-US" sz="1800" dirty="0"/>
          </a:p>
        </p:txBody>
      </p:sp>
      <p:sp>
        <p:nvSpPr>
          <p:cNvPr id="20" name="card-0-body"/>
          <p:cNvSpPr txBox="1"/>
          <p:nvPr/>
        </p:nvSpPr>
        <p:spPr>
          <a:xfrm>
            <a:off x="923544" y="4640580"/>
            <a:ext cx="2972714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로마 정부의 박해 속에서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신앙을 지키게 하려고</a:t>
            </a:r>
            <a:endParaRPr lang="en-US" sz="1400" dirty="0"/>
          </a:p>
        </p:txBody>
      </p:sp>
      <p:sp>
        <p:nvSpPr>
          <p:cNvPr id="21" name="card-1"/>
          <p:cNvSpPr/>
          <p:nvPr/>
        </p:nvSpPr>
        <p:spPr>
          <a:xfrm>
            <a:off x="4371746" y="4041648"/>
            <a:ext cx="3448202" cy="146304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1-head"/>
          <p:cNvSpPr txBox="1"/>
          <p:nvPr/>
        </p:nvSpPr>
        <p:spPr>
          <a:xfrm>
            <a:off x="4609490" y="4279392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문화</a:t>
            </a:r>
            <a:endParaRPr lang="en-US" sz="1800" dirty="0"/>
          </a:p>
        </p:txBody>
      </p:sp>
      <p:sp>
        <p:nvSpPr>
          <p:cNvPr id="23" name="card-1-body"/>
          <p:cNvSpPr txBox="1"/>
          <p:nvPr/>
        </p:nvSpPr>
        <p:spPr>
          <a:xfrm>
            <a:off x="4609490" y="4640580"/>
            <a:ext cx="2972714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헬라 종교·철학의 거센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교리적 도전에 답하려고</a:t>
            </a:r>
            <a:endParaRPr lang="en-US" sz="1400" dirty="0"/>
          </a:p>
        </p:txBody>
      </p:sp>
      <p:sp>
        <p:nvSpPr>
          <p:cNvPr id="24" name="card-2"/>
          <p:cNvSpPr/>
          <p:nvPr/>
        </p:nvSpPr>
        <p:spPr>
          <a:xfrm>
            <a:off x="8057693" y="4041648"/>
            <a:ext cx="3448202" cy="146304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5" name="card-2-head"/>
          <p:cNvSpPr txBox="1"/>
          <p:nvPr/>
        </p:nvSpPr>
        <p:spPr>
          <a:xfrm>
            <a:off x="8295437" y="4279392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종교</a:t>
            </a:r>
            <a:endParaRPr lang="en-US" sz="1800" dirty="0"/>
          </a:p>
        </p:txBody>
      </p:sp>
      <p:sp>
        <p:nvSpPr>
          <p:cNvPr id="26" name="card-2-body"/>
          <p:cNvSpPr txBox="1"/>
          <p:nvPr/>
        </p:nvSpPr>
        <p:spPr>
          <a:xfrm>
            <a:off x="8295437" y="4640580"/>
            <a:ext cx="2972714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유대인 — 공동체 출교 위협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이방인 — 이단 사상의 유혹</a:t>
            </a:r>
            <a:endParaRPr lang="en-US" sz="1400" dirty="0"/>
          </a:p>
        </p:txBody>
      </p:sp>
      <p:sp>
        <p:nvSpPr>
          <p:cNvPr id="27" name="note"/>
          <p:cNvSpPr txBox="1"/>
          <p:nvPr/>
        </p:nvSpPr>
        <p:spPr>
          <a:xfrm>
            <a:off x="685800" y="5596128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※ 출교 위협 : 9:22 · 12:42 · 16:2     ※ 가현설·영지주의 : 인성 부인  /  에비온파 : 신성 부인  → 요한은 ‘참 하나님이시며 참 사람이신 예수’를 증언한다.</a:t>
            </a:r>
            <a:endParaRPr lang="en-US" sz="13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기록목적 — 요한이 직접 밝힌 두 가지</a:t>
            </a:r>
            <a:endParaRPr lang="en-US" sz="32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5544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400" i="1" dirty="0">
                <a:solidFill>
                  <a:schemeClr val="bg1"/>
                </a:solidFill>
              </a:rPr>
              <a:t>“오직 이것을 기록함은 너희로 예수께서 하나님의 아들 그리스도이심을 믿게 하려 함이요 또 너희로 믿고 그 이름을 힘입어 생명을 얻게 하려 함이니라”</a:t>
            </a:r>
            <a:endParaRPr lang="en-US" sz="24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307238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20:31 (개역개정)</a:t>
            </a:r>
            <a:endParaRPr lang="en-US" sz="1500" dirty="0"/>
          </a:p>
        </p:txBody>
      </p:sp>
      <p:sp>
        <p:nvSpPr>
          <p:cNvPr id="5" name="card-0"/>
          <p:cNvSpPr/>
          <p:nvPr/>
        </p:nvSpPr>
        <p:spPr>
          <a:xfrm>
            <a:off x="685800" y="3639312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ard-0-badge"/>
          <p:cNvSpPr/>
          <p:nvPr/>
        </p:nvSpPr>
        <p:spPr>
          <a:xfrm>
            <a:off x="923544" y="387705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card-0-badge-text"/>
          <p:cNvSpPr txBox="1"/>
          <p:nvPr/>
        </p:nvSpPr>
        <p:spPr>
          <a:xfrm>
            <a:off x="923544" y="3877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8" name="card-0-head"/>
          <p:cNvSpPr txBox="1"/>
          <p:nvPr/>
        </p:nvSpPr>
        <p:spPr>
          <a:xfrm>
            <a:off x="923544" y="4407408"/>
            <a:ext cx="481568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믿게 하려 함</a:t>
            </a:r>
            <a:endParaRPr lang="en-US" sz="1900" dirty="0"/>
          </a:p>
        </p:txBody>
      </p:sp>
      <p:sp>
        <p:nvSpPr>
          <p:cNvPr id="9" name="card-0-body"/>
          <p:cNvSpPr txBox="1"/>
          <p:nvPr/>
        </p:nvSpPr>
        <p:spPr>
          <a:xfrm>
            <a:off x="923544" y="4784598"/>
            <a:ext cx="48156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예수님이 하나님의 아들이시며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그리스도이심을 믿도록</a:t>
            </a:r>
            <a:endParaRPr lang="en-US" sz="1400" dirty="0"/>
          </a:p>
        </p:txBody>
      </p:sp>
      <p:sp>
        <p:nvSpPr>
          <p:cNvPr id="10" name="card-1"/>
          <p:cNvSpPr/>
          <p:nvPr/>
        </p:nvSpPr>
        <p:spPr>
          <a:xfrm>
            <a:off x="6214720" y="3639312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6452464" y="387705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6452464" y="3877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13" name="card-1-head"/>
          <p:cNvSpPr txBox="1"/>
          <p:nvPr/>
        </p:nvSpPr>
        <p:spPr>
          <a:xfrm>
            <a:off x="6452464" y="4407408"/>
            <a:ext cx="481568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생명을 얻게 하려 함</a:t>
            </a:r>
            <a:endParaRPr lang="en-US" sz="1900" dirty="0"/>
          </a:p>
        </p:txBody>
      </p:sp>
      <p:sp>
        <p:nvSpPr>
          <p:cNvPr id="14" name="card-1-body"/>
          <p:cNvSpPr txBox="1"/>
          <p:nvPr/>
        </p:nvSpPr>
        <p:spPr>
          <a:xfrm>
            <a:off x="6452464" y="4784598"/>
            <a:ext cx="48156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믿는 자들이 그 이름을 힘입어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생명의 능력을 누리도록</a:t>
            </a:r>
            <a:endParaRPr lang="en-US" sz="1400" dirty="0"/>
          </a:p>
        </p:txBody>
      </p:sp>
      <p:sp>
        <p:nvSpPr>
          <p:cNvPr id="15" name="keyline"/>
          <p:cNvSpPr/>
          <p:nvPr/>
        </p:nvSpPr>
        <p:spPr>
          <a:xfrm>
            <a:off x="685800" y="5577840"/>
            <a:ext cx="1082009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/>
        </p:spPr>
      </p:sp>
      <p:sp>
        <p:nvSpPr>
          <p:cNvPr id="16" name="keyline-text"/>
          <p:cNvSpPr txBox="1"/>
          <p:nvPr/>
        </p:nvSpPr>
        <p:spPr>
          <a:xfrm>
            <a:off x="960120" y="557784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요한복음은 전도용 복음서가 아니라, 이미 믿는 자의 믿음을 더 단단하게 하는 복음서입니다</a:t>
            </a:r>
            <a:endParaRPr lang="en-US" sz="1800" dirty="0"/>
          </a:p>
        </p:txBody>
      </p:sp>
      <p:sp>
        <p:nvSpPr>
          <p:cNvPr id="1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핵심 주제 — 예수님은 누구신가</a:t>
            </a:r>
            <a:endParaRPr lang="en-US" sz="3200" dirty="0"/>
          </a:p>
        </p:txBody>
      </p:sp>
      <p:sp>
        <p:nvSpPr>
          <p:cNvPr id="3" name="keyline"/>
          <p:cNvSpPr/>
          <p:nvPr/>
        </p:nvSpPr>
        <p:spPr>
          <a:xfrm>
            <a:off x="685800" y="1517904"/>
            <a:ext cx="10820095" cy="658368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</p:sp>
      <p:sp>
        <p:nvSpPr>
          <p:cNvPr id="4" name="keyline-text"/>
          <p:cNvSpPr txBox="1"/>
          <p:nvPr/>
        </p:nvSpPr>
        <p:spPr>
          <a:xfrm>
            <a:off x="960120" y="1517904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요한복음은 예수님의 ‘신성(神性)’에 초점을 맞춘다  ·  위로부터 오신 하나님의 아들</a:t>
            </a:r>
            <a:endParaRPr lang="en-US" sz="1800" dirty="0"/>
          </a:p>
        </p:txBody>
      </p:sp>
      <p:sp>
        <p:nvSpPr>
          <p:cNvPr id="5" name="cmp-0"/>
          <p:cNvSpPr/>
          <p:nvPr/>
        </p:nvSpPr>
        <p:spPr>
          <a:xfrm>
            <a:off x="685800" y="2304288"/>
            <a:ext cx="5272888" cy="3474720"/>
          </a:xfrm>
          <a:prstGeom prst="roundRect">
            <a:avLst>
              <a:gd name="adj" fmla="val 15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mp-0-head"/>
          <p:cNvSpPr txBox="1"/>
          <p:nvPr/>
        </p:nvSpPr>
        <p:spPr>
          <a:xfrm>
            <a:off x="960120" y="2542032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공관복음 (마 · 막 · 눅)</a:t>
            </a:r>
            <a:endParaRPr lang="en-US" sz="2000" dirty="0"/>
          </a:p>
        </p:txBody>
      </p:sp>
      <p:sp>
        <p:nvSpPr>
          <p:cNvPr id="7" name="cmp-0-items"/>
          <p:cNvSpPr txBox="1"/>
          <p:nvPr/>
        </p:nvSpPr>
        <p:spPr>
          <a:xfrm>
            <a:off x="960120" y="3090672"/>
            <a:ext cx="4724248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AD 55~68년경 기록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요한복음보다 20~30년 앞선다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갈릴리 중심의 사역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지역이 넓게 이동한다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사건 중심 · 비유로 가르치심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짧은 비유, 많은 축사 기록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사자 · 소 · 사람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왕 · 종 · 인자(人子)로서의 예수</a:t>
            </a:r>
            <a:endParaRPr lang="en-US" sz="1500" dirty="0"/>
          </a:p>
        </p:txBody>
      </p:sp>
      <p:sp>
        <p:nvSpPr>
          <p:cNvPr id="8" name="cmp-1"/>
          <p:cNvSpPr/>
          <p:nvPr/>
        </p:nvSpPr>
        <p:spPr>
          <a:xfrm>
            <a:off x="6233008" y="2304288"/>
            <a:ext cx="5272888" cy="3474720"/>
          </a:xfrm>
          <a:prstGeom prst="roundRect">
            <a:avLst>
              <a:gd name="adj" fmla="val 157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mp-1-head"/>
          <p:cNvSpPr txBox="1"/>
          <p:nvPr/>
        </p:nvSpPr>
        <p:spPr>
          <a:xfrm>
            <a:off x="6507328" y="2542032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요한복음</a:t>
            </a:r>
            <a:endParaRPr lang="en-US" sz="2000" dirty="0"/>
          </a:p>
        </p:txBody>
      </p:sp>
      <p:sp>
        <p:nvSpPr>
          <p:cNvPr id="10" name="cmp-1-items"/>
          <p:cNvSpPr txBox="1"/>
          <p:nvPr/>
        </p:nvSpPr>
        <p:spPr>
          <a:xfrm>
            <a:off x="6507328" y="3090672"/>
            <a:ext cx="4724248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AD 85~95년경 기록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가장 나중, 가장 깊이 숙성된 증언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유대와 예루살렘 중심의 사역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명절마다 예루살렘으로 올라가신다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표적 + 긴 설교 · 자기선언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사건 &lt; 교훈. 13~17장은 통째로 설교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독수리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하늘에서 오신 하나님의 아들</a:t>
            </a:r>
            <a:endParaRPr lang="en-US" sz="1500" dirty="0"/>
          </a:p>
        </p:txBody>
      </p:sp>
      <p:sp>
        <p:nvSpPr>
          <p:cNvPr id="11" name="note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※ 요한복음에는 축사(귀신 쫓음) 기록이 없고, 종말의 묵시적 기록이 없으며, 성전 청결이 초기 사건으로 배치된다.</a:t>
            </a:r>
            <a:endParaRPr lang="en-US" sz="12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요한복음의 네 가지 이름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2526716" cy="26974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영광</a:t>
            </a:r>
            <a:endParaRPr lang="en-US" sz="16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14016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영광의 복음서</a:t>
            </a:r>
            <a:endParaRPr lang="en-US" sz="17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59202"/>
            <a:ext cx="2051228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하나님의 영광이 특별히 계시된다.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1:14과 17장이 대표적.</a:t>
            </a:r>
            <a:endParaRPr lang="en-US" sz="14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80542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‘영광’ 최소 36회</a:t>
            </a:r>
            <a:endParaRPr lang="en-US" sz="1200" dirty="0"/>
          </a:p>
        </p:txBody>
      </p:sp>
      <p:sp>
        <p:nvSpPr>
          <p:cNvPr id="9" name="card-1"/>
          <p:cNvSpPr/>
          <p:nvPr/>
        </p:nvSpPr>
        <p:spPr>
          <a:xfrm>
            <a:off x="3450260" y="1572768"/>
            <a:ext cx="2526716" cy="26974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1051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10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영</a:t>
            </a:r>
            <a:endParaRPr lang="en-US" sz="16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414016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영적 · 성령의 복음서</a:t>
            </a:r>
            <a:endParaRPr lang="en-US" sz="17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759202"/>
            <a:ext cx="2051228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성령님을 ‘보혜사’로 계시한다.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3장·4장·6장·14~16장·20장.</a:t>
            </a:r>
            <a:endParaRPr lang="en-US" sz="14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80542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‘보혜사’ 4회</a:t>
            </a:r>
            <a:endParaRPr lang="en-US" sz="1200" dirty="0"/>
          </a:p>
        </p:txBody>
      </p:sp>
      <p:sp>
        <p:nvSpPr>
          <p:cNvPr id="15" name="card-2"/>
          <p:cNvSpPr/>
          <p:nvPr/>
        </p:nvSpPr>
        <p:spPr>
          <a:xfrm>
            <a:off x="6214720" y="1572768"/>
            <a:ext cx="2526716" cy="26974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1051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10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믿음</a:t>
            </a:r>
            <a:endParaRPr lang="en-US" sz="16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414016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신앙의 복음서</a:t>
            </a:r>
            <a:endParaRPr lang="en-US" sz="17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759202"/>
            <a:ext cx="2051228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살아 있는, 행동하는 믿음.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믿음 = 영접 = 순종.</a:t>
            </a:r>
            <a:endParaRPr lang="en-US" sz="14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80542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‘믿음’ 최소 98회</a:t>
            </a:r>
            <a:endParaRPr lang="en-US" sz="1200" dirty="0"/>
          </a:p>
        </p:txBody>
      </p:sp>
      <p:sp>
        <p:nvSpPr>
          <p:cNvPr id="21" name="card-3"/>
          <p:cNvSpPr/>
          <p:nvPr/>
        </p:nvSpPr>
        <p:spPr>
          <a:xfrm>
            <a:off x="8979179" y="1572768"/>
            <a:ext cx="2526716" cy="26974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1051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10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사랑</a:t>
            </a:r>
            <a:endParaRPr lang="en-US" sz="16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414016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사랑의 복음서</a:t>
            </a:r>
            <a:endParaRPr lang="en-US" sz="17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759202"/>
            <a:ext cx="2051228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하나님이 보여주신 사랑,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서로 사랑하라는 새 계명(13장).</a:t>
            </a:r>
            <a:endParaRPr lang="en-US" sz="14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80542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‘사랑’ 최소 51회</a:t>
            </a:r>
            <a:endParaRPr lang="en-US" sz="1200" dirty="0"/>
          </a:p>
        </p:txBody>
      </p:sp>
      <p:sp>
        <p:nvSpPr>
          <p:cNvPr id="27" name="subhead-badge"/>
          <p:cNvSpPr/>
          <p:nvPr/>
        </p:nvSpPr>
        <p:spPr>
          <a:xfrm>
            <a:off x="685800" y="4544568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subhead-badge-text"/>
          <p:cNvSpPr txBox="1"/>
          <p:nvPr/>
        </p:nvSpPr>
        <p:spPr>
          <a:xfrm>
            <a:off x="685800" y="4544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왜</a:t>
            </a:r>
            <a:endParaRPr lang="en-US" sz="1400" dirty="0"/>
          </a:p>
        </p:txBody>
      </p:sp>
      <p:sp>
        <p:nvSpPr>
          <p:cNvPr id="29" name="subhead-text"/>
          <p:cNvSpPr txBox="1"/>
          <p:nvPr/>
        </p:nvSpPr>
        <p:spPr>
          <a:xfrm>
            <a:off x="1161288" y="4535424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왜 ‘독수리 복음’이라 부르는가</a:t>
            </a:r>
            <a:endParaRPr lang="en-US" sz="1900" dirty="0"/>
          </a:p>
        </p:txBody>
      </p:sp>
      <p:sp>
        <p:nvSpPr>
          <p:cNvPr id="30" name="bullets"/>
          <p:cNvSpPr txBox="1"/>
          <p:nvPr/>
        </p:nvSpPr>
        <p:spPr>
          <a:xfrm>
            <a:off x="685800" y="5047488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영적으로 가장 높은 곳까지 솟아오르기 때문 — 시작도 끝도 없는 ‘태초’에서 출발한다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예수님의 신성을 강조하기 때문 — 하늘에서 오심, 하나님의 아들 되심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요한계시록 4장의 네 생물 중, 하늘에서 오신 예수님의 신성을 독수리로 표현하기 때문</a:t>
            </a:r>
            <a:endParaRPr lang="en-US" sz="15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구조 ① 세 덩어리로 보는 요한복음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증거</a:t>
            </a:r>
            <a:endParaRPr lang="en-US" sz="18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87168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1~12장</a:t>
            </a:r>
            <a:endParaRPr lang="en-US" sz="26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976372"/>
            <a:ext cx="2972714" cy="1559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예수님의 성육신과 일곱 표적,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그리고 배척당하심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다룬 기간 : 약 2~3년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목적 : 믿게 하기 위함</a:t>
            </a:r>
            <a:endParaRPr lang="en-US" sz="1500" dirty="0"/>
          </a:p>
        </p:txBody>
      </p:sp>
      <p:sp>
        <p:nvSpPr>
          <p:cNvPr id="8" name="card-1"/>
          <p:cNvSpPr/>
          <p:nvPr/>
        </p:nvSpPr>
        <p:spPr>
          <a:xfrm>
            <a:off x="4371746" y="1572768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1051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105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교훈</a:t>
            </a:r>
            <a:endParaRPr lang="en-US" sz="18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487168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13~17장</a:t>
            </a:r>
            <a:endParaRPr lang="en-US" sz="26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976372"/>
            <a:ext cx="2972714" cy="1559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다락방 강화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하나님의 아들 예수님의 가르침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다룬 기간 : 약 2~3시간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목적 : 생명을 얻기 위함</a:t>
            </a:r>
            <a:endParaRPr lang="en-US" sz="1500" dirty="0"/>
          </a:p>
        </p:txBody>
      </p:sp>
      <p:sp>
        <p:nvSpPr>
          <p:cNvPr id="13" name="card-2"/>
          <p:cNvSpPr/>
          <p:nvPr/>
        </p:nvSpPr>
        <p:spPr>
          <a:xfrm>
            <a:off x="8057693" y="1572768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1051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105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영광</a:t>
            </a:r>
            <a:endParaRPr lang="en-US" sz="18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487168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18~21장</a:t>
            </a:r>
            <a:endParaRPr lang="en-US" sz="26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976372"/>
            <a:ext cx="2972714" cy="1559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십자가와 부활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예수님의 수난과 부활, 현현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다룬 기간 : 약 2~3주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목적 : 생명을 얻기 위함</a:t>
            </a:r>
            <a:endParaRPr lang="en-US" sz="1500" dirty="0"/>
          </a:p>
        </p:txBody>
      </p:sp>
      <p:sp>
        <p:nvSpPr>
          <p:cNvPr id="18" name="keyline"/>
          <p:cNvSpPr/>
          <p:nvPr/>
        </p:nvSpPr>
        <p:spPr>
          <a:xfrm>
            <a:off x="685800" y="5029200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02920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2~3년 → 2~3시간 → 2~3주.   뒤로 갈수록 시간은 짧아지고 기록은 자세해진다.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요한의 관심이 ‘사건’이 아니라 ‘영광’에 있다는 증거입니다.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구조 ② 다섯 단으로 보는 요한복음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17904"/>
          <a:ext cx="1082009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737360"/>
                <a:gridCol w="5760720"/>
                <a:gridCol w="258775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1:1~18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신학적 서론 — 성육신하신 예수님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말씀 · 빛 · 영광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1:19~12장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유대와 예루살렘 중심의 사역 — 일곱 표적과 자기선언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가니수베 오초간 실양나마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13~17장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다락방 강화 — 세족식, 성령장 3개, 대제사장적 기도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 계명 · 보혜사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18~20장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십자가의 수난과 부활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 이루었다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21장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결론 — 갈릴리(디베랴 바닷가)의 부활 현현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153마리 · 내 양을 먹이라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subhead-badge"/>
          <p:cNvSpPr/>
          <p:nvPr/>
        </p:nvSpPr>
        <p:spPr>
          <a:xfrm>
            <a:off x="685800" y="4946904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ubhead-badge-text"/>
          <p:cNvSpPr txBox="1"/>
          <p:nvPr/>
        </p:nvSpPr>
        <p:spPr>
          <a:xfrm>
            <a:off x="685800" y="4946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cf</a:t>
            </a:r>
            <a:endParaRPr lang="en-US" sz="1400" dirty="0"/>
          </a:p>
        </p:txBody>
      </p:sp>
      <p:sp>
        <p:nvSpPr>
          <p:cNvPr id="6" name="subhead-text"/>
          <p:cNvSpPr txBox="1"/>
          <p:nvPr/>
        </p:nvSpPr>
        <p:spPr>
          <a:xfrm>
            <a:off x="1161288" y="4937760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다른 복음서의 구조</a:t>
            </a:r>
            <a:endParaRPr lang="en-US" sz="1900" dirty="0"/>
          </a:p>
        </p:txBody>
      </p:sp>
      <p:sp>
        <p:nvSpPr>
          <p:cNvPr id="7" name="bullets"/>
          <p:cNvSpPr txBox="1"/>
          <p:nvPr/>
        </p:nvSpPr>
        <p:spPr>
          <a:xfrm>
            <a:off x="685800" y="5431536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마태 — 오경적 구조 (다섯 설교)   |   마가 — 이적 / 수난 이야기   |   누가 — 예루살렘과 로마로 향하는 지리적 구성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요한 — 전반부는 표적과 대중 설교, 후반부는 제자를 향한 확대된 설교와 수난 설화</a:t>
            </a:r>
            <a:endParaRPr lang="en-US" sz="1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구조 ③ 교재 8과 = 영광의 여덟 장면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54480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86968" y="1755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8696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0-head"/>
          <p:cNvSpPr txBox="1"/>
          <p:nvPr/>
        </p:nvSpPr>
        <p:spPr>
          <a:xfrm>
            <a:off x="886968" y="2249424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영광을 만나기 위한 준비</a:t>
            </a:r>
            <a:endParaRPr lang="en-US" sz="1500" dirty="0"/>
          </a:p>
        </p:txBody>
      </p:sp>
      <p:sp>
        <p:nvSpPr>
          <p:cNvPr id="7" name="card-0-body"/>
          <p:cNvSpPr txBox="1"/>
          <p:nvPr/>
        </p:nvSpPr>
        <p:spPr>
          <a:xfrm>
            <a:off x="886968" y="2562606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~1:18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예수님은 누구신가에 대한 설명</a:t>
            </a:r>
            <a:endParaRPr lang="en-US" sz="1250" dirty="0"/>
          </a:p>
        </p:txBody>
      </p:sp>
      <p:sp>
        <p:nvSpPr>
          <p:cNvPr id="8" name="card-1"/>
          <p:cNvSpPr/>
          <p:nvPr/>
        </p:nvSpPr>
        <p:spPr>
          <a:xfrm>
            <a:off x="3450260" y="1554480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51428" y="1755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5142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51428" y="2249424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영광이 드러나다</a:t>
            </a:r>
            <a:endParaRPr lang="en-US" sz="15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51428" y="2562606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1:19~4:42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세례요한의 증거 2회, 나다나엘,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니고데모, 수가성 여인</a:t>
            </a:r>
            <a:endParaRPr lang="en-US" sz="1250" dirty="0"/>
          </a:p>
        </p:txBody>
      </p:sp>
      <p:sp>
        <p:nvSpPr>
          <p:cNvPr id="13" name="card-2"/>
          <p:cNvSpPr/>
          <p:nvPr/>
        </p:nvSpPr>
        <p:spPr>
          <a:xfrm>
            <a:off x="6214720" y="1554480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15888" y="1755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1588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15888" y="2249424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영광을 드러내시다</a:t>
            </a:r>
            <a:endParaRPr lang="en-US" sz="15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15888" y="2562606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4:43~6:71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왕의 신하 · 베데스다 · 오병이어 ·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물 위를 걸으심 (표적 4개)</a:t>
            </a:r>
            <a:endParaRPr lang="en-US" sz="1250" dirty="0"/>
          </a:p>
        </p:txBody>
      </p:sp>
      <p:sp>
        <p:nvSpPr>
          <p:cNvPr id="18" name="card-3"/>
          <p:cNvSpPr/>
          <p:nvPr/>
        </p:nvSpPr>
        <p:spPr>
          <a:xfrm>
            <a:off x="8979179" y="1554480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180347" y="1755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180347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3-head"/>
          <p:cNvSpPr txBox="1"/>
          <p:nvPr/>
        </p:nvSpPr>
        <p:spPr>
          <a:xfrm>
            <a:off x="9180347" y="2249424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영광이신 예수님</a:t>
            </a:r>
            <a:endParaRPr lang="en-US" sz="1500" dirty="0"/>
          </a:p>
        </p:txBody>
      </p:sp>
      <p:sp>
        <p:nvSpPr>
          <p:cNvPr id="22" name="card-3-body"/>
          <p:cNvSpPr txBox="1"/>
          <p:nvPr/>
        </p:nvSpPr>
        <p:spPr>
          <a:xfrm>
            <a:off x="9180347" y="2562606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7:1~10:42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초막절 증언, 실로암 맹인,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양의 문, 선한 목자</a:t>
            </a:r>
            <a:endParaRPr lang="en-US" sz="1250" dirty="0"/>
          </a:p>
        </p:txBody>
      </p:sp>
      <p:sp>
        <p:nvSpPr>
          <p:cNvPr id="23" name="card-4"/>
          <p:cNvSpPr/>
          <p:nvPr/>
        </p:nvSpPr>
        <p:spPr>
          <a:xfrm>
            <a:off x="685800" y="3936492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86968" y="41376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86968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card-4-head"/>
          <p:cNvSpPr txBox="1"/>
          <p:nvPr/>
        </p:nvSpPr>
        <p:spPr>
          <a:xfrm>
            <a:off x="886968" y="4631436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영광이신 하나님</a:t>
            </a:r>
            <a:endParaRPr lang="en-US" sz="1500" dirty="0"/>
          </a:p>
        </p:txBody>
      </p:sp>
      <p:sp>
        <p:nvSpPr>
          <p:cNvPr id="27" name="card-4-body"/>
          <p:cNvSpPr txBox="1"/>
          <p:nvPr/>
        </p:nvSpPr>
        <p:spPr>
          <a:xfrm>
            <a:off x="886968" y="4944618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11:1~12:50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나사로의 부활도, 예수님의 죽음도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하나님께 영광</a:t>
            </a:r>
            <a:endParaRPr lang="en-US" sz="1250" dirty="0"/>
          </a:p>
        </p:txBody>
      </p:sp>
      <p:sp>
        <p:nvSpPr>
          <p:cNvPr id="28" name="card-5"/>
          <p:cNvSpPr/>
          <p:nvPr/>
        </p:nvSpPr>
        <p:spPr>
          <a:xfrm>
            <a:off x="3450260" y="3936492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51428" y="41376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51428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51428" y="4631436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영광으로의 최후 여정</a:t>
            </a:r>
            <a:endParaRPr lang="en-US" sz="15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51428" y="4944618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13~14장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세족식, 길 · 진리 · 생명</a:t>
            </a:r>
            <a:endParaRPr lang="en-US" sz="1250" dirty="0"/>
          </a:p>
        </p:txBody>
      </p:sp>
      <p:sp>
        <p:nvSpPr>
          <p:cNvPr id="33" name="card-6"/>
          <p:cNvSpPr/>
          <p:nvPr/>
        </p:nvSpPr>
        <p:spPr>
          <a:xfrm>
            <a:off x="6214720" y="3936492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15888" y="41376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15888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15888" y="4631436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 안에 거함</a:t>
            </a:r>
            <a:endParaRPr lang="en-US" sz="15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15888" y="4944618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15~17장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포도나무, 보혜사 성령,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대제사장적 기도</a:t>
            </a:r>
            <a:endParaRPr lang="en-US" sz="1250" dirty="0"/>
          </a:p>
        </p:txBody>
      </p:sp>
      <p:sp>
        <p:nvSpPr>
          <p:cNvPr id="38" name="card-7"/>
          <p:cNvSpPr/>
          <p:nvPr/>
        </p:nvSpPr>
        <p:spPr>
          <a:xfrm>
            <a:off x="8979179" y="3936492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180347" y="41376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180347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41" name="card-7-head"/>
          <p:cNvSpPr txBox="1"/>
          <p:nvPr/>
        </p:nvSpPr>
        <p:spPr>
          <a:xfrm>
            <a:off x="9180347" y="4631436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영광으로의 초대</a:t>
            </a:r>
            <a:endParaRPr lang="en-US" sz="1500" dirty="0"/>
          </a:p>
        </p:txBody>
      </p:sp>
      <p:sp>
        <p:nvSpPr>
          <p:cNvPr id="42" name="card-7-body"/>
          <p:cNvSpPr txBox="1"/>
          <p:nvPr/>
        </p:nvSpPr>
        <p:spPr>
          <a:xfrm>
            <a:off x="9180347" y="4944618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18~21장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“네가 나를 사랑하느냐”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내 양을 먹이라 · 치라 · 먹이라</a:t>
            </a:r>
            <a:endParaRPr lang="en-US" sz="1250" dirty="0"/>
          </a:p>
        </p:txBody>
      </p:sp>
      <p:sp>
        <p:nvSpPr>
          <p:cNvPr id="4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완전수 7 ① 일곱 표적 — 가 · 왕 · 베 · 오 · 물 · 실 · 나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1341947" cy="2103120"/>
          </a:xfrm>
          <a:prstGeom prst="roundRect">
            <a:avLst>
              <a:gd name="adj" fmla="val 40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32104" y="1719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3210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가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832104" y="2231136"/>
            <a:ext cx="1049339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가나 혼인잔치</a:t>
            </a:r>
            <a:endParaRPr lang="en-US" sz="1400" dirty="0"/>
          </a:p>
        </p:txBody>
      </p:sp>
      <p:sp>
        <p:nvSpPr>
          <p:cNvPr id="7" name="card-0-body"/>
          <p:cNvSpPr txBox="1"/>
          <p:nvPr/>
        </p:nvSpPr>
        <p:spPr>
          <a:xfrm>
            <a:off x="832104" y="2752344"/>
            <a:ext cx="10493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물을 포도주로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2:1~11</a:t>
            </a:r>
            <a:endParaRPr lang="en-US" sz="1200" dirty="0"/>
          </a:p>
        </p:txBody>
      </p:sp>
      <p:sp>
        <p:nvSpPr>
          <p:cNvPr id="8" name="card-1"/>
          <p:cNvSpPr/>
          <p:nvPr/>
        </p:nvSpPr>
        <p:spPr>
          <a:xfrm>
            <a:off x="2265491" y="1572768"/>
            <a:ext cx="1341947" cy="2103120"/>
          </a:xfrm>
          <a:prstGeom prst="roundRect">
            <a:avLst>
              <a:gd name="adj" fmla="val 40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2411795" y="1719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2411795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왕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2411795" y="2231136"/>
            <a:ext cx="1049339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왕의 신하 아들 치유</a:t>
            </a:r>
            <a:endParaRPr lang="en-US" sz="1400" dirty="0"/>
          </a:p>
        </p:txBody>
      </p:sp>
      <p:sp>
        <p:nvSpPr>
          <p:cNvPr id="12" name="card-1-body"/>
          <p:cNvSpPr txBox="1"/>
          <p:nvPr/>
        </p:nvSpPr>
        <p:spPr>
          <a:xfrm>
            <a:off x="2411795" y="2752344"/>
            <a:ext cx="10493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말씀만으로 고치심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4:46~54</a:t>
            </a:r>
            <a:endParaRPr lang="en-US" sz="1200" dirty="0"/>
          </a:p>
        </p:txBody>
      </p:sp>
      <p:sp>
        <p:nvSpPr>
          <p:cNvPr id="13" name="card-2"/>
          <p:cNvSpPr/>
          <p:nvPr/>
        </p:nvSpPr>
        <p:spPr>
          <a:xfrm>
            <a:off x="3845183" y="1572768"/>
            <a:ext cx="1341947" cy="2103120"/>
          </a:xfrm>
          <a:prstGeom prst="roundRect">
            <a:avLst>
              <a:gd name="adj" fmla="val 40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3991487" y="1719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3991487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베</a:t>
            </a:r>
            <a:endParaRPr lang="en-US" sz="1300" dirty="0"/>
          </a:p>
        </p:txBody>
      </p:sp>
      <p:sp>
        <p:nvSpPr>
          <p:cNvPr id="16" name="card-2-head"/>
          <p:cNvSpPr txBox="1"/>
          <p:nvPr/>
        </p:nvSpPr>
        <p:spPr>
          <a:xfrm>
            <a:off x="3991487" y="2231136"/>
            <a:ext cx="1049339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베데스다 못 병자</a:t>
            </a:r>
            <a:endParaRPr lang="en-US" sz="1400" dirty="0"/>
          </a:p>
        </p:txBody>
      </p:sp>
      <p:sp>
        <p:nvSpPr>
          <p:cNvPr id="17" name="card-2-body"/>
          <p:cNvSpPr txBox="1"/>
          <p:nvPr/>
        </p:nvSpPr>
        <p:spPr>
          <a:xfrm>
            <a:off x="3991487" y="2752344"/>
            <a:ext cx="10493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38년 된 병자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5:1~9</a:t>
            </a:r>
            <a:endParaRPr lang="en-US" sz="1200" dirty="0"/>
          </a:p>
        </p:txBody>
      </p:sp>
      <p:sp>
        <p:nvSpPr>
          <p:cNvPr id="18" name="card-3"/>
          <p:cNvSpPr/>
          <p:nvPr/>
        </p:nvSpPr>
        <p:spPr>
          <a:xfrm>
            <a:off x="5424874" y="1572768"/>
            <a:ext cx="1341947" cy="2103120"/>
          </a:xfrm>
          <a:prstGeom prst="roundRect">
            <a:avLst>
              <a:gd name="adj" fmla="val 40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5571178" y="1719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557117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오</a:t>
            </a:r>
            <a:endParaRPr lang="en-US" sz="1300" dirty="0"/>
          </a:p>
        </p:txBody>
      </p:sp>
      <p:sp>
        <p:nvSpPr>
          <p:cNvPr id="21" name="card-3-head"/>
          <p:cNvSpPr txBox="1"/>
          <p:nvPr/>
        </p:nvSpPr>
        <p:spPr>
          <a:xfrm>
            <a:off x="5571178" y="2231136"/>
            <a:ext cx="1049339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오병이어</a:t>
            </a:r>
            <a:endParaRPr lang="en-US" sz="1400" dirty="0"/>
          </a:p>
        </p:txBody>
      </p:sp>
      <p:sp>
        <p:nvSpPr>
          <p:cNvPr id="22" name="card-3-body"/>
          <p:cNvSpPr txBox="1"/>
          <p:nvPr/>
        </p:nvSpPr>
        <p:spPr>
          <a:xfrm>
            <a:off x="5571178" y="2528316"/>
            <a:ext cx="1049339" cy="1001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오천 명을 먹이심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6:5~13</a:t>
            </a:r>
            <a:endParaRPr lang="en-US" sz="1200" dirty="0"/>
          </a:p>
        </p:txBody>
      </p:sp>
      <p:sp>
        <p:nvSpPr>
          <p:cNvPr id="23" name="card-4"/>
          <p:cNvSpPr/>
          <p:nvPr/>
        </p:nvSpPr>
        <p:spPr>
          <a:xfrm>
            <a:off x="7004565" y="1572768"/>
            <a:ext cx="1341947" cy="2103120"/>
          </a:xfrm>
          <a:prstGeom prst="roundRect">
            <a:avLst>
              <a:gd name="adj" fmla="val 40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7150869" y="1719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7150869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물</a:t>
            </a:r>
            <a:endParaRPr lang="en-US" sz="1300" dirty="0"/>
          </a:p>
        </p:txBody>
      </p:sp>
      <p:sp>
        <p:nvSpPr>
          <p:cNvPr id="26" name="card-4-head"/>
          <p:cNvSpPr txBox="1"/>
          <p:nvPr/>
        </p:nvSpPr>
        <p:spPr>
          <a:xfrm>
            <a:off x="7150869" y="2231136"/>
            <a:ext cx="1049339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물 위를 걸으심</a:t>
            </a:r>
            <a:endParaRPr lang="en-US" sz="1400" dirty="0"/>
          </a:p>
        </p:txBody>
      </p:sp>
      <p:sp>
        <p:nvSpPr>
          <p:cNvPr id="27" name="card-4-body"/>
          <p:cNvSpPr txBox="1"/>
          <p:nvPr/>
        </p:nvSpPr>
        <p:spPr>
          <a:xfrm>
            <a:off x="7150869" y="2752344"/>
            <a:ext cx="10493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밤 사경에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6:19~21</a:t>
            </a:r>
            <a:endParaRPr lang="en-US" sz="1200" dirty="0"/>
          </a:p>
        </p:txBody>
      </p:sp>
      <p:sp>
        <p:nvSpPr>
          <p:cNvPr id="28" name="card-5"/>
          <p:cNvSpPr/>
          <p:nvPr/>
        </p:nvSpPr>
        <p:spPr>
          <a:xfrm>
            <a:off x="8584257" y="1572768"/>
            <a:ext cx="1341947" cy="2103120"/>
          </a:xfrm>
          <a:prstGeom prst="roundRect">
            <a:avLst>
              <a:gd name="adj" fmla="val 40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8730561" y="1719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8730561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실</a:t>
            </a:r>
            <a:endParaRPr lang="en-US" sz="1300" dirty="0"/>
          </a:p>
        </p:txBody>
      </p:sp>
      <p:sp>
        <p:nvSpPr>
          <p:cNvPr id="31" name="card-5-head"/>
          <p:cNvSpPr txBox="1"/>
          <p:nvPr/>
        </p:nvSpPr>
        <p:spPr>
          <a:xfrm>
            <a:off x="8730561" y="2231136"/>
            <a:ext cx="1049339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실로암 맹인</a:t>
            </a:r>
            <a:endParaRPr lang="en-US" sz="1400" dirty="0"/>
          </a:p>
        </p:txBody>
      </p:sp>
      <p:sp>
        <p:nvSpPr>
          <p:cNvPr id="32" name="card-5-body"/>
          <p:cNvSpPr txBox="1"/>
          <p:nvPr/>
        </p:nvSpPr>
        <p:spPr>
          <a:xfrm>
            <a:off x="8730561" y="2528316"/>
            <a:ext cx="1049339" cy="1001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날 때부터 소경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9:1~7</a:t>
            </a:r>
            <a:endParaRPr lang="en-US" sz="1200" dirty="0"/>
          </a:p>
        </p:txBody>
      </p:sp>
      <p:sp>
        <p:nvSpPr>
          <p:cNvPr id="33" name="card-6"/>
          <p:cNvSpPr/>
          <p:nvPr/>
        </p:nvSpPr>
        <p:spPr>
          <a:xfrm>
            <a:off x="10163948" y="1572768"/>
            <a:ext cx="1341947" cy="2103120"/>
          </a:xfrm>
          <a:prstGeom prst="roundRect">
            <a:avLst>
              <a:gd name="adj" fmla="val 40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10310252" y="1719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10310252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나</a:t>
            </a:r>
            <a:endParaRPr lang="en-US" sz="1300" dirty="0"/>
          </a:p>
        </p:txBody>
      </p:sp>
      <p:sp>
        <p:nvSpPr>
          <p:cNvPr id="36" name="card-6-head"/>
          <p:cNvSpPr txBox="1"/>
          <p:nvPr/>
        </p:nvSpPr>
        <p:spPr>
          <a:xfrm>
            <a:off x="10310252" y="2231136"/>
            <a:ext cx="1049339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나사로를 살리심</a:t>
            </a:r>
            <a:endParaRPr lang="en-US" sz="1400" dirty="0"/>
          </a:p>
        </p:txBody>
      </p:sp>
      <p:sp>
        <p:nvSpPr>
          <p:cNvPr id="37" name="card-6-body"/>
          <p:cNvSpPr txBox="1"/>
          <p:nvPr/>
        </p:nvSpPr>
        <p:spPr>
          <a:xfrm>
            <a:off x="10310252" y="2752344"/>
            <a:ext cx="10493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표적 중의 표적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11:1~44</a:t>
            </a:r>
            <a:endParaRPr lang="en-US" sz="1200" dirty="0"/>
          </a:p>
        </p:txBody>
      </p:sp>
      <p:sp>
        <p:nvSpPr>
          <p:cNvPr id="38" name="keyline"/>
          <p:cNvSpPr/>
          <p:nvPr/>
        </p:nvSpPr>
        <p:spPr>
          <a:xfrm>
            <a:off x="685800" y="3895344"/>
            <a:ext cx="10820095" cy="658368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</p:sp>
      <p:sp>
        <p:nvSpPr>
          <p:cNvPr id="39" name="keyline-text"/>
          <p:cNvSpPr txBox="1"/>
          <p:nvPr/>
        </p:nvSpPr>
        <p:spPr>
          <a:xfrm>
            <a:off x="960120" y="3895344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표적(σημεῖον)은 기적 자체가 아니라, 예수님이 누구신지를 가리키는 ‘표지판’입니다</a:t>
            </a:r>
            <a:endParaRPr lang="en-US" sz="1700" dirty="0"/>
          </a:p>
        </p:txBody>
      </p:sp>
      <p:sp>
        <p:nvSpPr>
          <p:cNvPr id="40" name="bullets"/>
          <p:cNvSpPr txBox="1"/>
          <p:nvPr/>
        </p:nvSpPr>
        <p:spPr>
          <a:xfrm>
            <a:off x="685800" y="4700016"/>
            <a:ext cx="108200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나사로를 살리신 사건(11장)은 가장 큰 표적이자, 예수님의 부활을 강력히 예표하는 표적 중의 표적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21장의 153마리 고기 사건을 더해 여덟 번째 표적으로 보기도 한다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표적은 늘 ‘자기선언’과 짝을 이룬다 — 오병이어 뒤에 “나는 생명의 떡이다”, 실로암 뒤에 “나는 세상의 빛이다”</a:t>
            </a:r>
            <a:endParaRPr lang="en-US" sz="1500" dirty="0"/>
          </a:p>
        </p:txBody>
      </p:sp>
      <p:sp>
        <p:nvSpPr>
          <p:cNvPr id="41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완전수 7 ② 일곱 자기선언 — 에고 에이미 (ἐγώ εἰμι)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1341947" cy="2286000"/>
          </a:xfrm>
          <a:prstGeom prst="roundRect">
            <a:avLst>
              <a:gd name="adj" fmla="val 40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32104" y="1719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3210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생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832104" y="2231136"/>
            <a:ext cx="1049339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나는 생명의 떡이다</a:t>
            </a:r>
            <a:endParaRPr lang="en-US" sz="1350" dirty="0"/>
          </a:p>
        </p:txBody>
      </p:sp>
      <p:sp>
        <p:nvSpPr>
          <p:cNvPr id="7" name="card-0-body"/>
          <p:cNvSpPr txBox="1"/>
          <p:nvPr/>
        </p:nvSpPr>
        <p:spPr>
          <a:xfrm>
            <a:off x="832104" y="2736342"/>
            <a:ext cx="1049339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6:35</a:t>
            </a:r>
            <a:endParaRPr lang="en-US" sz="1300" dirty="0"/>
          </a:p>
        </p:txBody>
      </p:sp>
      <p:sp>
        <p:nvSpPr>
          <p:cNvPr id="8" name="card-0-foot"/>
          <p:cNvSpPr txBox="1"/>
          <p:nvPr/>
        </p:nvSpPr>
        <p:spPr>
          <a:xfrm>
            <a:off x="832104" y="3326638"/>
            <a:ext cx="1049339" cy="4224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살기 위해 꼭 필요한 양식</a:t>
            </a:r>
            <a:endParaRPr lang="en-US" sz="1100" dirty="0"/>
          </a:p>
        </p:txBody>
      </p:sp>
      <p:sp>
        <p:nvSpPr>
          <p:cNvPr id="9" name="card-1"/>
          <p:cNvSpPr/>
          <p:nvPr/>
        </p:nvSpPr>
        <p:spPr>
          <a:xfrm>
            <a:off x="2265491" y="1572768"/>
            <a:ext cx="1341947" cy="2286000"/>
          </a:xfrm>
          <a:prstGeom prst="roundRect">
            <a:avLst>
              <a:gd name="adj" fmla="val 40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2411795" y="1719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2411795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세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2411795" y="2231136"/>
            <a:ext cx="1049339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나는 세상의 빛이다</a:t>
            </a:r>
            <a:endParaRPr lang="en-US" sz="1350" dirty="0"/>
          </a:p>
        </p:txBody>
      </p:sp>
      <p:sp>
        <p:nvSpPr>
          <p:cNvPr id="13" name="card-1-body"/>
          <p:cNvSpPr txBox="1"/>
          <p:nvPr/>
        </p:nvSpPr>
        <p:spPr>
          <a:xfrm>
            <a:off x="2411795" y="2736342"/>
            <a:ext cx="1049339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8:12 / 9:5</a:t>
            </a:r>
            <a:endParaRPr lang="en-US" sz="1300" dirty="0"/>
          </a:p>
        </p:txBody>
      </p:sp>
      <p:sp>
        <p:nvSpPr>
          <p:cNvPr id="14" name="card-1-foot"/>
          <p:cNvSpPr txBox="1"/>
          <p:nvPr/>
        </p:nvSpPr>
        <p:spPr>
          <a:xfrm>
            <a:off x="2411795" y="3326638"/>
            <a:ext cx="1049339" cy="4224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어둠을 보게 하는 빛</a:t>
            </a:r>
            <a:endParaRPr lang="en-US" sz="1100" dirty="0"/>
          </a:p>
        </p:txBody>
      </p:sp>
      <p:sp>
        <p:nvSpPr>
          <p:cNvPr id="15" name="card-2"/>
          <p:cNvSpPr/>
          <p:nvPr/>
        </p:nvSpPr>
        <p:spPr>
          <a:xfrm>
            <a:off x="3845183" y="1572768"/>
            <a:ext cx="1341947" cy="2286000"/>
          </a:xfrm>
          <a:prstGeom prst="roundRect">
            <a:avLst>
              <a:gd name="adj" fmla="val 40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3991487" y="1719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3991487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양</a:t>
            </a:r>
            <a:endParaRPr lang="en-US" sz="1300" dirty="0"/>
          </a:p>
        </p:txBody>
      </p:sp>
      <p:sp>
        <p:nvSpPr>
          <p:cNvPr id="18" name="card-2-head"/>
          <p:cNvSpPr txBox="1"/>
          <p:nvPr/>
        </p:nvSpPr>
        <p:spPr>
          <a:xfrm>
            <a:off x="3991487" y="2231136"/>
            <a:ext cx="1049339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나는 양의 문이다</a:t>
            </a:r>
            <a:endParaRPr lang="en-US" sz="1350" dirty="0"/>
          </a:p>
        </p:txBody>
      </p:sp>
      <p:sp>
        <p:nvSpPr>
          <p:cNvPr id="19" name="card-2-body"/>
          <p:cNvSpPr txBox="1"/>
          <p:nvPr/>
        </p:nvSpPr>
        <p:spPr>
          <a:xfrm>
            <a:off x="3991487" y="2736342"/>
            <a:ext cx="1049339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10:7</a:t>
            </a:r>
            <a:endParaRPr lang="en-US" sz="1300" dirty="0"/>
          </a:p>
        </p:txBody>
      </p:sp>
      <p:sp>
        <p:nvSpPr>
          <p:cNvPr id="20" name="card-2-foot"/>
          <p:cNvSpPr txBox="1"/>
          <p:nvPr/>
        </p:nvSpPr>
        <p:spPr>
          <a:xfrm>
            <a:off x="3991487" y="3326638"/>
            <a:ext cx="1049339" cy="4224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들어가는 유일한 길</a:t>
            </a:r>
            <a:endParaRPr lang="en-US" sz="1100" dirty="0"/>
          </a:p>
        </p:txBody>
      </p:sp>
      <p:sp>
        <p:nvSpPr>
          <p:cNvPr id="21" name="card-3"/>
          <p:cNvSpPr/>
          <p:nvPr/>
        </p:nvSpPr>
        <p:spPr>
          <a:xfrm>
            <a:off x="5424874" y="1572768"/>
            <a:ext cx="1341947" cy="2286000"/>
          </a:xfrm>
          <a:prstGeom prst="roundRect">
            <a:avLst>
              <a:gd name="adj" fmla="val 40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5571178" y="1719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557117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선</a:t>
            </a:r>
            <a:endParaRPr lang="en-US" sz="1300" dirty="0"/>
          </a:p>
        </p:txBody>
      </p:sp>
      <p:sp>
        <p:nvSpPr>
          <p:cNvPr id="24" name="card-3-head"/>
          <p:cNvSpPr txBox="1"/>
          <p:nvPr/>
        </p:nvSpPr>
        <p:spPr>
          <a:xfrm>
            <a:off x="5571178" y="2231136"/>
            <a:ext cx="1049339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나는 선한 목자다</a:t>
            </a:r>
            <a:endParaRPr lang="en-US" sz="1350" dirty="0"/>
          </a:p>
        </p:txBody>
      </p:sp>
      <p:sp>
        <p:nvSpPr>
          <p:cNvPr id="25" name="card-3-body"/>
          <p:cNvSpPr txBox="1"/>
          <p:nvPr/>
        </p:nvSpPr>
        <p:spPr>
          <a:xfrm>
            <a:off x="5571178" y="2736342"/>
            <a:ext cx="1049339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10:11</a:t>
            </a:r>
            <a:endParaRPr lang="en-US" sz="1300" dirty="0"/>
          </a:p>
        </p:txBody>
      </p:sp>
      <p:sp>
        <p:nvSpPr>
          <p:cNvPr id="26" name="card-3-foot"/>
          <p:cNvSpPr txBox="1"/>
          <p:nvPr/>
        </p:nvSpPr>
        <p:spPr>
          <a:xfrm>
            <a:off x="5571178" y="3326638"/>
            <a:ext cx="1049339" cy="4224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목숨을 버리는 목자</a:t>
            </a:r>
            <a:endParaRPr lang="en-US" sz="1100" dirty="0"/>
          </a:p>
        </p:txBody>
      </p:sp>
      <p:sp>
        <p:nvSpPr>
          <p:cNvPr id="27" name="card-4"/>
          <p:cNvSpPr/>
          <p:nvPr/>
        </p:nvSpPr>
        <p:spPr>
          <a:xfrm>
            <a:off x="7004565" y="1572768"/>
            <a:ext cx="1341947" cy="2286000"/>
          </a:xfrm>
          <a:prstGeom prst="roundRect">
            <a:avLst>
              <a:gd name="adj" fmla="val 40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4-badge"/>
          <p:cNvSpPr/>
          <p:nvPr/>
        </p:nvSpPr>
        <p:spPr>
          <a:xfrm>
            <a:off x="7150869" y="1719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4-badge-text"/>
          <p:cNvSpPr txBox="1"/>
          <p:nvPr/>
        </p:nvSpPr>
        <p:spPr>
          <a:xfrm>
            <a:off x="7150869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부</a:t>
            </a:r>
            <a:endParaRPr lang="en-US" sz="1300" dirty="0"/>
          </a:p>
        </p:txBody>
      </p:sp>
      <p:sp>
        <p:nvSpPr>
          <p:cNvPr id="30" name="card-4-head"/>
          <p:cNvSpPr txBox="1"/>
          <p:nvPr/>
        </p:nvSpPr>
        <p:spPr>
          <a:xfrm>
            <a:off x="7150869" y="2231136"/>
            <a:ext cx="1049339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나는 부활이요 생명이다</a:t>
            </a:r>
            <a:endParaRPr lang="en-US" sz="1350" dirty="0"/>
          </a:p>
        </p:txBody>
      </p:sp>
      <p:sp>
        <p:nvSpPr>
          <p:cNvPr id="31" name="card-4-body"/>
          <p:cNvSpPr txBox="1"/>
          <p:nvPr/>
        </p:nvSpPr>
        <p:spPr>
          <a:xfrm>
            <a:off x="7150869" y="2736342"/>
            <a:ext cx="1049339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11:25</a:t>
            </a:r>
            <a:endParaRPr lang="en-US" sz="1300" dirty="0"/>
          </a:p>
        </p:txBody>
      </p:sp>
      <p:sp>
        <p:nvSpPr>
          <p:cNvPr id="32" name="card-4-foot"/>
          <p:cNvSpPr txBox="1"/>
          <p:nvPr/>
        </p:nvSpPr>
        <p:spPr>
          <a:xfrm>
            <a:off x="7150869" y="3326638"/>
            <a:ext cx="1049339" cy="4224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죽음 너머의 생명</a:t>
            </a:r>
            <a:endParaRPr lang="en-US" sz="1100" dirty="0"/>
          </a:p>
        </p:txBody>
      </p:sp>
      <p:sp>
        <p:nvSpPr>
          <p:cNvPr id="33" name="card-5"/>
          <p:cNvSpPr/>
          <p:nvPr/>
        </p:nvSpPr>
        <p:spPr>
          <a:xfrm>
            <a:off x="8584257" y="1572768"/>
            <a:ext cx="1341947" cy="2286000"/>
          </a:xfrm>
          <a:prstGeom prst="roundRect">
            <a:avLst>
              <a:gd name="adj" fmla="val 40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5-badge"/>
          <p:cNvSpPr/>
          <p:nvPr/>
        </p:nvSpPr>
        <p:spPr>
          <a:xfrm>
            <a:off x="8730561" y="1719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5-badge-text"/>
          <p:cNvSpPr txBox="1"/>
          <p:nvPr/>
        </p:nvSpPr>
        <p:spPr>
          <a:xfrm>
            <a:off x="8730561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길</a:t>
            </a:r>
            <a:endParaRPr lang="en-US" sz="1300" dirty="0"/>
          </a:p>
        </p:txBody>
      </p:sp>
      <p:sp>
        <p:nvSpPr>
          <p:cNvPr id="36" name="card-5-head"/>
          <p:cNvSpPr txBox="1"/>
          <p:nvPr/>
        </p:nvSpPr>
        <p:spPr>
          <a:xfrm>
            <a:off x="8730561" y="2231136"/>
            <a:ext cx="1049339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나는 길 · 진리 · 생명이다</a:t>
            </a:r>
            <a:endParaRPr lang="en-US" sz="1350" dirty="0"/>
          </a:p>
        </p:txBody>
      </p:sp>
      <p:sp>
        <p:nvSpPr>
          <p:cNvPr id="37" name="card-5-body"/>
          <p:cNvSpPr txBox="1"/>
          <p:nvPr/>
        </p:nvSpPr>
        <p:spPr>
          <a:xfrm>
            <a:off x="8730561" y="2736342"/>
            <a:ext cx="1049339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14:6</a:t>
            </a:r>
            <a:endParaRPr lang="en-US" sz="1300" dirty="0"/>
          </a:p>
        </p:txBody>
      </p:sp>
      <p:sp>
        <p:nvSpPr>
          <p:cNvPr id="38" name="card-5-foot"/>
          <p:cNvSpPr txBox="1"/>
          <p:nvPr/>
        </p:nvSpPr>
        <p:spPr>
          <a:xfrm>
            <a:off x="8730561" y="3326638"/>
            <a:ext cx="1049339" cy="4224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아버지께 이르는 유일한 길</a:t>
            </a:r>
            <a:endParaRPr lang="en-US" sz="1100" dirty="0"/>
          </a:p>
        </p:txBody>
      </p:sp>
      <p:sp>
        <p:nvSpPr>
          <p:cNvPr id="39" name="card-6"/>
          <p:cNvSpPr/>
          <p:nvPr/>
        </p:nvSpPr>
        <p:spPr>
          <a:xfrm>
            <a:off x="10163948" y="1572768"/>
            <a:ext cx="1341947" cy="2286000"/>
          </a:xfrm>
          <a:prstGeom prst="roundRect">
            <a:avLst>
              <a:gd name="adj" fmla="val 40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0" name="card-6-badge"/>
          <p:cNvSpPr/>
          <p:nvPr/>
        </p:nvSpPr>
        <p:spPr>
          <a:xfrm>
            <a:off x="10310252" y="1719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1" name="card-6-badge-text"/>
          <p:cNvSpPr txBox="1"/>
          <p:nvPr/>
        </p:nvSpPr>
        <p:spPr>
          <a:xfrm>
            <a:off x="10310252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참</a:t>
            </a:r>
            <a:endParaRPr lang="en-US" sz="1300" dirty="0"/>
          </a:p>
        </p:txBody>
      </p:sp>
      <p:sp>
        <p:nvSpPr>
          <p:cNvPr id="42" name="card-6-head"/>
          <p:cNvSpPr txBox="1"/>
          <p:nvPr/>
        </p:nvSpPr>
        <p:spPr>
          <a:xfrm>
            <a:off x="10310252" y="2231136"/>
            <a:ext cx="1049339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나는 참 포도나무다</a:t>
            </a:r>
            <a:endParaRPr lang="en-US" sz="1350" dirty="0"/>
          </a:p>
        </p:txBody>
      </p:sp>
      <p:sp>
        <p:nvSpPr>
          <p:cNvPr id="43" name="card-6-body"/>
          <p:cNvSpPr txBox="1"/>
          <p:nvPr/>
        </p:nvSpPr>
        <p:spPr>
          <a:xfrm>
            <a:off x="10310252" y="2736342"/>
            <a:ext cx="1049339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15:1</a:t>
            </a:r>
            <a:endParaRPr lang="en-US" sz="1300" dirty="0"/>
          </a:p>
        </p:txBody>
      </p:sp>
      <p:sp>
        <p:nvSpPr>
          <p:cNvPr id="44" name="card-6-foot"/>
          <p:cNvSpPr txBox="1"/>
          <p:nvPr/>
        </p:nvSpPr>
        <p:spPr>
          <a:xfrm>
            <a:off x="10310252" y="3326638"/>
            <a:ext cx="1049339" cy="4224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붙어 있어야 열매 맺는다</a:t>
            </a:r>
            <a:endParaRPr lang="en-US" sz="1100" dirty="0"/>
          </a:p>
        </p:txBody>
      </p:sp>
      <p:sp>
        <p:nvSpPr>
          <p:cNvPr id="45" name="keyline"/>
          <p:cNvSpPr/>
          <p:nvPr/>
        </p:nvSpPr>
        <p:spPr>
          <a:xfrm>
            <a:off x="685800" y="4059936"/>
            <a:ext cx="10820095" cy="896112"/>
          </a:xfrm>
          <a:prstGeom prst="roundRect">
            <a:avLst>
              <a:gd name="adj" fmla="val 10204"/>
            </a:avLst>
          </a:prstGeom>
          <a:solidFill>
            <a:schemeClr val="tx2"/>
          </a:solidFill>
          <a:ln/>
        </p:spPr>
      </p:sp>
      <p:sp>
        <p:nvSpPr>
          <p:cNvPr id="46" name="keyline-text"/>
          <p:cNvSpPr txBox="1"/>
          <p:nvPr/>
        </p:nvSpPr>
        <p:spPr>
          <a:xfrm>
            <a:off x="960120" y="4059936"/>
            <a:ext cx="1027145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떡 · 빛 · 문 · 목자 · 부활 · 길 · 포도나무 — 어린아이도 아는 사물로 자신을 완벽하게 증거하셨습니다.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“나는 ~이다”는 영원한 생명에 대한 인간의 질문에 주시는 답입니다.</a:t>
            </a:r>
            <a:endParaRPr lang="en-US" sz="1500" dirty="0"/>
          </a:p>
        </p:txBody>
      </p:sp>
      <p:sp>
        <p:nvSpPr>
          <p:cNvPr id="47" name="bullets"/>
          <p:cNvSpPr txBox="1"/>
          <p:nvPr/>
        </p:nvSpPr>
        <p:spPr>
          <a:xfrm>
            <a:off x="685800" y="512064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‘에고 에이미’는 출애굽기 3:14의 “나는 스스로 있는 자니라”와 같은 표현 — 곧 신성 선언입니다.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유대인들이 돌을 들었던 이유도 여기에 있다 (8:58~59, 10:30~33)</a:t>
            </a:r>
            <a:endParaRPr lang="en-US" sz="1500" dirty="0"/>
          </a:p>
        </p:txBody>
      </p:sp>
      <p:sp>
        <p:nvSpPr>
          <p:cNvPr id="4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완전수 7 ③ 일곱 증인 — 예수님을 무엇이라 불렀는가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17904"/>
          <a:ext cx="108200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5669280"/>
                <a:gridCol w="176479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세례 요한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1:29~34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어린양 · 하나님의 아들 · 성령으로 세례 주시는 분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선구자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나다나엘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1:49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· 이스라엘의 임금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첫 제자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니고데모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3:2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하나님께로부터 오신 선생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유대 지도자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여인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4:19, 29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선지자 · 혹시 그리스도가 아니냐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사마리아 여인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사람들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4:42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세상의 구주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이방 지역 주민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도마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20:28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나의 주, 나의 하나님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의심했던 제자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사도 요한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20:31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그리스도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저자 자신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keyline"/>
          <p:cNvSpPr/>
          <p:nvPr/>
        </p:nvSpPr>
        <p:spPr>
          <a:xfrm>
            <a:off x="685800" y="5084064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5084064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유대 지도자 · 사마리아 여인 · 이방 주민 · 의심한 제자 — 모든 종류의 사람이 같은 결론에 도달합니다</a:t>
            </a:r>
            <a:endParaRPr lang="en-US" sz="17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완전수 7 ④ 일곱 전도자 · 일곱 비사</a:t>
            </a:r>
            <a:endParaRPr lang="en-US" sz="3200" dirty="0"/>
          </a:p>
        </p:txBody>
      </p:sp>
      <p:sp>
        <p:nvSpPr>
          <p:cNvPr id="3" name="cmp-0"/>
          <p:cNvSpPr/>
          <p:nvPr/>
        </p:nvSpPr>
        <p:spPr>
          <a:xfrm>
            <a:off x="685800" y="1536192"/>
            <a:ext cx="5272888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77393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일곱 전도자 (21장)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322576"/>
            <a:ext cx="472424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요한복음의 마지막 장면은 승천이 아니다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디베랴 바닷가에서 일곱 제자와의 대화, 그리고 153마리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베드로 · 야고보 · 요한 · 도마 · 나다나엘 · 또 다른 두 제자 = 완전한 전도대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바다는 세상, 고기는 사람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“사람을 낚고 세우는 어부가 되라”는 강력한 메시지로 복음서를 닫는다</a:t>
            </a:r>
            <a:endParaRPr lang="en-US" sz="1400" dirty="0"/>
          </a:p>
        </p:txBody>
      </p:sp>
      <p:sp>
        <p:nvSpPr>
          <p:cNvPr id="6" name="cmp-1"/>
          <p:cNvSpPr/>
          <p:nvPr/>
        </p:nvSpPr>
        <p:spPr>
          <a:xfrm>
            <a:off x="6233008" y="1536192"/>
            <a:ext cx="5272888" cy="3931920"/>
          </a:xfrm>
          <a:prstGeom prst="roundRect">
            <a:avLst>
              <a:gd name="adj" fmla="val 139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77393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일곱 비사 — 익숙한 것으로 전한 영적 비밀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322576"/>
            <a:ext cx="472424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영원한 샘물 (4:14)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이 성전을 헐라 (2:19)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영원히 목마르지 아니할 생명의 양식 (6:51)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밭이 희어져 추수하게 되었다 (4:35)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소경 되게 하려 함이라 (9:39)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빛이 있을 동안에 빛을 믿으라 (12:36)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내가 너희 발을 씻기는 것이 옳으니라 (13:14)</a:t>
            </a:r>
            <a:endParaRPr lang="en-US" sz="1400" dirty="0"/>
          </a:p>
        </p:txBody>
      </p:sp>
      <p:sp>
        <p:nvSpPr>
          <p:cNvPr id="9" name="note"/>
          <p:cNvSpPr txBox="1"/>
          <p:nvPr/>
        </p:nvSpPr>
        <p:spPr>
          <a:xfrm>
            <a:off x="685800" y="5614416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※ 비사(秘辭) : 우리가 익히 아는 내용을 차용해 하나님 나라의 영적 비밀을 전달하는 어법</a:t>
            </a:r>
            <a:endParaRPr lang="en-US" sz="13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21장 한 장씩 훑기 (1~11장)</a:t>
            </a:r>
            <a:endParaRPr lang="en-US" sz="3200" dirty="0"/>
          </a:p>
        </p:txBody>
      </p:sp>
      <p:sp>
        <p:nvSpPr>
          <p:cNvPr id="3" name="ch-0.75-0"/>
          <p:cNvSpPr/>
          <p:nvPr/>
        </p:nvSpPr>
        <p:spPr>
          <a:xfrm>
            <a:off x="685800" y="1554480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4" name="ch-0.75-0-n"/>
          <p:cNvSpPr txBox="1"/>
          <p:nvPr/>
        </p:nvSpPr>
        <p:spPr>
          <a:xfrm>
            <a:off x="868680" y="1554480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1장</a:t>
            </a:r>
            <a:endParaRPr lang="en-US" sz="1600" dirty="0"/>
          </a:p>
        </p:txBody>
      </p:sp>
      <p:sp>
        <p:nvSpPr>
          <p:cNvPr id="5" name="ch-0.75-0-t"/>
          <p:cNvSpPr txBox="1"/>
          <p:nvPr/>
        </p:nvSpPr>
        <p:spPr>
          <a:xfrm>
            <a:off x="1673352" y="1554480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말씀이신 예수, 하나님의 자녀 되는 권세, 성육신, 세례요한, 제자를 부르심</a:t>
            </a:r>
            <a:endParaRPr lang="en-US" sz="1250" dirty="0"/>
          </a:p>
        </p:txBody>
      </p:sp>
      <p:sp>
        <p:nvSpPr>
          <p:cNvPr id="6" name="ch-0.75-1"/>
          <p:cNvSpPr/>
          <p:nvPr/>
        </p:nvSpPr>
        <p:spPr>
          <a:xfrm>
            <a:off x="685800" y="2304288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7" name="ch-0.75-1-n"/>
          <p:cNvSpPr txBox="1"/>
          <p:nvPr/>
        </p:nvSpPr>
        <p:spPr>
          <a:xfrm>
            <a:off x="868680" y="2304288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2장</a:t>
            </a:r>
            <a:endParaRPr lang="en-US" sz="1600" dirty="0"/>
          </a:p>
        </p:txBody>
      </p:sp>
      <p:sp>
        <p:nvSpPr>
          <p:cNvPr id="8" name="ch-0.75-1-t"/>
          <p:cNvSpPr txBox="1"/>
          <p:nvPr/>
        </p:nvSpPr>
        <p:spPr>
          <a:xfrm>
            <a:off x="1673352" y="2304288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물로 포도주를 만드심 (가나) · 성전 청결</a:t>
            </a:r>
            <a:endParaRPr lang="en-US" sz="1250" dirty="0"/>
          </a:p>
        </p:txBody>
      </p:sp>
      <p:sp>
        <p:nvSpPr>
          <p:cNvPr id="9" name="ch-0.75-2"/>
          <p:cNvSpPr/>
          <p:nvPr/>
        </p:nvSpPr>
        <p:spPr>
          <a:xfrm>
            <a:off x="685800" y="3054096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0" name="ch-0.75-2-n"/>
          <p:cNvSpPr txBox="1"/>
          <p:nvPr/>
        </p:nvSpPr>
        <p:spPr>
          <a:xfrm>
            <a:off x="868680" y="3054096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3장</a:t>
            </a:r>
            <a:endParaRPr lang="en-US" sz="1600" dirty="0"/>
          </a:p>
        </p:txBody>
      </p:sp>
      <p:sp>
        <p:nvSpPr>
          <p:cNvPr id="11" name="ch-0.75-2-t"/>
          <p:cNvSpPr txBox="1"/>
          <p:nvPr/>
        </p:nvSpPr>
        <p:spPr>
          <a:xfrm>
            <a:off x="1673352" y="3054096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니고데모와의 대화 — 거듭남</a:t>
            </a:r>
            <a:endParaRPr lang="en-US" sz="1250" dirty="0"/>
          </a:p>
        </p:txBody>
      </p:sp>
      <p:sp>
        <p:nvSpPr>
          <p:cNvPr id="12" name="ch-0.75-3"/>
          <p:cNvSpPr/>
          <p:nvPr/>
        </p:nvSpPr>
        <p:spPr>
          <a:xfrm>
            <a:off x="685800" y="3803904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3" name="ch-0.75-3-n"/>
          <p:cNvSpPr txBox="1"/>
          <p:nvPr/>
        </p:nvSpPr>
        <p:spPr>
          <a:xfrm>
            <a:off x="868680" y="3803904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4장</a:t>
            </a:r>
            <a:endParaRPr lang="en-US" sz="1600" dirty="0"/>
          </a:p>
        </p:txBody>
      </p:sp>
      <p:sp>
        <p:nvSpPr>
          <p:cNvPr id="14" name="ch-0.75-3-t"/>
          <p:cNvSpPr txBox="1"/>
          <p:nvPr/>
        </p:nvSpPr>
        <p:spPr>
          <a:xfrm>
            <a:off x="1673352" y="3803904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사마리아 여인과의 대화 — 참된 예배 · 왕의 신하 아들 치유</a:t>
            </a:r>
            <a:endParaRPr lang="en-US" sz="1250" dirty="0"/>
          </a:p>
        </p:txBody>
      </p:sp>
      <p:sp>
        <p:nvSpPr>
          <p:cNvPr id="15" name="ch-0.75-4"/>
          <p:cNvSpPr/>
          <p:nvPr/>
        </p:nvSpPr>
        <p:spPr>
          <a:xfrm>
            <a:off x="685800" y="4553712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6" name="ch-0.75-4-n"/>
          <p:cNvSpPr txBox="1"/>
          <p:nvPr/>
        </p:nvSpPr>
        <p:spPr>
          <a:xfrm>
            <a:off x="868680" y="4553712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5장</a:t>
            </a:r>
            <a:endParaRPr lang="en-US" sz="1600" dirty="0"/>
          </a:p>
        </p:txBody>
      </p:sp>
      <p:sp>
        <p:nvSpPr>
          <p:cNvPr id="17" name="ch-0.75-4-t"/>
          <p:cNvSpPr txBox="1"/>
          <p:nvPr/>
        </p:nvSpPr>
        <p:spPr>
          <a:xfrm>
            <a:off x="1673352" y="4553712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38년 된 병자를 고치심 (베데스다) · 아버지와 아들</a:t>
            </a:r>
            <a:endParaRPr lang="en-US" sz="1250" dirty="0"/>
          </a:p>
        </p:txBody>
      </p:sp>
      <p:sp>
        <p:nvSpPr>
          <p:cNvPr id="18" name="ch-0.75-5"/>
          <p:cNvSpPr/>
          <p:nvPr/>
        </p:nvSpPr>
        <p:spPr>
          <a:xfrm>
            <a:off x="685800" y="5303520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9" name="ch-0.75-5-n"/>
          <p:cNvSpPr txBox="1"/>
          <p:nvPr/>
        </p:nvSpPr>
        <p:spPr>
          <a:xfrm>
            <a:off x="868680" y="5303520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6장</a:t>
            </a:r>
            <a:endParaRPr lang="en-US" sz="1600" dirty="0"/>
          </a:p>
        </p:txBody>
      </p:sp>
      <p:sp>
        <p:nvSpPr>
          <p:cNvPr id="20" name="ch-0.75-5-t"/>
          <p:cNvSpPr txBox="1"/>
          <p:nvPr/>
        </p:nvSpPr>
        <p:spPr>
          <a:xfrm>
            <a:off x="1673352" y="5303520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오병이어 · 물 위를 걸으심 · “나는 생명의 떡이다”</a:t>
            </a:r>
            <a:endParaRPr lang="en-US" sz="1250" dirty="0"/>
          </a:p>
        </p:txBody>
      </p:sp>
      <p:sp>
        <p:nvSpPr>
          <p:cNvPr id="21" name="ch-7.08-0"/>
          <p:cNvSpPr/>
          <p:nvPr/>
        </p:nvSpPr>
        <p:spPr>
          <a:xfrm>
            <a:off x="6473952" y="1554480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2" name="ch-7.08-0-n"/>
          <p:cNvSpPr txBox="1"/>
          <p:nvPr/>
        </p:nvSpPr>
        <p:spPr>
          <a:xfrm>
            <a:off x="6656832" y="1554480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7장</a:t>
            </a:r>
            <a:endParaRPr lang="en-US" sz="1600" dirty="0"/>
          </a:p>
        </p:txBody>
      </p:sp>
      <p:sp>
        <p:nvSpPr>
          <p:cNvPr id="23" name="ch-7.08-0-t"/>
          <p:cNvSpPr txBox="1"/>
          <p:nvPr/>
        </p:nvSpPr>
        <p:spPr>
          <a:xfrm>
            <a:off x="7461504" y="1554480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초막절 · “배에서 생수의 강이 흘러나리라”</a:t>
            </a:r>
            <a:endParaRPr lang="en-US" sz="1250" dirty="0"/>
          </a:p>
        </p:txBody>
      </p:sp>
      <p:sp>
        <p:nvSpPr>
          <p:cNvPr id="24" name="ch-7.08-1"/>
          <p:cNvSpPr/>
          <p:nvPr/>
        </p:nvSpPr>
        <p:spPr>
          <a:xfrm>
            <a:off x="6473952" y="2304288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5" name="ch-7.08-1-n"/>
          <p:cNvSpPr txBox="1"/>
          <p:nvPr/>
        </p:nvSpPr>
        <p:spPr>
          <a:xfrm>
            <a:off x="6656832" y="2304288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8장</a:t>
            </a:r>
            <a:endParaRPr lang="en-US" sz="1600" dirty="0"/>
          </a:p>
        </p:txBody>
      </p:sp>
      <p:sp>
        <p:nvSpPr>
          <p:cNvPr id="26" name="ch-7.08-1-t"/>
          <p:cNvSpPr txBox="1"/>
          <p:nvPr/>
        </p:nvSpPr>
        <p:spPr>
          <a:xfrm>
            <a:off x="7461504" y="2304288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간음한 여인 · “나는 세상의 빛이다” · 진리가 자유케 함</a:t>
            </a:r>
            <a:endParaRPr lang="en-US" sz="1250" dirty="0"/>
          </a:p>
        </p:txBody>
      </p:sp>
      <p:sp>
        <p:nvSpPr>
          <p:cNvPr id="27" name="ch-7.08-2"/>
          <p:cNvSpPr/>
          <p:nvPr/>
        </p:nvSpPr>
        <p:spPr>
          <a:xfrm>
            <a:off x="6473952" y="3054096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8" name="ch-7.08-2-n"/>
          <p:cNvSpPr txBox="1"/>
          <p:nvPr/>
        </p:nvSpPr>
        <p:spPr>
          <a:xfrm>
            <a:off x="6656832" y="3054096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9장</a:t>
            </a:r>
            <a:endParaRPr lang="en-US" sz="1600" dirty="0"/>
          </a:p>
        </p:txBody>
      </p:sp>
      <p:sp>
        <p:nvSpPr>
          <p:cNvPr id="29" name="ch-7.08-2-t"/>
          <p:cNvSpPr txBox="1"/>
          <p:nvPr/>
        </p:nvSpPr>
        <p:spPr>
          <a:xfrm>
            <a:off x="7461504" y="3054096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실로암에서 소경을 고치심 · 출교</a:t>
            </a:r>
            <a:endParaRPr lang="en-US" sz="1250" dirty="0"/>
          </a:p>
        </p:txBody>
      </p:sp>
      <p:sp>
        <p:nvSpPr>
          <p:cNvPr id="30" name="ch-7.08-3"/>
          <p:cNvSpPr/>
          <p:nvPr/>
        </p:nvSpPr>
        <p:spPr>
          <a:xfrm>
            <a:off x="6473952" y="3803904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31" name="ch-7.08-3-n"/>
          <p:cNvSpPr txBox="1"/>
          <p:nvPr/>
        </p:nvSpPr>
        <p:spPr>
          <a:xfrm>
            <a:off x="6656832" y="3803904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10장</a:t>
            </a:r>
            <a:endParaRPr lang="en-US" sz="1600" dirty="0"/>
          </a:p>
        </p:txBody>
      </p:sp>
      <p:sp>
        <p:nvSpPr>
          <p:cNvPr id="32" name="ch-7.08-3-t"/>
          <p:cNvSpPr txBox="1"/>
          <p:nvPr/>
        </p:nvSpPr>
        <p:spPr>
          <a:xfrm>
            <a:off x="7461504" y="3803904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양의 문 · 선한 목자 · “나와 아버지는 하나이다”</a:t>
            </a:r>
            <a:endParaRPr lang="en-US" sz="1250" dirty="0"/>
          </a:p>
        </p:txBody>
      </p:sp>
      <p:sp>
        <p:nvSpPr>
          <p:cNvPr id="33" name="ch-7.08-4"/>
          <p:cNvSpPr/>
          <p:nvPr/>
        </p:nvSpPr>
        <p:spPr>
          <a:xfrm>
            <a:off x="6473952" y="4553712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34" name="ch-7.08-4-n"/>
          <p:cNvSpPr txBox="1"/>
          <p:nvPr/>
        </p:nvSpPr>
        <p:spPr>
          <a:xfrm>
            <a:off x="6656832" y="4553712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11장</a:t>
            </a:r>
            <a:endParaRPr lang="en-US" sz="1600" dirty="0"/>
          </a:p>
        </p:txBody>
      </p:sp>
      <p:sp>
        <p:nvSpPr>
          <p:cNvPr id="35" name="ch-7.08-4-t"/>
          <p:cNvSpPr txBox="1"/>
          <p:nvPr/>
        </p:nvSpPr>
        <p:spPr>
          <a:xfrm>
            <a:off x="7461504" y="4553712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죽은 나사로를 살리심 · 부활이요 생명 · 예수를 죽이려 모의함</a:t>
            </a:r>
            <a:endParaRPr lang="en-US" sz="1250" dirty="0"/>
          </a:p>
        </p:txBody>
      </p:sp>
      <p:sp>
        <p:nvSpPr>
          <p:cNvPr id="36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21장 한 장씩 훑기 (12~21장)</a:t>
            </a:r>
            <a:endParaRPr lang="en-US" sz="3200" dirty="0"/>
          </a:p>
        </p:txBody>
      </p:sp>
      <p:sp>
        <p:nvSpPr>
          <p:cNvPr id="3" name="ch2-0.75-0"/>
          <p:cNvSpPr/>
          <p:nvPr/>
        </p:nvSpPr>
        <p:spPr>
          <a:xfrm>
            <a:off x="685800" y="1591056"/>
            <a:ext cx="5577840" cy="786384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4" name="ch2-0.75-0-n"/>
          <p:cNvSpPr txBox="1"/>
          <p:nvPr/>
        </p:nvSpPr>
        <p:spPr>
          <a:xfrm>
            <a:off x="868680" y="1591056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12장</a:t>
            </a:r>
            <a:endParaRPr lang="en-US" sz="1600" dirty="0"/>
          </a:p>
        </p:txBody>
      </p:sp>
      <p:sp>
        <p:nvSpPr>
          <p:cNvPr id="5" name="ch2-0.75-0-t"/>
          <p:cNvSpPr txBox="1"/>
          <p:nvPr/>
        </p:nvSpPr>
        <p:spPr>
          <a:xfrm>
            <a:off x="1719072" y="159105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향유 부은 여인 · 예루살렘 입성 · 인자의 들림 · 심판 예언</a:t>
            </a:r>
            <a:endParaRPr lang="en-US" sz="1250" dirty="0"/>
          </a:p>
        </p:txBody>
      </p:sp>
      <p:sp>
        <p:nvSpPr>
          <p:cNvPr id="6" name="ch2-0.75-1"/>
          <p:cNvSpPr/>
          <p:nvPr/>
        </p:nvSpPr>
        <p:spPr>
          <a:xfrm>
            <a:off x="685800" y="2468880"/>
            <a:ext cx="5577840" cy="786384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7" name="ch2-0.75-1-n"/>
          <p:cNvSpPr txBox="1"/>
          <p:nvPr/>
        </p:nvSpPr>
        <p:spPr>
          <a:xfrm>
            <a:off x="868680" y="2468880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13장</a:t>
            </a:r>
            <a:endParaRPr lang="en-US" sz="1600" dirty="0"/>
          </a:p>
        </p:txBody>
      </p:sp>
      <p:sp>
        <p:nvSpPr>
          <p:cNvPr id="8" name="ch2-0.75-1-t"/>
          <p:cNvSpPr txBox="1"/>
          <p:nvPr/>
        </p:nvSpPr>
        <p:spPr>
          <a:xfrm>
            <a:off x="1719072" y="2468880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세족식 · 유다와 베드로 · 다락방 강화 시작 · 새 계명</a:t>
            </a:r>
            <a:endParaRPr lang="en-US" sz="1250" dirty="0"/>
          </a:p>
        </p:txBody>
      </p:sp>
      <p:sp>
        <p:nvSpPr>
          <p:cNvPr id="9" name="ch2-0.75-2"/>
          <p:cNvSpPr/>
          <p:nvPr/>
        </p:nvSpPr>
        <p:spPr>
          <a:xfrm>
            <a:off x="685800" y="3346704"/>
            <a:ext cx="5577840" cy="786384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10" name="ch2-0.75-2-n"/>
          <p:cNvSpPr txBox="1"/>
          <p:nvPr/>
        </p:nvSpPr>
        <p:spPr>
          <a:xfrm>
            <a:off x="868680" y="3346704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14장</a:t>
            </a:r>
            <a:endParaRPr lang="en-US" sz="1600" dirty="0"/>
          </a:p>
        </p:txBody>
      </p:sp>
      <p:sp>
        <p:nvSpPr>
          <p:cNvPr id="11" name="ch2-0.75-2-t"/>
          <p:cNvSpPr txBox="1"/>
          <p:nvPr/>
        </p:nvSpPr>
        <p:spPr>
          <a:xfrm>
            <a:off x="1719072" y="334670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“나는 길, 진리, 생명” · 빌립의 질문 · 보혜사 약속</a:t>
            </a:r>
            <a:endParaRPr lang="en-US" sz="1250" dirty="0"/>
          </a:p>
        </p:txBody>
      </p:sp>
      <p:sp>
        <p:nvSpPr>
          <p:cNvPr id="12" name="ch2-0.75-3"/>
          <p:cNvSpPr/>
          <p:nvPr/>
        </p:nvSpPr>
        <p:spPr>
          <a:xfrm>
            <a:off x="685800" y="4224528"/>
            <a:ext cx="5577840" cy="786384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13" name="ch2-0.75-3-n"/>
          <p:cNvSpPr txBox="1"/>
          <p:nvPr/>
        </p:nvSpPr>
        <p:spPr>
          <a:xfrm>
            <a:off x="868680" y="42245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15장</a:t>
            </a:r>
            <a:endParaRPr lang="en-US" sz="1600" dirty="0"/>
          </a:p>
        </p:txBody>
      </p:sp>
      <p:sp>
        <p:nvSpPr>
          <p:cNvPr id="14" name="ch2-0.75-3-t"/>
          <p:cNvSpPr txBox="1"/>
          <p:nvPr/>
        </p:nvSpPr>
        <p:spPr>
          <a:xfrm>
            <a:off x="1719072" y="42245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참 포도나무 · 친구를 위해 목숨을 버림 · 서로 사랑하라</a:t>
            </a:r>
            <a:endParaRPr lang="en-US" sz="1250" dirty="0"/>
          </a:p>
        </p:txBody>
      </p:sp>
      <p:sp>
        <p:nvSpPr>
          <p:cNvPr id="15" name="ch2-0.75-4"/>
          <p:cNvSpPr/>
          <p:nvPr/>
        </p:nvSpPr>
        <p:spPr>
          <a:xfrm>
            <a:off x="685800" y="5102352"/>
            <a:ext cx="5577840" cy="786384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16" name="ch2-0.75-4-n"/>
          <p:cNvSpPr txBox="1"/>
          <p:nvPr/>
        </p:nvSpPr>
        <p:spPr>
          <a:xfrm>
            <a:off x="868680" y="5102352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16장</a:t>
            </a:r>
            <a:endParaRPr lang="en-US" sz="1600" dirty="0"/>
          </a:p>
        </p:txBody>
      </p:sp>
      <p:sp>
        <p:nvSpPr>
          <p:cNvPr id="17" name="ch2-0.75-4-t"/>
          <p:cNvSpPr txBox="1"/>
          <p:nvPr/>
        </p:nvSpPr>
        <p:spPr>
          <a:xfrm>
            <a:off x="1719072" y="51023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성령의 일 · “내가 세상을 이기었노라”</a:t>
            </a:r>
            <a:endParaRPr lang="en-US" sz="1250" dirty="0"/>
          </a:p>
        </p:txBody>
      </p:sp>
      <p:sp>
        <p:nvSpPr>
          <p:cNvPr id="18" name="ch2-7.08-0"/>
          <p:cNvSpPr/>
          <p:nvPr/>
        </p:nvSpPr>
        <p:spPr>
          <a:xfrm>
            <a:off x="6473952" y="1591056"/>
            <a:ext cx="5577840" cy="786384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19" name="ch2-7.08-0-n"/>
          <p:cNvSpPr txBox="1"/>
          <p:nvPr/>
        </p:nvSpPr>
        <p:spPr>
          <a:xfrm>
            <a:off x="6656832" y="1591056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17장</a:t>
            </a:r>
            <a:endParaRPr lang="en-US" sz="1600" dirty="0"/>
          </a:p>
        </p:txBody>
      </p:sp>
      <p:sp>
        <p:nvSpPr>
          <p:cNvPr id="20" name="ch2-7.08-0-t"/>
          <p:cNvSpPr txBox="1"/>
          <p:nvPr/>
        </p:nvSpPr>
        <p:spPr>
          <a:xfrm>
            <a:off x="7507224" y="159105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대제사장적 기도 — 영화롭게 / 하나가 되게 / 악에 빠지지 않게</a:t>
            </a:r>
            <a:endParaRPr lang="en-US" sz="1250" dirty="0"/>
          </a:p>
        </p:txBody>
      </p:sp>
      <p:sp>
        <p:nvSpPr>
          <p:cNvPr id="21" name="ch2-7.08-1"/>
          <p:cNvSpPr/>
          <p:nvPr/>
        </p:nvSpPr>
        <p:spPr>
          <a:xfrm>
            <a:off x="6473952" y="2468880"/>
            <a:ext cx="5577840" cy="786384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22" name="ch2-7.08-1-n"/>
          <p:cNvSpPr txBox="1"/>
          <p:nvPr/>
        </p:nvSpPr>
        <p:spPr>
          <a:xfrm>
            <a:off x="6656832" y="2468880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18장</a:t>
            </a:r>
            <a:endParaRPr lang="en-US" sz="1600" dirty="0"/>
          </a:p>
        </p:txBody>
      </p:sp>
      <p:sp>
        <p:nvSpPr>
          <p:cNvPr id="23" name="ch2-7.08-1-t"/>
          <p:cNvSpPr txBox="1"/>
          <p:nvPr/>
        </p:nvSpPr>
        <p:spPr>
          <a:xfrm>
            <a:off x="7507224" y="2468880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동산에서 잡히심 · 말고의 귀 · 베드로의 부인 · 빌라도의 심문</a:t>
            </a:r>
            <a:endParaRPr lang="en-US" sz="1250" dirty="0"/>
          </a:p>
        </p:txBody>
      </p:sp>
      <p:sp>
        <p:nvSpPr>
          <p:cNvPr id="24" name="ch2-7.08-2"/>
          <p:cNvSpPr/>
          <p:nvPr/>
        </p:nvSpPr>
        <p:spPr>
          <a:xfrm>
            <a:off x="6473952" y="3346704"/>
            <a:ext cx="5577840" cy="786384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25" name="ch2-7.08-2-n"/>
          <p:cNvSpPr txBox="1"/>
          <p:nvPr/>
        </p:nvSpPr>
        <p:spPr>
          <a:xfrm>
            <a:off x="6656832" y="3346704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19장</a:t>
            </a:r>
            <a:endParaRPr lang="en-US" sz="1600" dirty="0"/>
          </a:p>
        </p:txBody>
      </p:sp>
      <p:sp>
        <p:nvSpPr>
          <p:cNvPr id="26" name="ch2-7.08-2-t"/>
          <p:cNvSpPr txBox="1"/>
          <p:nvPr/>
        </p:nvSpPr>
        <p:spPr>
          <a:xfrm>
            <a:off x="7507224" y="334670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채찍질 · 십자가 · 제비뽑음 · “다 이루었다” · 니고데모와 아리마대 요셉</a:t>
            </a:r>
            <a:endParaRPr lang="en-US" sz="1250" dirty="0"/>
          </a:p>
        </p:txBody>
      </p:sp>
      <p:sp>
        <p:nvSpPr>
          <p:cNvPr id="27" name="ch2-7.08-3"/>
          <p:cNvSpPr/>
          <p:nvPr/>
        </p:nvSpPr>
        <p:spPr>
          <a:xfrm>
            <a:off x="6473952" y="4224528"/>
            <a:ext cx="5577840" cy="786384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28" name="ch2-7.08-3-n"/>
          <p:cNvSpPr txBox="1"/>
          <p:nvPr/>
        </p:nvSpPr>
        <p:spPr>
          <a:xfrm>
            <a:off x="6656832" y="42245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20장</a:t>
            </a:r>
            <a:endParaRPr lang="en-US" sz="1600" dirty="0"/>
          </a:p>
        </p:txBody>
      </p:sp>
      <p:sp>
        <p:nvSpPr>
          <p:cNvPr id="29" name="ch2-7.08-3-t"/>
          <p:cNvSpPr txBox="1"/>
          <p:nvPr/>
        </p:nvSpPr>
        <p:spPr>
          <a:xfrm>
            <a:off x="7507224" y="42245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빈 무덤 · 막달라 마리아 · 제자들에게 나타나심 · 도마의 고백 · 기록목적</a:t>
            </a:r>
            <a:endParaRPr lang="en-US" sz="1250" dirty="0"/>
          </a:p>
        </p:txBody>
      </p:sp>
      <p:sp>
        <p:nvSpPr>
          <p:cNvPr id="30" name="ch2-7.08-4"/>
          <p:cNvSpPr/>
          <p:nvPr/>
        </p:nvSpPr>
        <p:spPr>
          <a:xfrm>
            <a:off x="6473952" y="5102352"/>
            <a:ext cx="5577840" cy="786384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31" name="ch2-7.08-4-n"/>
          <p:cNvSpPr txBox="1"/>
          <p:nvPr/>
        </p:nvSpPr>
        <p:spPr>
          <a:xfrm>
            <a:off x="6656832" y="5102352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21장</a:t>
            </a:r>
            <a:endParaRPr lang="en-US" sz="1600" dirty="0"/>
          </a:p>
        </p:txBody>
      </p:sp>
      <p:sp>
        <p:nvSpPr>
          <p:cNvPr id="32" name="ch2-7.08-4-t"/>
          <p:cNvSpPr txBox="1"/>
          <p:nvPr/>
        </p:nvSpPr>
        <p:spPr>
          <a:xfrm>
            <a:off x="7507224" y="51023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디베랴 호수 · 153마리 · 숯불 조반 · “네가 나를 사랑하느냐” · 저자 밝힘</a:t>
            </a:r>
            <a:endParaRPr lang="en-US" sz="1250" dirty="0"/>
          </a:p>
        </p:txBody>
      </p:sp>
      <p:sp>
        <p:nvSpPr>
          <p:cNvPr id="33" name="keyline"/>
          <p:cNvSpPr/>
          <p:nvPr/>
        </p:nvSpPr>
        <p:spPr>
          <a:xfrm>
            <a:off x="685800" y="5559552"/>
            <a:ext cx="10820095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</p:sp>
      <p:sp>
        <p:nvSpPr>
          <p:cNvPr id="34" name="keyline-text"/>
          <p:cNvSpPr txBox="1"/>
          <p:nvPr/>
        </p:nvSpPr>
        <p:spPr>
          <a:xfrm>
            <a:off x="960120" y="5559552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13~17장(다락방 강화) 다섯 장이 ‘2~3시간’을 다룹니다 — 요한이 가장 공들인 대목</a:t>
            </a:r>
            <a:endParaRPr lang="en-US" sz="1500" dirty="0"/>
          </a:p>
        </p:txBody>
      </p:sp>
      <p:sp>
        <p:nvSpPr>
          <p:cNvPr id="35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요한 특수자료 — 공관복음에 없는 열한 가지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54480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13816" y="1682496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13816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가</a:t>
            </a:r>
            <a:endParaRPr lang="en-US" sz="1000" dirty="0"/>
          </a:p>
        </p:txBody>
      </p:sp>
      <p:sp>
        <p:nvSpPr>
          <p:cNvPr id="6" name="card-0-head"/>
          <p:cNvSpPr txBox="1"/>
          <p:nvPr/>
        </p:nvSpPr>
        <p:spPr>
          <a:xfrm>
            <a:off x="813816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가나 혼인잔치</a:t>
            </a:r>
            <a:endParaRPr lang="en-US" sz="1300" dirty="0"/>
          </a:p>
        </p:txBody>
      </p:sp>
      <p:sp>
        <p:nvSpPr>
          <p:cNvPr id="7" name="card-0-body"/>
          <p:cNvSpPr txBox="1"/>
          <p:nvPr/>
        </p:nvSpPr>
        <p:spPr>
          <a:xfrm>
            <a:off x="813816" y="2402586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2장</a:t>
            </a:r>
            <a:endParaRPr lang="en-US" sz="1150" dirty="0"/>
          </a:p>
        </p:txBody>
      </p:sp>
      <p:sp>
        <p:nvSpPr>
          <p:cNvPr id="8" name="card-1"/>
          <p:cNvSpPr/>
          <p:nvPr/>
        </p:nvSpPr>
        <p:spPr>
          <a:xfrm>
            <a:off x="2528773" y="1554480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2656789" y="1682496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2656789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니</a:t>
            </a:r>
            <a:endParaRPr lang="en-US" sz="1000" dirty="0"/>
          </a:p>
        </p:txBody>
      </p:sp>
      <p:sp>
        <p:nvSpPr>
          <p:cNvPr id="11" name="card-1-head"/>
          <p:cNvSpPr txBox="1"/>
          <p:nvPr/>
        </p:nvSpPr>
        <p:spPr>
          <a:xfrm>
            <a:off x="2656789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니고데모</a:t>
            </a:r>
            <a:endParaRPr lang="en-US" sz="1300" dirty="0"/>
          </a:p>
        </p:txBody>
      </p:sp>
      <p:sp>
        <p:nvSpPr>
          <p:cNvPr id="12" name="card-1-body"/>
          <p:cNvSpPr txBox="1"/>
          <p:nvPr/>
        </p:nvSpPr>
        <p:spPr>
          <a:xfrm>
            <a:off x="2656789" y="2402586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3 · 7 · 19장</a:t>
            </a:r>
            <a:endParaRPr lang="en-US" sz="1150" dirty="0"/>
          </a:p>
        </p:txBody>
      </p:sp>
      <p:sp>
        <p:nvSpPr>
          <p:cNvPr id="13" name="card-2"/>
          <p:cNvSpPr/>
          <p:nvPr/>
        </p:nvSpPr>
        <p:spPr>
          <a:xfrm>
            <a:off x="4371746" y="1554480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4499762" y="1682496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4499762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수</a:t>
            </a:r>
            <a:endParaRPr lang="en-US" sz="1000" dirty="0"/>
          </a:p>
        </p:txBody>
      </p:sp>
      <p:sp>
        <p:nvSpPr>
          <p:cNvPr id="16" name="card-2-head"/>
          <p:cNvSpPr txBox="1"/>
          <p:nvPr/>
        </p:nvSpPr>
        <p:spPr>
          <a:xfrm>
            <a:off x="4499762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수가성 여인</a:t>
            </a:r>
            <a:endParaRPr lang="en-US" sz="1300" dirty="0"/>
          </a:p>
        </p:txBody>
      </p:sp>
      <p:sp>
        <p:nvSpPr>
          <p:cNvPr id="17" name="card-2-body"/>
          <p:cNvSpPr txBox="1"/>
          <p:nvPr/>
        </p:nvSpPr>
        <p:spPr>
          <a:xfrm>
            <a:off x="4499762" y="2402586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4장</a:t>
            </a:r>
            <a:endParaRPr lang="en-US" sz="1150" dirty="0"/>
          </a:p>
        </p:txBody>
      </p:sp>
      <p:sp>
        <p:nvSpPr>
          <p:cNvPr id="18" name="card-3"/>
          <p:cNvSpPr/>
          <p:nvPr/>
        </p:nvSpPr>
        <p:spPr>
          <a:xfrm>
            <a:off x="6214720" y="1554480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6342736" y="1682496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6342736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베</a:t>
            </a:r>
            <a:endParaRPr lang="en-US" sz="1000" dirty="0"/>
          </a:p>
        </p:txBody>
      </p:sp>
      <p:sp>
        <p:nvSpPr>
          <p:cNvPr id="21" name="card-3-head"/>
          <p:cNvSpPr txBox="1"/>
          <p:nvPr/>
        </p:nvSpPr>
        <p:spPr>
          <a:xfrm>
            <a:off x="6342736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베데스다 병자</a:t>
            </a:r>
            <a:endParaRPr lang="en-US" sz="1300" dirty="0"/>
          </a:p>
        </p:txBody>
      </p:sp>
      <p:sp>
        <p:nvSpPr>
          <p:cNvPr id="22" name="card-3-body"/>
          <p:cNvSpPr txBox="1"/>
          <p:nvPr/>
        </p:nvSpPr>
        <p:spPr>
          <a:xfrm>
            <a:off x="6342736" y="2402586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5장</a:t>
            </a:r>
            <a:endParaRPr lang="en-US" sz="1150" dirty="0"/>
          </a:p>
        </p:txBody>
      </p:sp>
      <p:sp>
        <p:nvSpPr>
          <p:cNvPr id="23" name="card-4"/>
          <p:cNvSpPr/>
          <p:nvPr/>
        </p:nvSpPr>
        <p:spPr>
          <a:xfrm>
            <a:off x="8057693" y="1554480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185709" y="1682496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185709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초</a:t>
            </a:r>
            <a:endParaRPr lang="en-US" sz="1000" dirty="0"/>
          </a:p>
        </p:txBody>
      </p:sp>
      <p:sp>
        <p:nvSpPr>
          <p:cNvPr id="26" name="card-4-head"/>
          <p:cNvSpPr txBox="1"/>
          <p:nvPr/>
        </p:nvSpPr>
        <p:spPr>
          <a:xfrm>
            <a:off x="8185709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초막절</a:t>
            </a:r>
            <a:endParaRPr lang="en-US" sz="1300" dirty="0"/>
          </a:p>
        </p:txBody>
      </p:sp>
      <p:sp>
        <p:nvSpPr>
          <p:cNvPr id="27" name="card-4-body"/>
          <p:cNvSpPr txBox="1"/>
          <p:nvPr/>
        </p:nvSpPr>
        <p:spPr>
          <a:xfrm>
            <a:off x="8185709" y="2402586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7장</a:t>
            </a:r>
            <a:endParaRPr lang="en-US" sz="1150" dirty="0"/>
          </a:p>
        </p:txBody>
      </p:sp>
      <p:sp>
        <p:nvSpPr>
          <p:cNvPr id="28" name="card-5"/>
          <p:cNvSpPr/>
          <p:nvPr/>
        </p:nvSpPr>
        <p:spPr>
          <a:xfrm>
            <a:off x="9900666" y="1554480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10028682" y="1682496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10028682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간</a:t>
            </a:r>
            <a:endParaRPr lang="en-US" sz="1000" dirty="0"/>
          </a:p>
        </p:txBody>
      </p:sp>
      <p:sp>
        <p:nvSpPr>
          <p:cNvPr id="31" name="card-5-head"/>
          <p:cNvSpPr txBox="1"/>
          <p:nvPr/>
        </p:nvSpPr>
        <p:spPr>
          <a:xfrm>
            <a:off x="10028682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간음한 여인</a:t>
            </a:r>
            <a:endParaRPr lang="en-US" sz="1300" dirty="0"/>
          </a:p>
        </p:txBody>
      </p:sp>
      <p:sp>
        <p:nvSpPr>
          <p:cNvPr id="32" name="card-5-body"/>
          <p:cNvSpPr txBox="1"/>
          <p:nvPr/>
        </p:nvSpPr>
        <p:spPr>
          <a:xfrm>
            <a:off x="10028682" y="2402586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8장</a:t>
            </a:r>
            <a:endParaRPr lang="en-US" sz="1150" dirty="0"/>
          </a:p>
        </p:txBody>
      </p:sp>
      <p:sp>
        <p:nvSpPr>
          <p:cNvPr id="33" name="card-6"/>
          <p:cNvSpPr/>
          <p:nvPr/>
        </p:nvSpPr>
        <p:spPr>
          <a:xfrm>
            <a:off x="685800" y="2976372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813816" y="3104388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813816" y="3104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실</a:t>
            </a:r>
            <a:endParaRPr lang="en-US" sz="1000" dirty="0"/>
          </a:p>
        </p:txBody>
      </p:sp>
      <p:sp>
        <p:nvSpPr>
          <p:cNvPr id="36" name="card-6-head"/>
          <p:cNvSpPr txBox="1"/>
          <p:nvPr/>
        </p:nvSpPr>
        <p:spPr>
          <a:xfrm>
            <a:off x="813816" y="3543300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실로암 맹인</a:t>
            </a:r>
            <a:endParaRPr lang="en-US" sz="1300" dirty="0"/>
          </a:p>
        </p:txBody>
      </p:sp>
      <p:sp>
        <p:nvSpPr>
          <p:cNvPr id="37" name="card-6-body"/>
          <p:cNvSpPr txBox="1"/>
          <p:nvPr/>
        </p:nvSpPr>
        <p:spPr>
          <a:xfrm>
            <a:off x="813816" y="382447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9장</a:t>
            </a:r>
            <a:endParaRPr lang="en-US" sz="1150" dirty="0"/>
          </a:p>
        </p:txBody>
      </p:sp>
      <p:sp>
        <p:nvSpPr>
          <p:cNvPr id="38" name="card-7"/>
          <p:cNvSpPr/>
          <p:nvPr/>
        </p:nvSpPr>
        <p:spPr>
          <a:xfrm>
            <a:off x="2528773" y="2976372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2656789" y="3104388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2656789" y="3104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나</a:t>
            </a:r>
            <a:endParaRPr lang="en-US" sz="1000" dirty="0"/>
          </a:p>
        </p:txBody>
      </p:sp>
      <p:sp>
        <p:nvSpPr>
          <p:cNvPr id="41" name="card-7-head"/>
          <p:cNvSpPr txBox="1"/>
          <p:nvPr/>
        </p:nvSpPr>
        <p:spPr>
          <a:xfrm>
            <a:off x="2656789" y="3543300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나사로 살림</a:t>
            </a:r>
            <a:endParaRPr lang="en-US" sz="1300" dirty="0"/>
          </a:p>
        </p:txBody>
      </p:sp>
      <p:sp>
        <p:nvSpPr>
          <p:cNvPr id="42" name="card-7-body"/>
          <p:cNvSpPr txBox="1"/>
          <p:nvPr/>
        </p:nvSpPr>
        <p:spPr>
          <a:xfrm>
            <a:off x="2656789" y="382447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11장</a:t>
            </a:r>
            <a:endParaRPr lang="en-US" sz="1150" dirty="0"/>
          </a:p>
        </p:txBody>
      </p:sp>
      <p:sp>
        <p:nvSpPr>
          <p:cNvPr id="43" name="card-8"/>
          <p:cNvSpPr/>
          <p:nvPr/>
        </p:nvSpPr>
        <p:spPr>
          <a:xfrm>
            <a:off x="4371746" y="2976372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4" name="card-8-badge"/>
          <p:cNvSpPr/>
          <p:nvPr/>
        </p:nvSpPr>
        <p:spPr>
          <a:xfrm>
            <a:off x="4499762" y="3104388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5" name="card-8-badge-text"/>
          <p:cNvSpPr txBox="1"/>
          <p:nvPr/>
        </p:nvSpPr>
        <p:spPr>
          <a:xfrm>
            <a:off x="4499762" y="3104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세</a:t>
            </a:r>
            <a:endParaRPr lang="en-US" sz="1000" dirty="0"/>
          </a:p>
        </p:txBody>
      </p:sp>
      <p:sp>
        <p:nvSpPr>
          <p:cNvPr id="46" name="card-8-head"/>
          <p:cNvSpPr txBox="1"/>
          <p:nvPr/>
        </p:nvSpPr>
        <p:spPr>
          <a:xfrm>
            <a:off x="4499762" y="3543300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세족식</a:t>
            </a:r>
            <a:endParaRPr lang="en-US" sz="1300" dirty="0"/>
          </a:p>
        </p:txBody>
      </p:sp>
      <p:sp>
        <p:nvSpPr>
          <p:cNvPr id="47" name="card-8-body"/>
          <p:cNvSpPr txBox="1"/>
          <p:nvPr/>
        </p:nvSpPr>
        <p:spPr>
          <a:xfrm>
            <a:off x="4499762" y="382447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13장</a:t>
            </a:r>
            <a:endParaRPr lang="en-US" sz="1150" dirty="0"/>
          </a:p>
        </p:txBody>
      </p:sp>
      <p:sp>
        <p:nvSpPr>
          <p:cNvPr id="48" name="card-9"/>
          <p:cNvSpPr/>
          <p:nvPr/>
        </p:nvSpPr>
        <p:spPr>
          <a:xfrm>
            <a:off x="6214720" y="2976372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9" name="card-9-badge"/>
          <p:cNvSpPr/>
          <p:nvPr/>
        </p:nvSpPr>
        <p:spPr>
          <a:xfrm>
            <a:off x="6342736" y="3104388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" name="card-9-badge-text"/>
          <p:cNvSpPr txBox="1"/>
          <p:nvPr/>
        </p:nvSpPr>
        <p:spPr>
          <a:xfrm>
            <a:off x="6342736" y="3104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보</a:t>
            </a:r>
            <a:endParaRPr lang="en-US" sz="1000" dirty="0"/>
          </a:p>
        </p:txBody>
      </p:sp>
      <p:sp>
        <p:nvSpPr>
          <p:cNvPr id="51" name="card-9-head"/>
          <p:cNvSpPr txBox="1"/>
          <p:nvPr/>
        </p:nvSpPr>
        <p:spPr>
          <a:xfrm>
            <a:off x="6342736" y="3543300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보혜사</a:t>
            </a:r>
            <a:endParaRPr lang="en-US" sz="1300" dirty="0"/>
          </a:p>
        </p:txBody>
      </p:sp>
      <p:sp>
        <p:nvSpPr>
          <p:cNvPr id="52" name="card-9-body"/>
          <p:cNvSpPr txBox="1"/>
          <p:nvPr/>
        </p:nvSpPr>
        <p:spPr>
          <a:xfrm>
            <a:off x="6342736" y="382447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14~16장</a:t>
            </a:r>
            <a:endParaRPr lang="en-US" sz="1150" dirty="0"/>
          </a:p>
        </p:txBody>
      </p:sp>
      <p:sp>
        <p:nvSpPr>
          <p:cNvPr id="53" name="card-10"/>
          <p:cNvSpPr/>
          <p:nvPr/>
        </p:nvSpPr>
        <p:spPr>
          <a:xfrm>
            <a:off x="8057693" y="2976372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4" name="card-10-badge"/>
          <p:cNvSpPr/>
          <p:nvPr/>
        </p:nvSpPr>
        <p:spPr>
          <a:xfrm>
            <a:off x="8185709" y="3104388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5" name="card-10-badge-text"/>
          <p:cNvSpPr txBox="1"/>
          <p:nvPr/>
        </p:nvSpPr>
        <p:spPr>
          <a:xfrm>
            <a:off x="8185709" y="3104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대</a:t>
            </a:r>
            <a:endParaRPr lang="en-US" sz="1000" dirty="0"/>
          </a:p>
        </p:txBody>
      </p:sp>
      <p:sp>
        <p:nvSpPr>
          <p:cNvPr id="56" name="card-10-head"/>
          <p:cNvSpPr txBox="1"/>
          <p:nvPr/>
        </p:nvSpPr>
        <p:spPr>
          <a:xfrm>
            <a:off x="8185709" y="3543300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대제사장 기도</a:t>
            </a:r>
            <a:endParaRPr lang="en-US" sz="1300" dirty="0"/>
          </a:p>
        </p:txBody>
      </p:sp>
      <p:sp>
        <p:nvSpPr>
          <p:cNvPr id="57" name="card-10-body"/>
          <p:cNvSpPr txBox="1"/>
          <p:nvPr/>
        </p:nvSpPr>
        <p:spPr>
          <a:xfrm>
            <a:off x="8185709" y="382447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17장</a:t>
            </a:r>
            <a:endParaRPr lang="en-US" sz="1150" dirty="0"/>
          </a:p>
        </p:txBody>
      </p:sp>
      <p:sp>
        <p:nvSpPr>
          <p:cNvPr id="58" name="keyline"/>
          <p:cNvSpPr/>
          <p:nvPr/>
        </p:nvSpPr>
        <p:spPr>
          <a:xfrm>
            <a:off x="685800" y="4297680"/>
            <a:ext cx="10820095" cy="676656"/>
          </a:xfrm>
          <a:prstGeom prst="roundRect">
            <a:avLst>
              <a:gd name="adj" fmla="val 13514"/>
            </a:avLst>
          </a:prstGeom>
          <a:solidFill>
            <a:schemeClr val="tx2"/>
          </a:solidFill>
          <a:ln/>
        </p:spPr>
      </p:sp>
      <p:sp>
        <p:nvSpPr>
          <p:cNvPr id="59" name="keyline-text"/>
          <p:cNvSpPr txBox="1"/>
          <p:nvPr/>
        </p:nvSpPr>
        <p:spPr>
          <a:xfrm>
            <a:off x="960120" y="4297680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암기 두문자  ·  가 니 수 베  /  초 간 실 나  /  세 보 대</a:t>
            </a:r>
            <a:endParaRPr lang="en-US" sz="2200" dirty="0"/>
          </a:p>
        </p:txBody>
      </p:sp>
      <p:sp>
        <p:nvSpPr>
          <p:cNvPr id="60" name="subhead-badge"/>
          <p:cNvSpPr/>
          <p:nvPr/>
        </p:nvSpPr>
        <p:spPr>
          <a:xfrm>
            <a:off x="685800" y="5093208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1" name="subhead-badge-text"/>
          <p:cNvSpPr txBox="1"/>
          <p:nvPr/>
        </p:nvSpPr>
        <p:spPr>
          <a:xfrm>
            <a:off x="685800" y="50932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cf</a:t>
            </a:r>
            <a:endParaRPr lang="en-US" sz="1400" dirty="0"/>
          </a:p>
        </p:txBody>
      </p:sp>
      <p:sp>
        <p:nvSpPr>
          <p:cNvPr id="62" name="subhead-text"/>
          <p:cNvSpPr txBox="1"/>
          <p:nvPr/>
        </p:nvSpPr>
        <p:spPr>
          <a:xfrm>
            <a:off x="1161288" y="5084064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요한복음이 즐겨 쓰는 대조 구도</a:t>
            </a:r>
            <a:endParaRPr lang="en-US" sz="1900" dirty="0"/>
          </a:p>
        </p:txBody>
      </p:sp>
      <p:sp>
        <p:nvSpPr>
          <p:cNvPr id="63" name="bullets"/>
          <p:cNvSpPr txBox="1"/>
          <p:nvPr/>
        </p:nvSpPr>
        <p:spPr>
          <a:xfrm>
            <a:off x="685800" y="5522976"/>
            <a:ext cx="10820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빛 ↔ 어두움 (1장)   |   하늘 ↔ 땅, 영 ↔ 육 (3장)   |   진리 ↔ 거짓 (8장)   |   자유 ↔ 종 (8장)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대조는 중간을 허락하지 않는다 — 요한복음의 결단 요구</a:t>
            </a:r>
            <a:endParaRPr lang="en-US" sz="1500" dirty="0"/>
          </a:p>
        </p:txBody>
      </p:sp>
      <p:sp>
        <p:nvSpPr>
          <p:cNvPr id="6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오늘 가져갈 암기 보드</a:t>
            </a:r>
            <a:endParaRPr lang="en-US" sz="3200" dirty="0"/>
          </a:p>
        </p:txBody>
      </p:sp>
      <p:sp>
        <p:nvSpPr>
          <p:cNvPr id="3" name="memo-0"/>
          <p:cNvSpPr/>
          <p:nvPr/>
        </p:nvSpPr>
        <p:spPr>
          <a:xfrm>
            <a:off x="685800" y="1609344"/>
            <a:ext cx="10820095" cy="1005840"/>
          </a:xfrm>
          <a:prstGeom prst="roundRect">
            <a:avLst>
              <a:gd name="adj" fmla="val 5455"/>
            </a:avLst>
          </a:prstGeom>
          <a:solidFill>
            <a:schemeClr val="accent2"/>
          </a:solidFill>
          <a:ln/>
        </p:spPr>
      </p:sp>
      <p:sp>
        <p:nvSpPr>
          <p:cNvPr id="4" name="memo-0-k"/>
          <p:cNvSpPr txBox="1"/>
          <p:nvPr/>
        </p:nvSpPr>
        <p:spPr>
          <a:xfrm>
            <a:off x="960120" y="173736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일곱 표적</a:t>
            </a:r>
            <a:endParaRPr lang="en-US" sz="1500" dirty="0"/>
          </a:p>
        </p:txBody>
      </p:sp>
      <p:sp>
        <p:nvSpPr>
          <p:cNvPr id="5" name="memo-0-v"/>
          <p:cNvSpPr txBox="1"/>
          <p:nvPr/>
        </p:nvSpPr>
        <p:spPr>
          <a:xfrm>
            <a:off x="3337560" y="1700784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가 왕 베 오 물 실 나</a:t>
            </a:r>
            <a:endParaRPr lang="en-US" sz="2400" dirty="0"/>
          </a:p>
        </p:txBody>
      </p:sp>
      <p:sp>
        <p:nvSpPr>
          <p:cNvPr id="6" name="memo-0-d"/>
          <p:cNvSpPr txBox="1"/>
          <p:nvPr/>
        </p:nvSpPr>
        <p:spPr>
          <a:xfrm>
            <a:off x="3337560" y="217627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</a:rPr>
              <a:t>가나 · 왕의신하 · 베데스다 · 오병이어 · 물위 · 실로암 · 나사로</a:t>
            </a:r>
            <a:endParaRPr lang="en-US" sz="1250" dirty="0"/>
          </a:p>
        </p:txBody>
      </p:sp>
      <p:sp>
        <p:nvSpPr>
          <p:cNvPr id="7" name="memo-1"/>
          <p:cNvSpPr/>
          <p:nvPr/>
        </p:nvSpPr>
        <p:spPr>
          <a:xfrm>
            <a:off x="685800" y="2724912"/>
            <a:ext cx="10820095" cy="1005840"/>
          </a:xfrm>
          <a:prstGeom prst="roundRect">
            <a:avLst>
              <a:gd name="adj" fmla="val 5455"/>
            </a:avLst>
          </a:prstGeom>
          <a:solidFill>
            <a:schemeClr val="accent2"/>
          </a:solidFill>
          <a:ln/>
        </p:spPr>
      </p:sp>
      <p:sp>
        <p:nvSpPr>
          <p:cNvPr id="8" name="memo-1-k"/>
          <p:cNvSpPr txBox="1"/>
          <p:nvPr/>
        </p:nvSpPr>
        <p:spPr>
          <a:xfrm>
            <a:off x="960120" y="28529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일곱 자기선언</a:t>
            </a:r>
            <a:endParaRPr lang="en-US" sz="1500" dirty="0"/>
          </a:p>
        </p:txBody>
      </p:sp>
      <p:sp>
        <p:nvSpPr>
          <p:cNvPr id="9" name="memo-1-v"/>
          <p:cNvSpPr txBox="1"/>
          <p:nvPr/>
        </p:nvSpPr>
        <p:spPr>
          <a:xfrm>
            <a:off x="3337560" y="28163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생 세 양 선 부 길 참</a:t>
            </a:r>
            <a:endParaRPr lang="en-US" sz="2400" dirty="0"/>
          </a:p>
        </p:txBody>
      </p:sp>
      <p:sp>
        <p:nvSpPr>
          <p:cNvPr id="10" name="memo-1-d"/>
          <p:cNvSpPr txBox="1"/>
          <p:nvPr/>
        </p:nvSpPr>
        <p:spPr>
          <a:xfrm>
            <a:off x="3337560" y="329184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</a:rPr>
              <a:t>떡 · 빛 · 문 · 목자 · 부활생명 · 길진리생명 · 포도나무</a:t>
            </a:r>
            <a:endParaRPr lang="en-US" sz="1250" dirty="0"/>
          </a:p>
        </p:txBody>
      </p:sp>
      <p:sp>
        <p:nvSpPr>
          <p:cNvPr id="11" name="memo-2"/>
          <p:cNvSpPr/>
          <p:nvPr/>
        </p:nvSpPr>
        <p:spPr>
          <a:xfrm>
            <a:off x="685800" y="3840480"/>
            <a:ext cx="10820095" cy="1005840"/>
          </a:xfrm>
          <a:prstGeom prst="roundRect">
            <a:avLst>
              <a:gd name="adj" fmla="val 5455"/>
            </a:avLst>
          </a:prstGeom>
          <a:solidFill>
            <a:schemeClr val="accent2"/>
          </a:solidFill>
          <a:ln/>
        </p:spPr>
      </p:sp>
      <p:sp>
        <p:nvSpPr>
          <p:cNvPr id="12" name="memo-2-k"/>
          <p:cNvSpPr txBox="1"/>
          <p:nvPr/>
        </p:nvSpPr>
        <p:spPr>
          <a:xfrm>
            <a:off x="960120" y="3968496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1~12장 사건</a:t>
            </a:r>
            <a:endParaRPr lang="en-US" sz="1500" dirty="0"/>
          </a:p>
        </p:txBody>
      </p:sp>
      <p:sp>
        <p:nvSpPr>
          <p:cNvPr id="13" name="memo-2-v"/>
          <p:cNvSpPr txBox="1"/>
          <p:nvPr/>
        </p:nvSpPr>
        <p:spPr>
          <a:xfrm>
            <a:off x="3337560" y="393192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가 니 수 베 / 오 초 간 / 실 양 나 마</a:t>
            </a:r>
            <a:endParaRPr lang="en-US" sz="2400" dirty="0"/>
          </a:p>
        </p:txBody>
      </p:sp>
      <p:sp>
        <p:nvSpPr>
          <p:cNvPr id="14" name="memo-2-d"/>
          <p:cNvSpPr txBox="1"/>
          <p:nvPr/>
        </p:nvSpPr>
        <p:spPr>
          <a:xfrm>
            <a:off x="3337560" y="440740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</a:rPr>
              <a:t>2,3,4,5 / 6,7,8 / 9,10,11,12장</a:t>
            </a:r>
            <a:endParaRPr lang="en-US" sz="1250" dirty="0"/>
          </a:p>
        </p:txBody>
      </p:sp>
      <p:sp>
        <p:nvSpPr>
          <p:cNvPr id="15" name="memo-3"/>
          <p:cNvSpPr/>
          <p:nvPr/>
        </p:nvSpPr>
        <p:spPr>
          <a:xfrm>
            <a:off x="685800" y="4956048"/>
            <a:ext cx="10820095" cy="1005840"/>
          </a:xfrm>
          <a:prstGeom prst="roundRect">
            <a:avLst>
              <a:gd name="adj" fmla="val 5455"/>
            </a:avLst>
          </a:prstGeom>
          <a:solidFill>
            <a:schemeClr val="accent2"/>
          </a:solidFill>
          <a:ln/>
        </p:spPr>
      </p:sp>
      <p:sp>
        <p:nvSpPr>
          <p:cNvPr id="16" name="memo-3-k"/>
          <p:cNvSpPr txBox="1"/>
          <p:nvPr/>
        </p:nvSpPr>
        <p:spPr>
          <a:xfrm>
            <a:off x="960120" y="5084064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요한 특수자료</a:t>
            </a:r>
            <a:endParaRPr lang="en-US" sz="1500" dirty="0"/>
          </a:p>
        </p:txBody>
      </p:sp>
      <p:sp>
        <p:nvSpPr>
          <p:cNvPr id="17" name="memo-3-v"/>
          <p:cNvSpPr txBox="1"/>
          <p:nvPr/>
        </p:nvSpPr>
        <p:spPr>
          <a:xfrm>
            <a:off x="3337560" y="504748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가 니 수 베 / 초 간 실 나 / 세 보 대</a:t>
            </a:r>
            <a:endParaRPr lang="en-US" sz="2400" dirty="0"/>
          </a:p>
        </p:txBody>
      </p:sp>
      <p:sp>
        <p:nvSpPr>
          <p:cNvPr id="18" name="memo-3-d"/>
          <p:cNvSpPr txBox="1"/>
          <p:nvPr/>
        </p:nvSpPr>
        <p:spPr>
          <a:xfrm>
            <a:off x="3337560" y="5522976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</a:rPr>
              <a:t>공관복음에 없는 11가지</a:t>
            </a:r>
            <a:endParaRPr lang="en-US" sz="125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제1과  영광을 만나기 위한 준비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요한복음 ~1:18   ·   예수님은 누구신가에 대한 설명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1과 학습 개요</a:t>
            </a:r>
            <a:endParaRPr lang="en-US" sz="3200" dirty="0"/>
          </a:p>
        </p:txBody>
      </p:sp>
      <p:sp>
        <p:nvSpPr>
          <p:cNvPr id="3" name="cmp-0"/>
          <p:cNvSpPr/>
          <p:nvPr/>
        </p:nvSpPr>
        <p:spPr>
          <a:xfrm>
            <a:off x="685800" y="1481328"/>
            <a:ext cx="5272888" cy="4663440"/>
          </a:xfrm>
          <a:prstGeom prst="roundRect">
            <a:avLst>
              <a:gd name="adj" fmla="val 117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719072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1. 예수님에 대한 증언인 요한복음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267712"/>
            <a:ext cx="4724248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가. 사도 요한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이 복음서의 저자는 누구인가 (질문 1~5)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나. 요한과 예수님의 만남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포기하고 따름 (질문 6~8)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다. 요한의 변화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모난 성품이 예수님의 성품으로 (질문 9)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라. 요한의 증언으로서의 요한복음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직접 목격한 사실 (질문 10~12)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마. 요한의 사역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부활을 증거함 (질문 13~17)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바. 기록목적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예수를 믿고 생명을 얻게 함 (질문 18~21)</a:t>
            </a:r>
            <a:endParaRPr lang="en-US" sz="1500" dirty="0"/>
          </a:p>
        </p:txBody>
      </p:sp>
      <p:sp>
        <p:nvSpPr>
          <p:cNvPr id="6" name="cmp-1"/>
          <p:cNvSpPr/>
          <p:nvPr/>
        </p:nvSpPr>
        <p:spPr>
          <a:xfrm>
            <a:off x="6233008" y="1481328"/>
            <a:ext cx="5272888" cy="4663440"/>
          </a:xfrm>
          <a:prstGeom prst="roundRect">
            <a:avLst>
              <a:gd name="adj" fmla="val 117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719072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2. 하나님에 대한 증언이신 예수님 (1:1~18)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267712"/>
            <a:ext cx="4724248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가. 창조주이신 예수님 (1:1~3)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예수님은 말씀 · 말씀으로 창조 (질문 22~28)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나. 인도자이신 예수님 (1:4~13)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빛이 어둠에 비침 (질문 29~35)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다. 하나님이신 예수님 (1:14~18)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성육신 · 은혜 · 삼위일체 하나님 (질문 36~41)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오늘의 흐름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저자 요한을 알고 → 그가 증언한 예수님을 만난다</a:t>
            </a:r>
            <a:endParaRPr lang="en-US" sz="15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가. 사도 요한 — 저자는 누구인가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241280" y="420624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1~5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36192"/>
            <a:ext cx="594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800" i="1" dirty="0">
                <a:solidFill>
                  <a:schemeClr val="tx1"/>
                </a:solidFill>
              </a:rPr>
              <a:t>“이 일을 증언하고 이것을 기록한 제자가 이 사람이라 우리는 그의 증언이 참된 줄 아노라”</a:t>
            </a:r>
            <a:endParaRPr lang="en-US" sz="18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3419856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21:24  ·  cf. 21:20 “예수께서 사랑하시던 그 제자”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0" y="1536192"/>
            <a:ext cx="464515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709574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709574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!</a:t>
            </a:r>
            <a:endParaRPr lang="en-US" sz="1300" dirty="0"/>
          </a:p>
        </p:txBody>
      </p:sp>
      <p:sp>
        <p:nvSpPr>
          <p:cNvPr id="9" name="card-0-head"/>
          <p:cNvSpPr txBox="1"/>
          <p:nvPr/>
        </p:nvSpPr>
        <p:spPr>
          <a:xfrm>
            <a:off x="7095744" y="2304288"/>
            <a:ext cx="4169664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저자는 자신의 이름을 끝까지 밝히지 않는다</a:t>
            </a:r>
            <a:endParaRPr lang="en-US" sz="1700" dirty="0"/>
          </a:p>
        </p:txBody>
      </p:sp>
      <p:sp>
        <p:nvSpPr>
          <p:cNvPr id="10" name="card-0-body"/>
          <p:cNvSpPr txBox="1"/>
          <p:nvPr/>
        </p:nvSpPr>
        <p:spPr>
          <a:xfrm>
            <a:off x="7095744" y="2921508"/>
            <a:ext cx="4169664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‘예수께서 사랑하시던 제자’라고만 표현한다.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열두 제자 중 예수님의 특별한 사랑을 받은 제자이지만, 정확히 누구인지는 말하지 않는다.</a:t>
            </a:r>
            <a:endParaRPr lang="en-US" sz="1400" dirty="0"/>
          </a:p>
        </p:txBody>
      </p:sp>
      <p:sp>
        <p:nvSpPr>
          <p:cNvPr id="11" name="subhead-badge"/>
          <p:cNvSpPr/>
          <p:nvPr/>
        </p:nvSpPr>
        <p:spPr>
          <a:xfrm>
            <a:off x="685800" y="4032504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ubhead-badge-text"/>
          <p:cNvSpPr txBox="1"/>
          <p:nvPr/>
        </p:nvSpPr>
        <p:spPr>
          <a:xfrm>
            <a:off x="685800" y="40325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논증</a:t>
            </a:r>
            <a:endParaRPr lang="en-US" sz="1400" dirty="0"/>
          </a:p>
        </p:txBody>
      </p:sp>
      <p:sp>
        <p:nvSpPr>
          <p:cNvPr id="13" name="subhead-text"/>
          <p:cNvSpPr txBox="1"/>
          <p:nvPr/>
        </p:nvSpPr>
        <p:spPr>
          <a:xfrm>
            <a:off x="1161288" y="4023360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그래서 ‘소거법’으로 저자를 찾아간다</a:t>
            </a:r>
            <a:endParaRPr lang="en-US" sz="1900" dirty="0"/>
          </a:p>
        </p:txBody>
      </p:sp>
      <p:sp>
        <p:nvSpPr>
          <p:cNvPr id="14" name="flow-0"/>
          <p:cNvSpPr/>
          <p:nvPr/>
        </p:nvSpPr>
        <p:spPr>
          <a:xfrm>
            <a:off x="685800" y="4462272"/>
            <a:ext cx="1856781" cy="15544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flow-0-head"/>
          <p:cNvSpPr txBox="1"/>
          <p:nvPr/>
        </p:nvSpPr>
        <p:spPr>
          <a:xfrm>
            <a:off x="832104" y="4645152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열두 제자</a:t>
            </a:r>
            <a:endParaRPr lang="en-US" sz="1500" dirty="0"/>
          </a:p>
        </p:txBody>
      </p:sp>
      <p:sp>
        <p:nvSpPr>
          <p:cNvPr id="16" name="flow-0-body"/>
          <p:cNvSpPr txBox="1"/>
          <p:nvPr/>
        </p:nvSpPr>
        <p:spPr>
          <a:xfrm>
            <a:off x="813816" y="5065776"/>
            <a:ext cx="16007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후보 12명</a:t>
            </a:r>
            <a:endParaRPr lang="en-US" sz="1200" dirty="0"/>
          </a:p>
        </p:txBody>
      </p:sp>
      <p:sp>
        <p:nvSpPr>
          <p:cNvPr id="17" name="flow-0-arrow"/>
          <p:cNvSpPr txBox="1"/>
          <p:nvPr/>
        </p:nvSpPr>
        <p:spPr>
          <a:xfrm>
            <a:off x="2542581" y="503834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▶</a:t>
            </a:r>
            <a:endParaRPr lang="en-US" sz="1500" dirty="0"/>
          </a:p>
        </p:txBody>
      </p:sp>
      <p:sp>
        <p:nvSpPr>
          <p:cNvPr id="18" name="flow-1"/>
          <p:cNvSpPr/>
          <p:nvPr/>
        </p:nvSpPr>
        <p:spPr>
          <a:xfrm>
            <a:off x="2926629" y="4462272"/>
            <a:ext cx="1856781" cy="15544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flow-1-head"/>
          <p:cNvSpPr txBox="1"/>
          <p:nvPr/>
        </p:nvSpPr>
        <p:spPr>
          <a:xfrm>
            <a:off x="3072933" y="4645152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이름이 밝혀진 제자 제외</a:t>
            </a:r>
            <a:endParaRPr lang="en-US" sz="1500" dirty="0"/>
          </a:p>
        </p:txBody>
      </p:sp>
      <p:sp>
        <p:nvSpPr>
          <p:cNvPr id="20" name="flow-1-body"/>
          <p:cNvSpPr txBox="1"/>
          <p:nvPr/>
        </p:nvSpPr>
        <p:spPr>
          <a:xfrm>
            <a:off x="3054645" y="5065776"/>
            <a:ext cx="16007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저자는 익명이므로</a:t>
            </a:r>
            <a:endParaRPr lang="en-US" sz="1200" dirty="0"/>
          </a:p>
        </p:txBody>
      </p:sp>
      <p:sp>
        <p:nvSpPr>
          <p:cNvPr id="21" name="flow-1-arrow"/>
          <p:cNvSpPr txBox="1"/>
          <p:nvPr/>
        </p:nvSpPr>
        <p:spPr>
          <a:xfrm>
            <a:off x="4783409" y="503834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▶</a:t>
            </a:r>
            <a:endParaRPr lang="en-US" sz="1500" dirty="0"/>
          </a:p>
        </p:txBody>
      </p:sp>
      <p:sp>
        <p:nvSpPr>
          <p:cNvPr id="22" name="flow-2"/>
          <p:cNvSpPr/>
          <p:nvPr/>
        </p:nvSpPr>
        <p:spPr>
          <a:xfrm>
            <a:off x="5167457" y="4462272"/>
            <a:ext cx="1856781" cy="15544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flow-2-head"/>
          <p:cNvSpPr txBox="1"/>
          <p:nvPr/>
        </p:nvSpPr>
        <p:spPr>
          <a:xfrm>
            <a:off x="5313761" y="4645152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6명으로 압축</a:t>
            </a:r>
            <a:endParaRPr lang="en-US" sz="1500" dirty="0"/>
          </a:p>
        </p:txBody>
      </p:sp>
      <p:sp>
        <p:nvSpPr>
          <p:cNvPr id="24" name="flow-2-body"/>
          <p:cNvSpPr txBox="1"/>
          <p:nvPr/>
        </p:nvSpPr>
        <p:spPr>
          <a:xfrm>
            <a:off x="5295473" y="5065776"/>
            <a:ext cx="16007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야고보 · 요한 · 바돌로매</a:t>
            </a:r>
            <a:endParaRPr lang="en-US" sz="12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마태 · 야고보 · 시몬</a:t>
            </a:r>
            <a:endParaRPr lang="en-US" sz="1200" dirty="0"/>
          </a:p>
        </p:txBody>
      </p:sp>
      <p:sp>
        <p:nvSpPr>
          <p:cNvPr id="25" name="flow-2-arrow"/>
          <p:cNvSpPr txBox="1"/>
          <p:nvPr/>
        </p:nvSpPr>
        <p:spPr>
          <a:xfrm>
            <a:off x="7024238" y="503834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▶</a:t>
            </a:r>
            <a:endParaRPr lang="en-US" sz="1500" dirty="0"/>
          </a:p>
        </p:txBody>
      </p:sp>
      <p:sp>
        <p:nvSpPr>
          <p:cNvPr id="26" name="flow-3"/>
          <p:cNvSpPr/>
          <p:nvPr/>
        </p:nvSpPr>
        <p:spPr>
          <a:xfrm>
            <a:off x="7408286" y="4462272"/>
            <a:ext cx="1856781" cy="15544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flow-3-head"/>
          <p:cNvSpPr txBox="1"/>
          <p:nvPr/>
        </p:nvSpPr>
        <p:spPr>
          <a:xfrm>
            <a:off x="7554590" y="4645152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예수님이 신임하신 3인</a:t>
            </a:r>
            <a:endParaRPr lang="en-US" sz="1500" dirty="0"/>
          </a:p>
        </p:txBody>
      </p:sp>
      <p:sp>
        <p:nvSpPr>
          <p:cNvPr id="28" name="flow-3-body"/>
          <p:cNvSpPr txBox="1"/>
          <p:nvPr/>
        </p:nvSpPr>
        <p:spPr>
          <a:xfrm>
            <a:off x="7536302" y="5065776"/>
            <a:ext cx="16007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베드로 · 야고보 · 요한</a:t>
            </a:r>
            <a:endParaRPr lang="en-US" sz="1200" dirty="0"/>
          </a:p>
        </p:txBody>
      </p:sp>
      <p:sp>
        <p:nvSpPr>
          <p:cNvPr id="29" name="flow-3-arrow"/>
          <p:cNvSpPr txBox="1"/>
          <p:nvPr/>
        </p:nvSpPr>
        <p:spPr>
          <a:xfrm>
            <a:off x="9265067" y="503834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▶</a:t>
            </a:r>
            <a:endParaRPr lang="en-US" sz="1500" dirty="0"/>
          </a:p>
        </p:txBody>
      </p:sp>
      <p:sp>
        <p:nvSpPr>
          <p:cNvPr id="30" name="flow-4"/>
          <p:cNvSpPr/>
          <p:nvPr/>
        </p:nvSpPr>
        <p:spPr>
          <a:xfrm>
            <a:off x="9649115" y="4462272"/>
            <a:ext cx="1856781" cy="15544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1" name="flow-4-head"/>
          <p:cNvSpPr txBox="1"/>
          <p:nvPr/>
        </p:nvSpPr>
        <p:spPr>
          <a:xfrm>
            <a:off x="9795419" y="4645152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요한</a:t>
            </a:r>
            <a:endParaRPr lang="en-US" sz="1500" dirty="0"/>
          </a:p>
        </p:txBody>
      </p:sp>
      <p:sp>
        <p:nvSpPr>
          <p:cNvPr id="32" name="flow-4-body"/>
          <p:cNvSpPr txBox="1"/>
          <p:nvPr/>
        </p:nvSpPr>
        <p:spPr>
          <a:xfrm>
            <a:off x="9777131" y="5065776"/>
            <a:ext cx="16007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최종 결론</a:t>
            </a:r>
            <a:endParaRPr lang="en-US" sz="1200" dirty="0"/>
          </a:p>
        </p:txBody>
      </p:sp>
      <p:sp>
        <p:nvSpPr>
          <p:cNvPr id="3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저자 추적 ① 요한복음에 이름이 나오는 제자들</a:t>
            </a:r>
            <a:endParaRPr lang="en-US" sz="3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17904"/>
          <a:ext cx="108200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931920"/>
                <a:gridCol w="395935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제외 근거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빌립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6:7 · 14:8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이름이 직접 기록됨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베드로 · 안드레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6:8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이름이 직접 기록됨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도마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11:16 · 14:5 · 20:24~28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이름이 직접 기록됨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유다 (가룟인이 아닌)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14:22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이름이 직접 기록됨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가룟 유다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6:71 · 12:4 · 13:2 등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이름이 직접 기록됨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keyline"/>
          <p:cNvSpPr/>
          <p:nvPr/>
        </p:nvSpPr>
        <p:spPr>
          <a:xfrm>
            <a:off x="685800" y="4187952"/>
            <a:ext cx="10820095" cy="713232"/>
          </a:xfrm>
          <a:prstGeom prst="roundRect">
            <a:avLst>
              <a:gd name="adj" fmla="val 12821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4187952"/>
            <a:ext cx="102714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남는 제자  ·  야고보(요한의 형제) · 요한 · 바돌로매 · 마태 · 야고보(알패오의 아들) · 시몬(셀롯) — 6명</a:t>
            </a:r>
            <a:endParaRPr lang="en-US" sz="1600" dirty="0"/>
          </a:p>
        </p:txBody>
      </p:sp>
      <p:sp>
        <p:nvSpPr>
          <p:cNvPr id="6" name="bullets"/>
          <p:cNvSpPr txBox="1"/>
          <p:nvPr/>
        </p:nvSpPr>
        <p:spPr>
          <a:xfrm>
            <a:off x="685800" y="5084064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저자가 스스로를 ‘예수께서 사랑하시는 제자’라 표현하므로, 본문에 이름이 등장하는 제자는 저자가 될 수 없다.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요한복음은 유독 열두 제자의 명단 전체를 소개하지 않는다 — 부르심·파송 이야기도 없다.</a:t>
            </a:r>
            <a:endParaRPr lang="en-US" sz="15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저자 추적 ② 최종 후보 3명에서 한 명으로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685800" y="146304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공관복음에서 예수님이 특별히 신임하신 세 제자 — 변화산, 야이로의 딸, 겟세마네에 함께 있던 제자들</a:t>
            </a:r>
            <a:endParaRPr lang="en-US" sz="1500" dirty="0"/>
          </a:p>
        </p:txBody>
      </p:sp>
      <p:sp>
        <p:nvSpPr>
          <p:cNvPr id="4" name="card-0"/>
          <p:cNvSpPr/>
          <p:nvPr/>
        </p:nvSpPr>
        <p:spPr>
          <a:xfrm>
            <a:off x="685800" y="1975104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21284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✕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798064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베드로</a:t>
            </a:r>
            <a:endParaRPr lang="en-US" sz="26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287268"/>
            <a:ext cx="2972714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본서에 이름이 직접 언급된다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(6:8, 13:6 등)</a:t>
            </a:r>
            <a:endParaRPr lang="en-US" sz="14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4253484"/>
            <a:ext cx="2972714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제외</a:t>
            </a:r>
            <a:endParaRPr lang="en-US" sz="1200" dirty="0"/>
          </a:p>
        </p:txBody>
      </p:sp>
      <p:sp>
        <p:nvSpPr>
          <p:cNvPr id="10" name="card-1"/>
          <p:cNvSpPr/>
          <p:nvPr/>
        </p:nvSpPr>
        <p:spPr>
          <a:xfrm>
            <a:off x="4371746" y="1975104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4609490" y="221284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460949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✕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4609490" y="2798064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야고보</a:t>
            </a:r>
            <a:endParaRPr lang="en-US" sz="26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3287268"/>
            <a:ext cx="2972714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일찍이 순교했다 (행 12:2, AD 44년경)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1세기 말~2세기 초 기록과 맞지 않는다</a:t>
            </a:r>
            <a:endParaRPr lang="en-US" sz="1400" dirty="0"/>
          </a:p>
        </p:txBody>
      </p:sp>
      <p:sp>
        <p:nvSpPr>
          <p:cNvPr id="15" name="card-1-foot"/>
          <p:cNvSpPr txBox="1"/>
          <p:nvPr/>
        </p:nvSpPr>
        <p:spPr>
          <a:xfrm>
            <a:off x="4609490" y="4253484"/>
            <a:ext cx="2972714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제외</a:t>
            </a:r>
            <a:endParaRPr lang="en-US" sz="1200" dirty="0"/>
          </a:p>
        </p:txBody>
      </p:sp>
      <p:sp>
        <p:nvSpPr>
          <p:cNvPr id="16" name="card-2"/>
          <p:cNvSpPr/>
          <p:nvPr/>
        </p:nvSpPr>
        <p:spPr>
          <a:xfrm>
            <a:off x="8057693" y="1975104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221284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○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2798064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요한</a:t>
            </a:r>
            <a:endParaRPr lang="en-US" sz="26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3287268"/>
            <a:ext cx="2972714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이름이 밝혀지지 않았고, 생존했으며,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예수님의 사역 전체를 가장 가까이서 목격한 제자</a:t>
            </a:r>
            <a:endParaRPr lang="en-US" sz="1400" dirty="0"/>
          </a:p>
        </p:txBody>
      </p:sp>
      <p:sp>
        <p:nvSpPr>
          <p:cNvPr id="21" name="card-2-foot"/>
          <p:cNvSpPr txBox="1"/>
          <p:nvPr/>
        </p:nvSpPr>
        <p:spPr>
          <a:xfrm>
            <a:off x="8295437" y="4253484"/>
            <a:ext cx="2972714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결론</a:t>
            </a:r>
            <a:endParaRPr lang="en-US" sz="1200" dirty="0"/>
          </a:p>
        </p:txBody>
      </p:sp>
      <p:sp>
        <p:nvSpPr>
          <p:cNvPr id="22" name="keyline"/>
          <p:cNvSpPr/>
          <p:nvPr/>
        </p:nvSpPr>
        <p:spPr>
          <a:xfrm>
            <a:off x="685800" y="4846320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23" name="keyline-text"/>
          <p:cNvSpPr txBox="1"/>
          <p:nvPr/>
        </p:nvSpPr>
        <p:spPr>
          <a:xfrm>
            <a:off x="960120" y="484632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이 복음서는 ‘가장 가까이에서 예수님을 보고 경험한 한 제자의 진실된 기록’입니다.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저자를 알고 읽으면, 문장마다 목격자의 떨림이 들립니다.</a:t>
            </a:r>
            <a:endParaRPr lang="en-US" sz="16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사도 요한은 누구인가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가족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40864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어부의 아들</a:t>
            </a:r>
            <a:endParaRPr lang="en-US" sz="17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686050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아버지는 어부 세베대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어머니는 살로메 — 예수님의 이모 (요 19:25)</a:t>
            </a:r>
            <a:endParaRPr lang="en-US" sz="1350" dirty="0"/>
          </a:p>
        </p:txBody>
      </p:sp>
      <p:sp>
        <p:nvSpPr>
          <p:cNvPr id="8" name="card-1"/>
          <p:cNvSpPr/>
          <p:nvPr/>
        </p:nvSpPr>
        <p:spPr>
          <a:xfrm>
            <a:off x="4371746" y="1572768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형제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40864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야고보의 동생</a:t>
            </a:r>
            <a:endParaRPr lang="en-US" sz="17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686050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형 야고보와 함께 부르심을 받았고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함께 ‘우레의 아들’이라 불렸다</a:t>
            </a:r>
            <a:endParaRPr lang="en-US" sz="1350" dirty="0"/>
          </a:p>
        </p:txBody>
      </p:sp>
      <p:sp>
        <p:nvSpPr>
          <p:cNvPr id="13" name="card-2"/>
          <p:cNvSpPr/>
          <p:nvPr/>
        </p:nvSpPr>
        <p:spPr>
          <a:xfrm>
            <a:off x="8057693" y="1572768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출발</a:t>
            </a:r>
            <a:endParaRPr lang="en-US" sz="13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40864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원래 세례요한의 제자</a:t>
            </a:r>
            <a:endParaRPr lang="en-US" sz="17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686050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요 1:35~40 · 세례요한의 증언을 듣고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예수님을 따라갔다 (오후 10시의 만남)</a:t>
            </a:r>
            <a:endParaRPr lang="en-US" sz="1350" dirty="0"/>
          </a:p>
        </p:txBody>
      </p:sp>
      <p:sp>
        <p:nvSpPr>
          <p:cNvPr id="18" name="card-3"/>
          <p:cNvSpPr/>
          <p:nvPr/>
        </p:nvSpPr>
        <p:spPr>
          <a:xfrm>
            <a:off x="685800" y="3794760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3544" y="40325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3544" y="4032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맡음</a:t>
            </a:r>
            <a:endParaRPr lang="en-US" sz="13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3544" y="456285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마리아를 친어머니처럼 모심</a:t>
            </a:r>
            <a:endParaRPr lang="en-US" sz="17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3544" y="4908042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요 19:26~27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십자가 아래 어머니를 맡기신 제자</a:t>
            </a:r>
            <a:endParaRPr lang="en-US" sz="1350" dirty="0"/>
          </a:p>
        </p:txBody>
      </p:sp>
      <p:sp>
        <p:nvSpPr>
          <p:cNvPr id="23" name="card-4"/>
          <p:cNvSpPr/>
          <p:nvPr/>
        </p:nvSpPr>
        <p:spPr>
          <a:xfrm>
            <a:off x="4371746" y="3794760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4609490" y="40325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4609490" y="4032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교회</a:t>
            </a:r>
            <a:endParaRPr lang="en-US" sz="1300" dirty="0"/>
          </a:p>
        </p:txBody>
      </p:sp>
      <p:sp>
        <p:nvSpPr>
          <p:cNvPr id="26" name="card-4-head"/>
          <p:cNvSpPr txBox="1"/>
          <p:nvPr/>
        </p:nvSpPr>
        <p:spPr>
          <a:xfrm>
            <a:off x="4609490" y="456285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예루살렘 교회의 기둥</a:t>
            </a:r>
            <a:endParaRPr lang="en-US" sz="1700" dirty="0"/>
          </a:p>
        </p:txBody>
      </p:sp>
      <p:sp>
        <p:nvSpPr>
          <p:cNvPr id="27" name="card-4-body"/>
          <p:cNvSpPr txBox="1"/>
          <p:nvPr/>
        </p:nvSpPr>
        <p:spPr>
          <a:xfrm>
            <a:off x="4609490" y="4908042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갈 2:9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베드로와 함께 초대교회를 돌보았다</a:t>
            </a:r>
            <a:endParaRPr lang="en-US" sz="1350" dirty="0"/>
          </a:p>
        </p:txBody>
      </p:sp>
      <p:sp>
        <p:nvSpPr>
          <p:cNvPr id="28" name="card-5"/>
          <p:cNvSpPr/>
          <p:nvPr/>
        </p:nvSpPr>
        <p:spPr>
          <a:xfrm>
            <a:off x="8057693" y="3794760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8295437" y="40325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8295437" y="4032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기록</a:t>
            </a:r>
            <a:endParaRPr lang="en-US" sz="1300" dirty="0"/>
          </a:p>
        </p:txBody>
      </p:sp>
      <p:sp>
        <p:nvSpPr>
          <p:cNvPr id="31" name="card-5-head"/>
          <p:cNvSpPr txBox="1"/>
          <p:nvPr/>
        </p:nvSpPr>
        <p:spPr>
          <a:xfrm>
            <a:off x="8295437" y="456285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신약 다섯 권의 저자</a:t>
            </a:r>
            <a:endParaRPr lang="en-US" sz="1700" dirty="0"/>
          </a:p>
        </p:txBody>
      </p:sp>
      <p:sp>
        <p:nvSpPr>
          <p:cNvPr id="32" name="card-5-body"/>
          <p:cNvSpPr txBox="1"/>
          <p:nvPr/>
        </p:nvSpPr>
        <p:spPr>
          <a:xfrm>
            <a:off x="8295437" y="4908042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요한복음 · 요한1·2·3서 · 요한계시록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밧모섬 유배 중 계시를 받아 기록했다</a:t>
            </a:r>
            <a:endParaRPr lang="en-US" sz="1350" dirty="0"/>
          </a:p>
        </p:txBody>
      </p:sp>
      <p:sp>
        <p:nvSpPr>
          <p:cNvPr id="33" name="note"/>
          <p:cNvSpPr txBox="1"/>
          <p:nvPr/>
        </p:nvSpPr>
        <p:spPr>
          <a:xfrm>
            <a:off x="685800" y="5888736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※ 요한복음을 읽는다는 것은, 예수님의 이모의 아들이자 십자가 아래 끝까지 서 있던 제자의 증언을 듣는 일입니다.</a:t>
            </a:r>
            <a:endParaRPr lang="en-US" sz="130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나. 요한과 예수님의 만남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241280" y="420624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6~8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499616"/>
            <a:ext cx="667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700" i="1" dirty="0">
                <a:solidFill>
                  <a:schemeClr val="tx1"/>
                </a:solidFill>
              </a:rPr>
              <a:t>“… 예수께서 시몬에게 이르시되 무서워하지 말라 이제 후로는 네가 사람을 취하리라 하시니 그들이 모든 것을 버려 두고 예수를 따르니라”</a:t>
            </a:r>
            <a:endParaRPr lang="en-US" sz="17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9260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누가복음 5:10~11</a:t>
            </a:r>
            <a:endParaRPr lang="en-US" sz="1500" dirty="0"/>
          </a:p>
        </p:txBody>
      </p:sp>
      <p:sp>
        <p:nvSpPr>
          <p:cNvPr id="6" name="keyline"/>
          <p:cNvSpPr/>
          <p:nvPr/>
        </p:nvSpPr>
        <p:spPr>
          <a:xfrm>
            <a:off x="7269480" y="1499616"/>
            <a:ext cx="4233672" cy="182880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</p:spPr>
      </p:sp>
      <p:sp>
        <p:nvSpPr>
          <p:cNvPr id="7" name="keyline-text"/>
          <p:cNvSpPr txBox="1"/>
          <p:nvPr/>
        </p:nvSpPr>
        <p:spPr>
          <a:xfrm>
            <a:off x="7543800" y="1499616"/>
            <a:ext cx="3685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만남은 소명으로,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소명은 순종과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내려놓음으로 이어집니다</a:t>
            </a:r>
            <a:endParaRPr lang="en-US" sz="2000" dirty="0"/>
          </a:p>
        </p:txBody>
      </p:sp>
      <p:sp>
        <p:nvSpPr>
          <p:cNvPr id="8" name="card-0"/>
          <p:cNvSpPr/>
          <p:nvPr/>
        </p:nvSpPr>
        <p:spPr>
          <a:xfrm>
            <a:off x="685800" y="3566160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0-badge"/>
          <p:cNvSpPr/>
          <p:nvPr/>
        </p:nvSpPr>
        <p:spPr>
          <a:xfrm>
            <a:off x="923544" y="380390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0-badge-text"/>
          <p:cNvSpPr txBox="1"/>
          <p:nvPr/>
        </p:nvSpPr>
        <p:spPr>
          <a:xfrm>
            <a:off x="923544" y="3803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" name="card-0-head"/>
          <p:cNvSpPr txBox="1"/>
          <p:nvPr/>
        </p:nvSpPr>
        <p:spPr>
          <a:xfrm>
            <a:off x="923544" y="4297680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요한에 대해 알 수 있는 것</a:t>
            </a:r>
            <a:endParaRPr lang="en-US" sz="1600" dirty="0"/>
          </a:p>
        </p:txBody>
      </p:sp>
      <p:sp>
        <p:nvSpPr>
          <p:cNvPr id="12" name="card-0-body"/>
          <p:cNvSpPr txBox="1"/>
          <p:nvPr/>
        </p:nvSpPr>
        <p:spPr>
          <a:xfrm>
            <a:off x="923544" y="4626864"/>
            <a:ext cx="297271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세베대의 아들 · 야고보의 형제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시몬 베드로의 동업자 · 직업은 어부</a:t>
            </a:r>
            <a:endParaRPr lang="en-US" sz="1350" dirty="0"/>
          </a:p>
        </p:txBody>
      </p:sp>
      <p:sp>
        <p:nvSpPr>
          <p:cNvPr id="13" name="card-1"/>
          <p:cNvSpPr/>
          <p:nvPr/>
        </p:nvSpPr>
        <p:spPr>
          <a:xfrm>
            <a:off x="4371746" y="3566160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1-badge"/>
          <p:cNvSpPr/>
          <p:nvPr/>
        </p:nvSpPr>
        <p:spPr>
          <a:xfrm>
            <a:off x="4609490" y="380390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1-badge-text"/>
          <p:cNvSpPr txBox="1"/>
          <p:nvPr/>
        </p:nvSpPr>
        <p:spPr>
          <a:xfrm>
            <a:off x="4609490" y="3803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6" name="card-1-head"/>
          <p:cNvSpPr txBox="1"/>
          <p:nvPr/>
        </p:nvSpPr>
        <p:spPr>
          <a:xfrm>
            <a:off x="4609490" y="4297680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즉각 응답한 가장 큰 이유</a:t>
            </a:r>
            <a:endParaRPr lang="en-US" sz="1600" dirty="0"/>
          </a:p>
        </p:txBody>
      </p:sp>
      <p:sp>
        <p:nvSpPr>
          <p:cNvPr id="17" name="card-1-body"/>
          <p:cNvSpPr txBox="1"/>
          <p:nvPr/>
        </p:nvSpPr>
        <p:spPr>
          <a:xfrm>
            <a:off x="4609490" y="4626864"/>
            <a:ext cx="297271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말씀에 순종해 그물을 내렸을 때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엄청나게 많은 고기가 잡힌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예수님의 능력을 직접 경험했기 때문</a:t>
            </a:r>
            <a:endParaRPr lang="en-US" sz="1350" dirty="0"/>
          </a:p>
        </p:txBody>
      </p:sp>
      <p:sp>
        <p:nvSpPr>
          <p:cNvPr id="18" name="card-2"/>
          <p:cNvSpPr/>
          <p:nvPr/>
        </p:nvSpPr>
        <p:spPr>
          <a:xfrm>
            <a:off x="8057693" y="3566160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2-badge"/>
          <p:cNvSpPr/>
          <p:nvPr/>
        </p:nvSpPr>
        <p:spPr>
          <a:xfrm>
            <a:off x="8295437" y="380390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2-badge-text"/>
          <p:cNvSpPr txBox="1"/>
          <p:nvPr/>
        </p:nvSpPr>
        <p:spPr>
          <a:xfrm>
            <a:off x="8295437" y="3803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21" name="card-2-head"/>
          <p:cNvSpPr txBox="1"/>
          <p:nvPr/>
        </p:nvSpPr>
        <p:spPr>
          <a:xfrm>
            <a:off x="8295437" y="4297680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포기한 것</a:t>
            </a:r>
            <a:endParaRPr lang="en-US" sz="1600" dirty="0"/>
          </a:p>
        </p:txBody>
      </p:sp>
      <p:sp>
        <p:nvSpPr>
          <p:cNvPr id="22" name="card-2-body"/>
          <p:cNvSpPr txBox="1"/>
          <p:nvPr/>
        </p:nvSpPr>
        <p:spPr>
          <a:xfrm>
            <a:off x="8295437" y="4626864"/>
            <a:ext cx="297271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배를 포함한 생업 전부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— 요한에게 그것은 삶의 근간이었다</a:t>
            </a:r>
            <a:endParaRPr lang="en-US" sz="135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Q1 · Q2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나는 무엇을 내려놓았는가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예수님을 믿기로 결정했을 때 가장 영향을 주었던 것은 예수님의 어떤 면이었습니까?</a:t>
            </a:r>
            <a:endParaRPr lang="en-US" sz="1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예) 그분의 인격  ·  죄를 사하시는 능력  ·  나를 향한 사랑  ·  말씀의 권위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621472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예수님을 따르기 위해 내가 포기한 것은, 또 포기해야 할 것은 무엇입니까?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포기할 때 걸림돌이 되는 이유는 무엇인가요?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포기한 것을 후회한 적이 있습니까? 그럴 때 예수님께서 베풀어 주신 것은 무엇이었나요?</a:t>
            </a:r>
            <a:endParaRPr lang="en-US" sz="1500" dirty="0"/>
          </a:p>
        </p:txBody>
      </p:sp>
      <p:sp>
        <p:nvSpPr>
          <p:cNvPr id="14" name="guide"/>
          <p:cNvSpPr txBox="1"/>
          <p:nvPr/>
        </p:nvSpPr>
        <p:spPr>
          <a:xfrm>
            <a:off x="685800" y="53583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조별 나눔 10분 → 전체 나눔 2명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다. 요한의 변화 — 변하기 전의 모습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241280" y="420624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9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572768"/>
            <a:ext cx="2526716" cy="301752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40864"/>
            <a:ext cx="2051228" cy="248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막 3:17  우레의 아들</a:t>
            </a:r>
            <a:endParaRPr lang="en-US" sz="155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62047"/>
            <a:ext cx="2051228" cy="142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예수님이 야고보와 요한에게 ‘보아너게’라는 이름을 주심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→ 그만큼 급하고 목소리가 컸다</a:t>
            </a:r>
            <a:endParaRPr lang="en-US" sz="13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412546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성품 : 급함</a:t>
            </a:r>
            <a:endParaRPr lang="en-US" sz="1200" dirty="0"/>
          </a:p>
        </p:txBody>
      </p:sp>
      <p:sp>
        <p:nvSpPr>
          <p:cNvPr id="10" name="card-1"/>
          <p:cNvSpPr/>
          <p:nvPr/>
        </p:nvSpPr>
        <p:spPr>
          <a:xfrm>
            <a:off x="3450260" y="1572768"/>
            <a:ext cx="2526716" cy="301752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368800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368800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card-1-head"/>
          <p:cNvSpPr txBox="1"/>
          <p:nvPr/>
        </p:nvSpPr>
        <p:spPr>
          <a:xfrm>
            <a:off x="3688004" y="2340864"/>
            <a:ext cx="2051228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막 9:38~39  축사를 막다</a:t>
            </a:r>
            <a:endParaRPr lang="en-US" sz="1550" dirty="0"/>
          </a:p>
        </p:txBody>
      </p:sp>
      <p:sp>
        <p:nvSpPr>
          <p:cNvPr id="14" name="card-1-body"/>
          <p:cNvSpPr txBox="1"/>
          <p:nvPr/>
        </p:nvSpPr>
        <p:spPr>
          <a:xfrm>
            <a:off x="3688004" y="2910078"/>
            <a:ext cx="2051228" cy="1178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자신과 함께하지 않는 사람이 귀신을 쫓자 금지함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→ 예수님 : “금하지 말라”</a:t>
            </a:r>
            <a:endParaRPr lang="en-US" sz="1300" dirty="0"/>
          </a:p>
        </p:txBody>
      </p:sp>
      <p:sp>
        <p:nvSpPr>
          <p:cNvPr id="15" name="card-1-foot"/>
          <p:cNvSpPr txBox="1"/>
          <p:nvPr/>
        </p:nvSpPr>
        <p:spPr>
          <a:xfrm>
            <a:off x="3688004" y="412546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성품 : 배타적</a:t>
            </a:r>
            <a:endParaRPr lang="en-US" sz="1200" dirty="0"/>
          </a:p>
        </p:txBody>
      </p:sp>
      <p:sp>
        <p:nvSpPr>
          <p:cNvPr id="16" name="card-2"/>
          <p:cNvSpPr/>
          <p:nvPr/>
        </p:nvSpPr>
        <p:spPr>
          <a:xfrm>
            <a:off x="6214720" y="1572768"/>
            <a:ext cx="2526716" cy="301752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645246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645246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6452464" y="2340864"/>
            <a:ext cx="2051228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막 10:35~41  좌우편 자리</a:t>
            </a:r>
            <a:endParaRPr lang="en-US" sz="1550" dirty="0"/>
          </a:p>
        </p:txBody>
      </p:sp>
      <p:sp>
        <p:nvSpPr>
          <p:cNvPr id="20" name="card-2-body"/>
          <p:cNvSpPr txBox="1"/>
          <p:nvPr/>
        </p:nvSpPr>
        <p:spPr>
          <a:xfrm>
            <a:off x="6452464" y="2910078"/>
            <a:ext cx="2051228" cy="1178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영광 받으실 때 좌우편에 앉기를 구함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→ 예수님 : “내 고난에 동참해야 한다”</a:t>
            </a:r>
            <a:endParaRPr lang="en-US" sz="1300" dirty="0"/>
          </a:p>
        </p:txBody>
      </p:sp>
      <p:sp>
        <p:nvSpPr>
          <p:cNvPr id="21" name="card-2-foot"/>
          <p:cNvSpPr txBox="1"/>
          <p:nvPr/>
        </p:nvSpPr>
        <p:spPr>
          <a:xfrm>
            <a:off x="6452464" y="412546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성품 : 교만 · 자기중심</a:t>
            </a:r>
            <a:endParaRPr lang="en-US" sz="1200" dirty="0"/>
          </a:p>
        </p:txBody>
      </p:sp>
      <p:sp>
        <p:nvSpPr>
          <p:cNvPr id="22" name="card-3"/>
          <p:cNvSpPr/>
          <p:nvPr/>
        </p:nvSpPr>
        <p:spPr>
          <a:xfrm>
            <a:off x="8979179" y="1572768"/>
            <a:ext cx="2526716" cy="301752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3-badge"/>
          <p:cNvSpPr/>
          <p:nvPr/>
        </p:nvSpPr>
        <p:spPr>
          <a:xfrm>
            <a:off x="9216923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3-badge-text"/>
          <p:cNvSpPr txBox="1"/>
          <p:nvPr/>
        </p:nvSpPr>
        <p:spPr>
          <a:xfrm>
            <a:off x="9216923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card-3-head"/>
          <p:cNvSpPr txBox="1"/>
          <p:nvPr/>
        </p:nvSpPr>
        <p:spPr>
          <a:xfrm>
            <a:off x="9216923" y="2340864"/>
            <a:ext cx="2051228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눅 9:52~56  불로 멸하자</a:t>
            </a:r>
            <a:endParaRPr lang="en-US" sz="1550" dirty="0"/>
          </a:p>
        </p:txBody>
      </p:sp>
      <p:sp>
        <p:nvSpPr>
          <p:cNvPr id="26" name="card-3-body"/>
          <p:cNvSpPr txBox="1"/>
          <p:nvPr/>
        </p:nvSpPr>
        <p:spPr>
          <a:xfrm>
            <a:off x="9216923" y="2910078"/>
            <a:ext cx="2051228" cy="1178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사마리아 마을이 출입을 막자 불을 명해 멸하려 함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→ 예수님께서 꾸짖으심</a:t>
            </a:r>
            <a:endParaRPr lang="en-US" sz="1300" dirty="0"/>
          </a:p>
        </p:txBody>
      </p:sp>
      <p:sp>
        <p:nvSpPr>
          <p:cNvPr id="27" name="card-3-foot"/>
          <p:cNvSpPr txBox="1"/>
          <p:nvPr/>
        </p:nvSpPr>
        <p:spPr>
          <a:xfrm>
            <a:off x="9216923" y="412546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성품 : 반대자에게 무자비</a:t>
            </a:r>
            <a:endParaRPr lang="en-US" sz="1200" dirty="0"/>
          </a:p>
        </p:txBody>
      </p:sp>
      <p:sp>
        <p:nvSpPr>
          <p:cNvPr id="28" name="keyline"/>
          <p:cNvSpPr/>
          <p:nvPr/>
        </p:nvSpPr>
        <p:spPr>
          <a:xfrm>
            <a:off x="685800" y="4809744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4809744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부정적 : 급함 · 자기중심적 · 교만함 · 반대자에게 무자비     /     긍정적 : 적극적인 면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네 본문 모두가 예수님께 꾸중을 들은 장면입니다. 요한은 ‘완성된 사람’으로 부름받지 않았습니다.</a:t>
            </a:r>
            <a:endParaRPr lang="en-US" sz="16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우레의 아들에서 사랑의 사도로</a:t>
            </a:r>
            <a:endParaRPr lang="en-US" sz="3200" dirty="0"/>
          </a:p>
        </p:txBody>
      </p:sp>
      <p:sp>
        <p:nvSpPr>
          <p:cNvPr id="3" name="cmp-0"/>
          <p:cNvSpPr/>
          <p:nvPr/>
        </p:nvSpPr>
        <p:spPr>
          <a:xfrm>
            <a:off x="685800" y="1499616"/>
            <a:ext cx="3017520" cy="347472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73736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예수님을 만나기 전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286000"/>
            <a:ext cx="2468880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급하다 · 목소리가 크다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권세에 민감하다 (좌우편에 서기)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자기중심적이고 교만하다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반대자에게 무자비하다</a:t>
            </a:r>
            <a:endParaRPr lang="en-US" sz="1500" dirty="0"/>
          </a:p>
        </p:txBody>
      </p:sp>
      <p:sp>
        <p:nvSpPr>
          <p:cNvPr id="6" name="cmp-1"/>
          <p:cNvSpPr/>
          <p:nvPr/>
        </p:nvSpPr>
        <p:spPr>
          <a:xfrm>
            <a:off x="3977640" y="1499616"/>
            <a:ext cx="3017520" cy="34747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4251960" y="173736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예수님을 만난 후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4251960" y="2286000"/>
            <a:ext cx="2468880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예수님의 성품을 닮아 갔다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사랑을 가장 중요하게 여겼다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‘서로 사랑하라’는 새 계명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마침내 사랑의 사도가 되었다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406640" y="1499616"/>
          <a:ext cx="4096512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keyline"/>
          <p:cNvSpPr/>
          <p:nvPr/>
        </p:nvSpPr>
        <p:spPr>
          <a:xfrm>
            <a:off x="685800" y="5084064"/>
            <a:ext cx="10820095" cy="804672"/>
          </a:xfrm>
          <a:prstGeom prst="roundRect">
            <a:avLst>
              <a:gd name="adj" fmla="val 11364"/>
            </a:avLst>
          </a:prstGeom>
          <a:solidFill>
            <a:schemeClr val="tx2"/>
          </a:solidFill>
          <a:ln/>
        </p:spPr>
      </p:sp>
      <p:sp>
        <p:nvSpPr>
          <p:cNvPr id="11" name="keyline-text"/>
          <p:cNvSpPr txBox="1"/>
          <p:nvPr/>
        </p:nvSpPr>
        <p:spPr>
          <a:xfrm>
            <a:off x="960120" y="5084064"/>
            <a:ext cx="1027145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자기중심적이던 요한이 예수님과 함께 지내며 그분의 성품을 닮아 갔습니다.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요한복음에 ‘사랑’이 51번 — 요한이 사랑을 얼마나 중요하게 여겼는지를 단적으로 보여줍니다.</a:t>
            </a:r>
            <a:endParaRPr lang="en-US" sz="1600" dirty="0"/>
          </a:p>
        </p:txBody>
      </p:sp>
      <p:sp>
        <p:nvSpPr>
          <p:cNvPr id="12" name="note"/>
          <p:cNvSpPr txBox="1"/>
          <p:nvPr/>
        </p:nvSpPr>
        <p:spPr>
          <a:xfrm>
            <a:off x="685800" y="5980176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성품은 타고나는 것이 아니라, 누구와 함께 있는지에 따라 바뀝니다.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예수님은 나의 성품을 바꾸실 수 있습니까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칭찬하실 성품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내 성품 중 예수님께서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칭찬하실 만한 부분은 무엇인가요?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4371746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책망하실 성품</a:t>
            </a:r>
            <a:endParaRPr lang="en-US" sz="20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예수님께서 지금 책망하실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부분은 어디인가요?</a:t>
            </a:r>
            <a:endParaRPr lang="en-US" sz="1500" dirty="0"/>
          </a:p>
        </p:txBody>
      </p:sp>
      <p:sp>
        <p:nvSpPr>
          <p:cNvPr id="14" name="card-2"/>
          <p:cNvSpPr/>
          <p:nvPr/>
        </p:nvSpPr>
        <p:spPr>
          <a:xfrm>
            <a:off x="8057693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바꾸실 것이라는 믿음</a:t>
            </a:r>
            <a:endParaRPr lang="en-US" sz="20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예수님께서 그 성품을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정말 바꾸실 것이라 믿습니까?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요한처럼 될 수 있을까요?</a:t>
            </a:r>
            <a:endParaRPr lang="en-US" sz="15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285232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요한도 처음에는 ‘우레의 아들’이었습니다. 변화는 만남에서 시작됩니다.</a:t>
            </a:r>
            <a:endParaRPr lang="en-US" sz="15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라. 요한의 증언으로서의 요한복음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10~12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536192"/>
            <a:ext cx="5291176" cy="17830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04288"/>
            <a:ext cx="481568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무엇에 근거한 기록인가</a:t>
            </a:r>
            <a:endParaRPr lang="en-US" sz="17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49474"/>
            <a:ext cx="4815688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자신이 직접 ‘본 것’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“이를 본 자가 증언하였으니 그 증언이 참이라” (19:35)</a:t>
            </a:r>
            <a:endParaRPr lang="en-US" sz="1400" dirty="0"/>
          </a:p>
        </p:txBody>
      </p:sp>
      <p:sp>
        <p:nvSpPr>
          <p:cNvPr id="9" name="card-1"/>
          <p:cNvSpPr/>
          <p:nvPr/>
        </p:nvSpPr>
        <p:spPr>
          <a:xfrm>
            <a:off x="6214720" y="1536192"/>
            <a:ext cx="5291176" cy="17830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04288"/>
            <a:ext cx="481568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진실성은 어떻게 말하는가</a:t>
            </a:r>
            <a:endParaRPr lang="en-US" sz="17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649474"/>
            <a:ext cx="4815688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“우리는 그의 증언이 참된 줄 아노라” (21:24)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공동체가 함께 보증한다</a:t>
            </a:r>
            <a:endParaRPr lang="en-US" sz="14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3465576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12</a:t>
            </a:r>
            <a:endParaRPr lang="en-US" sz="14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161288" y="3456432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요한은 결정적인 네 장면 모두에 있었다</a:t>
            </a:r>
            <a:endParaRPr lang="en-US" sz="1900" dirty="0"/>
          </a:p>
        </p:txBody>
      </p:sp>
      <p:sp>
        <p:nvSpPr>
          <p:cNvPr id="17" name="card-0"/>
          <p:cNvSpPr/>
          <p:nvPr/>
        </p:nvSpPr>
        <p:spPr>
          <a:xfrm>
            <a:off x="685800" y="3968496"/>
            <a:ext cx="2526716" cy="16002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head"/>
          <p:cNvSpPr txBox="1"/>
          <p:nvPr/>
        </p:nvSpPr>
        <p:spPr>
          <a:xfrm>
            <a:off x="923544" y="4206240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예수님의 죽음</a:t>
            </a:r>
            <a:endParaRPr lang="en-US" sz="1700" dirty="0"/>
          </a:p>
        </p:txBody>
      </p:sp>
      <p:sp>
        <p:nvSpPr>
          <p:cNvPr id="19" name="card-0-body"/>
          <p:cNvSpPr txBox="1"/>
          <p:nvPr/>
        </p:nvSpPr>
        <p:spPr>
          <a:xfrm>
            <a:off x="923544" y="4551426"/>
            <a:ext cx="2051228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십자가 현장에서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어머니와 함께 목격 (19:26~27)</a:t>
            </a:r>
            <a:endParaRPr lang="en-US" sz="1350" dirty="0"/>
          </a:p>
        </p:txBody>
      </p:sp>
      <p:sp>
        <p:nvSpPr>
          <p:cNvPr id="20" name="card-1"/>
          <p:cNvSpPr/>
          <p:nvPr/>
        </p:nvSpPr>
        <p:spPr>
          <a:xfrm>
            <a:off x="3450260" y="3968496"/>
            <a:ext cx="2526716" cy="16002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1" name="card-1-head"/>
          <p:cNvSpPr txBox="1"/>
          <p:nvPr/>
        </p:nvSpPr>
        <p:spPr>
          <a:xfrm>
            <a:off x="3688004" y="4206240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빈 무덤</a:t>
            </a:r>
            <a:endParaRPr lang="en-US" sz="1700" dirty="0"/>
          </a:p>
        </p:txBody>
      </p:sp>
      <p:sp>
        <p:nvSpPr>
          <p:cNvPr id="22" name="card-1-body"/>
          <p:cNvSpPr txBox="1"/>
          <p:nvPr/>
        </p:nvSpPr>
        <p:spPr>
          <a:xfrm>
            <a:off x="3688004" y="4551426"/>
            <a:ext cx="2051228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부활 소식을 듣고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가장 먼저 빈 무덤에 도달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(20:3~8)</a:t>
            </a:r>
            <a:endParaRPr lang="en-US" sz="1350" dirty="0"/>
          </a:p>
        </p:txBody>
      </p:sp>
      <p:sp>
        <p:nvSpPr>
          <p:cNvPr id="23" name="card-2"/>
          <p:cNvSpPr/>
          <p:nvPr/>
        </p:nvSpPr>
        <p:spPr>
          <a:xfrm>
            <a:off x="6214720" y="3968496"/>
            <a:ext cx="2526716" cy="16002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2-head"/>
          <p:cNvSpPr txBox="1"/>
          <p:nvPr/>
        </p:nvSpPr>
        <p:spPr>
          <a:xfrm>
            <a:off x="6452464" y="4206240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부활하신 예수님</a:t>
            </a:r>
            <a:endParaRPr lang="en-US" sz="1700" dirty="0"/>
          </a:p>
        </p:txBody>
      </p:sp>
      <p:sp>
        <p:nvSpPr>
          <p:cNvPr id="25" name="card-2-body"/>
          <p:cNvSpPr txBox="1"/>
          <p:nvPr/>
        </p:nvSpPr>
        <p:spPr>
          <a:xfrm>
            <a:off x="6452464" y="4551426"/>
            <a:ext cx="2051228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부활하신 예수님을 만나고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알아본 제자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(20:19~20, 21:7)</a:t>
            </a:r>
            <a:endParaRPr lang="en-US" sz="1350" dirty="0"/>
          </a:p>
        </p:txBody>
      </p:sp>
      <p:sp>
        <p:nvSpPr>
          <p:cNvPr id="26" name="card-3"/>
          <p:cNvSpPr/>
          <p:nvPr/>
        </p:nvSpPr>
        <p:spPr>
          <a:xfrm>
            <a:off x="8979179" y="3968496"/>
            <a:ext cx="2526716" cy="16002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card-3-head"/>
          <p:cNvSpPr txBox="1"/>
          <p:nvPr/>
        </p:nvSpPr>
        <p:spPr>
          <a:xfrm>
            <a:off x="9216923" y="4206240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승천</a:t>
            </a:r>
            <a:endParaRPr lang="en-US" sz="1700" dirty="0"/>
          </a:p>
        </p:txBody>
      </p:sp>
      <p:sp>
        <p:nvSpPr>
          <p:cNvPr id="28" name="card-3-body"/>
          <p:cNvSpPr txBox="1"/>
          <p:nvPr/>
        </p:nvSpPr>
        <p:spPr>
          <a:xfrm>
            <a:off x="9216923" y="4551426"/>
            <a:ext cx="2051228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승천을 목격한 제자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(행 1:9~13)</a:t>
            </a:r>
            <a:endParaRPr lang="en-US" sz="1350" dirty="0"/>
          </a:p>
        </p:txBody>
      </p:sp>
      <p:sp>
        <p:nvSpPr>
          <p:cNvPr id="29" name="keyline"/>
          <p:cNvSpPr/>
          <p:nvPr/>
        </p:nvSpPr>
        <p:spPr>
          <a:xfrm>
            <a:off x="685800" y="5669280"/>
            <a:ext cx="10820095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</p:sp>
      <p:sp>
        <p:nvSpPr>
          <p:cNvPr id="30" name="keyline-text"/>
          <p:cNvSpPr txBox="1"/>
          <p:nvPr/>
        </p:nvSpPr>
        <p:spPr>
          <a:xfrm>
            <a:off x="960120" y="566928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요한은 예수님의 사역 초창기부터 함께하며 가장 많이 목격하고, 가장 가까이에서 섬긴 제자입니다</a:t>
            </a:r>
            <a:endParaRPr lang="en-US" sz="16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마. 요한의 사역 — 무엇을 증언했는가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13~17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572768"/>
            <a:ext cx="2526716" cy="246888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13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40864"/>
            <a:ext cx="20512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증언의 주된 내용</a:t>
            </a:r>
            <a:endParaRPr lang="en-US" sz="16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70048"/>
            <a:ext cx="2051228" cy="870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부활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(행 3:11~16, 4:2)</a:t>
            </a:r>
            <a:endParaRPr lang="en-US" sz="13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357682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베드로와 함께</a:t>
            </a:r>
            <a:endParaRPr lang="en-US" sz="1200" dirty="0"/>
          </a:p>
        </p:txBody>
      </p:sp>
      <p:sp>
        <p:nvSpPr>
          <p:cNvPr id="10" name="card-1"/>
          <p:cNvSpPr/>
          <p:nvPr/>
        </p:nvSpPr>
        <p:spPr>
          <a:xfrm>
            <a:off x="3450260" y="1572768"/>
            <a:ext cx="2526716" cy="246888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368800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368800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14</a:t>
            </a:r>
            <a:endParaRPr lang="en-US" sz="1300" dirty="0"/>
          </a:p>
        </p:txBody>
      </p:sp>
      <p:sp>
        <p:nvSpPr>
          <p:cNvPr id="13" name="card-1-head"/>
          <p:cNvSpPr txBox="1"/>
          <p:nvPr/>
        </p:nvSpPr>
        <p:spPr>
          <a:xfrm>
            <a:off x="3688004" y="2340864"/>
            <a:ext cx="20512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증언의 결과</a:t>
            </a:r>
            <a:endParaRPr lang="en-US" sz="1600" dirty="0"/>
          </a:p>
        </p:txBody>
      </p:sp>
      <p:sp>
        <p:nvSpPr>
          <p:cNvPr id="14" name="card-1-body"/>
          <p:cNvSpPr txBox="1"/>
          <p:nvPr/>
        </p:nvSpPr>
        <p:spPr>
          <a:xfrm>
            <a:off x="3688004" y="2670048"/>
            <a:ext cx="2051228" cy="870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핍박을 받음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옥에 갇히고 심문을 당함</a:t>
            </a:r>
            <a:endParaRPr lang="en-US" sz="1300" dirty="0"/>
          </a:p>
        </p:txBody>
      </p:sp>
      <p:sp>
        <p:nvSpPr>
          <p:cNvPr id="15" name="card-1-foot"/>
          <p:cNvSpPr txBox="1"/>
          <p:nvPr/>
        </p:nvSpPr>
        <p:spPr>
          <a:xfrm>
            <a:off x="3688004" y="357682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행 4:1~3</a:t>
            </a:r>
            <a:endParaRPr lang="en-US" sz="1200" dirty="0"/>
          </a:p>
        </p:txBody>
      </p:sp>
      <p:sp>
        <p:nvSpPr>
          <p:cNvPr id="16" name="card-2"/>
          <p:cNvSpPr/>
          <p:nvPr/>
        </p:nvSpPr>
        <p:spPr>
          <a:xfrm>
            <a:off x="6214720" y="1572768"/>
            <a:ext cx="2526716" cy="246888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645246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645246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15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6452464" y="2340864"/>
            <a:ext cx="20512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심문자들 앞에서</a:t>
            </a:r>
            <a:endParaRPr lang="en-US" sz="1600" dirty="0"/>
          </a:p>
        </p:txBody>
      </p:sp>
      <p:sp>
        <p:nvSpPr>
          <p:cNvPr id="20" name="card-2-body"/>
          <p:cNvSpPr txBox="1"/>
          <p:nvPr/>
        </p:nvSpPr>
        <p:spPr>
          <a:xfrm>
            <a:off x="6452464" y="2670048"/>
            <a:ext cx="2051228" cy="870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담대히 말함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학문 없는 범인으로 알았는데</a:t>
            </a:r>
            <a:endParaRPr lang="en-US" sz="1300" dirty="0"/>
          </a:p>
        </p:txBody>
      </p:sp>
      <p:sp>
        <p:nvSpPr>
          <p:cNvPr id="21" name="card-2-foot"/>
          <p:cNvSpPr txBox="1"/>
          <p:nvPr/>
        </p:nvSpPr>
        <p:spPr>
          <a:xfrm>
            <a:off x="6452464" y="357682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행 4:13</a:t>
            </a:r>
            <a:endParaRPr lang="en-US" sz="1200" dirty="0"/>
          </a:p>
        </p:txBody>
      </p:sp>
      <p:sp>
        <p:nvSpPr>
          <p:cNvPr id="22" name="card-3"/>
          <p:cNvSpPr/>
          <p:nvPr/>
        </p:nvSpPr>
        <p:spPr>
          <a:xfrm>
            <a:off x="8979179" y="1572768"/>
            <a:ext cx="2526716" cy="246888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3-badge"/>
          <p:cNvSpPr/>
          <p:nvPr/>
        </p:nvSpPr>
        <p:spPr>
          <a:xfrm>
            <a:off x="9216923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3-badge-text"/>
          <p:cNvSpPr txBox="1"/>
          <p:nvPr/>
        </p:nvSpPr>
        <p:spPr>
          <a:xfrm>
            <a:off x="9216923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16</a:t>
            </a:r>
            <a:endParaRPr lang="en-US" sz="1300" dirty="0"/>
          </a:p>
        </p:txBody>
      </p:sp>
      <p:sp>
        <p:nvSpPr>
          <p:cNvPr id="25" name="card-3-head"/>
          <p:cNvSpPr txBox="1"/>
          <p:nvPr/>
        </p:nvSpPr>
        <p:spPr>
          <a:xfrm>
            <a:off x="9216923" y="2340864"/>
            <a:ext cx="20512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금지 명령에 대한 대답</a:t>
            </a:r>
            <a:endParaRPr lang="en-US" sz="1600" dirty="0"/>
          </a:p>
        </p:txBody>
      </p:sp>
      <p:sp>
        <p:nvSpPr>
          <p:cNvPr id="26" name="card-3-body"/>
          <p:cNvSpPr txBox="1"/>
          <p:nvPr/>
        </p:nvSpPr>
        <p:spPr>
          <a:xfrm>
            <a:off x="9216923" y="2670048"/>
            <a:ext cx="2051228" cy="870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“하나님 앞에서 너희의 말을 듣는 것이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하나님의 말씀을 듣는 것보다 옳은가 판단하라”</a:t>
            </a:r>
            <a:endParaRPr lang="en-US" sz="1300" dirty="0"/>
          </a:p>
        </p:txBody>
      </p:sp>
      <p:sp>
        <p:nvSpPr>
          <p:cNvPr id="27" name="card-3-foot"/>
          <p:cNvSpPr txBox="1"/>
          <p:nvPr/>
        </p:nvSpPr>
        <p:spPr>
          <a:xfrm>
            <a:off x="9216923" y="357682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행 4:19~20</a:t>
            </a:r>
            <a:endParaRPr lang="en-US" sz="1200" dirty="0"/>
          </a:p>
        </p:txBody>
      </p:sp>
      <p:sp>
        <p:nvSpPr>
          <p:cNvPr id="28" name="subhead-badge"/>
          <p:cNvSpPr/>
          <p:nvPr/>
        </p:nvSpPr>
        <p:spPr>
          <a:xfrm>
            <a:off x="685800" y="4233672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subhead-badge-text"/>
          <p:cNvSpPr txBox="1"/>
          <p:nvPr/>
        </p:nvSpPr>
        <p:spPr>
          <a:xfrm>
            <a:off x="685800" y="4233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17</a:t>
            </a:r>
            <a:endParaRPr lang="en-US" sz="1400" dirty="0"/>
          </a:p>
        </p:txBody>
      </p:sp>
      <p:sp>
        <p:nvSpPr>
          <p:cNvPr id="30" name="subhead-text"/>
          <p:cNvSpPr txBox="1"/>
          <p:nvPr/>
        </p:nvSpPr>
        <p:spPr>
          <a:xfrm>
            <a:off x="1161288" y="4224528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이 모든 일이 그들이 목격한 것에 대해 무엇을 말해 주는가</a:t>
            </a:r>
            <a:endParaRPr lang="en-US" sz="1900" dirty="0"/>
          </a:p>
        </p:txBody>
      </p:sp>
      <p:sp>
        <p:nvSpPr>
          <p:cNvPr id="31" name="bullets"/>
          <p:cNvSpPr txBox="1"/>
          <p:nvPr/>
        </p:nvSpPr>
        <p:spPr>
          <a:xfrm>
            <a:off x="685800" y="4754880"/>
            <a:ext cx="108200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그 증언이 ‘진실’이라는 것</a:t>
            </a:r>
            <a:endParaRPr lang="en-US" sz="160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요한은 자신이 목격한 것을 전했고 기록했으며, 그것 때문에 해받는 것을 기꺼이 감수했다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거짓을 위해 목숨을 걸 사람은 없다</a:t>
            </a:r>
            <a:endParaRPr lang="en-US" sz="160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핍박을 감수한 증언은, 그가 전하고 기록한 것이 진실임을 보여주는 객관적인 증거다</a:t>
            </a:r>
            <a:endParaRPr lang="en-US" sz="16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무엇이 요한을 담대하게 만들었는가</a:t>
            </a:r>
            <a:endParaRPr lang="en-US" sz="32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737360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3600" i="1" dirty="0">
                <a:solidFill>
                  <a:schemeClr val="bg1"/>
                </a:solidFill>
              </a:rPr>
              <a:t>“우리는 보고 들은 것을 말하지 아니할 수 없다”</a:t>
            </a:r>
            <a:endParaRPr lang="en-US" sz="36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34381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사도행전 4:20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4114800"/>
            <a:ext cx="10820095" cy="1188720"/>
          </a:xfrm>
          <a:prstGeom prst="roundRect">
            <a:avLst>
              <a:gd name="adj" fmla="val 7692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4114800"/>
            <a:ext cx="102714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직접 보았기 때문입니다.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요한복음은 추론이나 전해 들은 이야기가 아니라, 목격자가 목숨을 걸고 남긴 기록입니다.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그래서 우리는 이 책을 ‘증언’이라고 부릅니다.</a:t>
            </a:r>
            <a:endParaRPr lang="en-US" sz="18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바. 기록목적 — 요한이 밝힌 두 가지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18~21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499616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373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267712"/>
            <a:ext cx="481568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믿게 하려 함</a:t>
            </a:r>
            <a:endParaRPr lang="en-US" sz="19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44902"/>
            <a:ext cx="48156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예수님이 하나님의 아들이시며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그리스도이심을 믿게 하기 위해 (20:31, cf. 마 16:16)</a:t>
            </a:r>
            <a:endParaRPr lang="en-US" sz="1400" dirty="0"/>
          </a:p>
        </p:txBody>
      </p:sp>
      <p:sp>
        <p:nvSpPr>
          <p:cNvPr id="9" name="card-1"/>
          <p:cNvSpPr/>
          <p:nvPr/>
        </p:nvSpPr>
        <p:spPr>
          <a:xfrm>
            <a:off x="6214720" y="1499616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7373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267712"/>
            <a:ext cx="481568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생명을 얻게 하려 함</a:t>
            </a:r>
            <a:endParaRPr lang="en-US" sz="19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644902"/>
            <a:ext cx="48156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믿고 그 이름을 힘입어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생명을 얻게 하기 위해</a:t>
            </a:r>
            <a:endParaRPr lang="en-US" sz="14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342900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3429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뜻</a:t>
            </a:r>
            <a:endParaRPr lang="en-US" sz="14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161288" y="3419856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그러면 이 말들은 각각 무슨 뜻인가</a:t>
            </a:r>
            <a:endParaRPr lang="en-US" sz="1900" dirty="0"/>
          </a:p>
        </p:txBody>
      </p:sp>
      <p:sp>
        <p:nvSpPr>
          <p:cNvPr id="17" name="card-0"/>
          <p:cNvSpPr/>
          <p:nvPr/>
        </p:nvSpPr>
        <p:spPr>
          <a:xfrm>
            <a:off x="685800" y="3858768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badge"/>
          <p:cNvSpPr/>
          <p:nvPr/>
        </p:nvSpPr>
        <p:spPr>
          <a:xfrm>
            <a:off x="923544" y="4096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card-0-badge-text"/>
          <p:cNvSpPr txBox="1"/>
          <p:nvPr/>
        </p:nvSpPr>
        <p:spPr>
          <a:xfrm>
            <a:off x="923544" y="4096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19</a:t>
            </a:r>
            <a:endParaRPr lang="en-US" sz="1300" dirty="0"/>
          </a:p>
        </p:txBody>
      </p:sp>
      <p:sp>
        <p:nvSpPr>
          <p:cNvPr id="20" name="card-0-head"/>
          <p:cNvSpPr txBox="1"/>
          <p:nvPr/>
        </p:nvSpPr>
        <p:spPr>
          <a:xfrm>
            <a:off x="923544" y="4626864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하나님의 아들이란?</a:t>
            </a:r>
            <a:endParaRPr lang="en-US" sz="1700" dirty="0"/>
          </a:p>
        </p:txBody>
      </p:sp>
      <p:sp>
        <p:nvSpPr>
          <p:cNvPr id="21" name="card-0-body"/>
          <p:cNvSpPr txBox="1"/>
          <p:nvPr/>
        </p:nvSpPr>
        <p:spPr>
          <a:xfrm>
            <a:off x="923544" y="4972050"/>
            <a:ext cx="2972714" cy="660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하나님과 동일한 본성을 지니셨다는 뜻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피조물이 아니라 하나님 자신이시다</a:t>
            </a:r>
            <a:endParaRPr lang="en-US" sz="1400" dirty="0"/>
          </a:p>
        </p:txBody>
      </p:sp>
      <p:sp>
        <p:nvSpPr>
          <p:cNvPr id="22" name="card-1"/>
          <p:cNvSpPr/>
          <p:nvPr/>
        </p:nvSpPr>
        <p:spPr>
          <a:xfrm>
            <a:off x="4371746" y="3858768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1-badge"/>
          <p:cNvSpPr/>
          <p:nvPr/>
        </p:nvSpPr>
        <p:spPr>
          <a:xfrm>
            <a:off x="4609490" y="4096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1-badge-text"/>
          <p:cNvSpPr txBox="1"/>
          <p:nvPr/>
        </p:nvSpPr>
        <p:spPr>
          <a:xfrm>
            <a:off x="4609490" y="4096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20</a:t>
            </a:r>
            <a:endParaRPr lang="en-US" sz="1300" dirty="0"/>
          </a:p>
        </p:txBody>
      </p:sp>
      <p:sp>
        <p:nvSpPr>
          <p:cNvPr id="25" name="card-1-head"/>
          <p:cNvSpPr txBox="1"/>
          <p:nvPr/>
        </p:nvSpPr>
        <p:spPr>
          <a:xfrm>
            <a:off x="4609490" y="4626864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그리스도란?</a:t>
            </a:r>
            <a:endParaRPr lang="en-US" sz="1700" dirty="0"/>
          </a:p>
        </p:txBody>
      </p:sp>
      <p:sp>
        <p:nvSpPr>
          <p:cNvPr id="26" name="card-1-body"/>
          <p:cNvSpPr txBox="1"/>
          <p:nvPr/>
        </p:nvSpPr>
        <p:spPr>
          <a:xfrm>
            <a:off x="4609490" y="4972050"/>
            <a:ext cx="2972714" cy="660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‘기름부음을 받은 자’ (메시야)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왕 · 제사장 · 선지자로 세우심을 받은 분</a:t>
            </a:r>
            <a:endParaRPr lang="en-US" sz="1400" dirty="0"/>
          </a:p>
        </p:txBody>
      </p:sp>
      <p:sp>
        <p:nvSpPr>
          <p:cNvPr id="27" name="card-2"/>
          <p:cNvSpPr/>
          <p:nvPr/>
        </p:nvSpPr>
        <p:spPr>
          <a:xfrm>
            <a:off x="8057693" y="3858768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2-badge"/>
          <p:cNvSpPr/>
          <p:nvPr/>
        </p:nvSpPr>
        <p:spPr>
          <a:xfrm>
            <a:off x="8295437" y="4096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2-badge-text"/>
          <p:cNvSpPr txBox="1"/>
          <p:nvPr/>
        </p:nvSpPr>
        <p:spPr>
          <a:xfrm>
            <a:off x="8295437" y="4096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21</a:t>
            </a:r>
            <a:endParaRPr lang="en-US" sz="1300" dirty="0"/>
          </a:p>
        </p:txBody>
      </p:sp>
      <p:sp>
        <p:nvSpPr>
          <p:cNvPr id="30" name="card-2-head"/>
          <p:cNvSpPr txBox="1"/>
          <p:nvPr/>
        </p:nvSpPr>
        <p:spPr>
          <a:xfrm>
            <a:off x="8295437" y="4626864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그리스도로 믿는다는 것은?</a:t>
            </a:r>
            <a:endParaRPr lang="en-US" sz="1700" dirty="0"/>
          </a:p>
        </p:txBody>
      </p:sp>
      <p:sp>
        <p:nvSpPr>
          <p:cNvPr id="31" name="card-2-body"/>
          <p:cNvSpPr txBox="1"/>
          <p:nvPr/>
        </p:nvSpPr>
        <p:spPr>
          <a:xfrm>
            <a:off x="8295437" y="4972050"/>
            <a:ext cx="2972714" cy="660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그분을 하나님의 아들로 믿는 것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죄 사함 · 구원 · 하나님의 자녀가 됨</a:t>
            </a:r>
            <a:endParaRPr lang="en-US" sz="1400" dirty="0"/>
          </a:p>
        </p:txBody>
      </p:sp>
      <p:sp>
        <p:nvSpPr>
          <p:cNvPr id="32" name="note"/>
          <p:cNvSpPr txBox="1"/>
          <p:nvPr/>
        </p:nvSpPr>
        <p:spPr>
          <a:xfrm>
            <a:off x="685800" y="594360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여기까지가 요한복음을 공부할 준비입니다 — 예수님을 더 잘 알고, 은혜로 얻은 생명의 소중함을 깨닫게 됩니다.</a:t>
            </a:r>
            <a:endParaRPr lang="en-US" sz="1400" dirty="0"/>
          </a:p>
        </p:txBody>
      </p:sp>
      <p:sp>
        <p:nvSpPr>
          <p:cNvPr id="3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Q4 · Q5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요한을 알고 나니 무엇이 달라졌습니까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요한이나 요한복음에 대해 새롭게 알게 된 것은 무엇입니까?</a:t>
            </a:r>
            <a:endParaRPr lang="en-US" sz="1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특히 ‘요한의 변화’를 보며 나에게 드는 생각은 무엇인가요?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그렇다면 나도 변할 수 있지 않을까요?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621472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“예수가 하나님의 아들 그리스도시다” — 당신은 이것을 어떻게 받아들입니까?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머리로만 아는 지식입니까, 삶을 움직이는 고백입니까?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내 입으로 한 문장으로 표현해 봅시다.</a:t>
            </a:r>
            <a:endParaRPr lang="en-US" sz="1500" dirty="0"/>
          </a:p>
        </p:txBody>
      </p:sp>
      <p:sp>
        <p:nvSpPr>
          <p:cNvPr id="14" name="guide"/>
          <p:cNvSpPr txBox="1"/>
          <p:nvPr/>
        </p:nvSpPr>
        <p:spPr>
          <a:xfrm>
            <a:off x="685800" y="53583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조별 나눔 8분 → 전체 나눔 2명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하나님에 대한 증언이신 예수님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요한복음 1:1~18   ·   창조주 · 인도자 · 하나님이신 예수님</a:t>
            </a:r>
            <a:endParaRPr lang="en-US" sz="17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요한복음 1:1~3</a:t>
            </a:r>
            <a:endParaRPr lang="en-US" sz="32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645920"/>
            <a:ext cx="10789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600" i="1" dirty="0">
                <a:solidFill>
                  <a:schemeClr val="bg1"/>
                </a:solidFill>
              </a:rPr>
              <a:t>“태초에 말씀이 계시니라 이 말씀이 하나님과 함께 계셨으니 이 말씀은 곧 하나님이시니라 그가 태초에 하나님과 함께 계셨고 만물이 그로 말미암아 지은 바 되었으니 지은 것이 하나도 그가 없이는 된 것이 없느니라”</a:t>
            </a:r>
            <a:endParaRPr lang="en-US" sz="26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43525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1:1~3 (개역개정)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4956048"/>
            <a:ext cx="10820095" cy="768096"/>
          </a:xfrm>
          <a:prstGeom prst="roundRect">
            <a:avLst>
              <a:gd name="adj" fmla="val 11905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4956048"/>
            <a:ext cx="1027145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족보도, 출생도, 배경도 없이 — 요한은 ‘태초’에서 시작합니다</a:t>
            </a:r>
            <a:endParaRPr lang="en-US" sz="19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가. 창조주이신 예수님 (1:1~3)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22~28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499616"/>
            <a:ext cx="5852160" cy="17830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373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22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267712"/>
            <a:ext cx="5376672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1절과 14절의 ‘말씀’은 누구를 가리키나</a:t>
            </a:r>
            <a:endParaRPr lang="en-US" sz="17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12898"/>
            <a:ext cx="5376672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14절 “말씀이 육신이 되어”가 이를 확정한다</a:t>
            </a:r>
            <a:endParaRPr lang="en-US" sz="1400" dirty="0"/>
          </a:p>
        </p:txBody>
      </p:sp>
      <p:sp>
        <p:nvSpPr>
          <p:cNvPr id="9" name="scripture-text"/>
          <p:cNvSpPr txBox="1"/>
          <p:nvPr/>
        </p:nvSpPr>
        <p:spPr>
          <a:xfrm>
            <a:off x="6766560" y="1499616"/>
            <a:ext cx="47365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500" i="1" dirty="0">
                <a:solidFill>
                  <a:schemeClr val="tx1"/>
                </a:solidFill>
              </a:rPr>
              <a:t>“태초부터 있는 생명의 말씀에 관하여는 우리가 들은 바요 눈으로 본 바요 자세히 보고 우리의 손으로 만진 바라”</a:t>
            </a:r>
            <a:endParaRPr lang="en-US" sz="1500" dirty="0"/>
          </a:p>
        </p:txBody>
      </p:sp>
      <p:sp>
        <p:nvSpPr>
          <p:cNvPr id="10" name="scripture-ref"/>
          <p:cNvSpPr txBox="1"/>
          <p:nvPr/>
        </p:nvSpPr>
        <p:spPr>
          <a:xfrm>
            <a:off x="6766560" y="288036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요한일서 1:1 — 같은 저자의 같은 어법</a:t>
            </a:r>
            <a:endParaRPr lang="en-US" sz="1500" dirty="0"/>
          </a:p>
        </p:txBody>
      </p:sp>
      <p:sp>
        <p:nvSpPr>
          <p:cNvPr id="11" name="subhead-badge"/>
          <p:cNvSpPr/>
          <p:nvPr/>
        </p:nvSpPr>
        <p:spPr>
          <a:xfrm>
            <a:off x="685800" y="3392424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ubhead-badge-text"/>
          <p:cNvSpPr txBox="1"/>
          <p:nvPr/>
        </p:nvSpPr>
        <p:spPr>
          <a:xfrm>
            <a:off x="685800" y="3392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23</a:t>
            </a:r>
            <a:endParaRPr lang="en-US" sz="1400" dirty="0"/>
          </a:p>
        </p:txBody>
      </p:sp>
      <p:sp>
        <p:nvSpPr>
          <p:cNvPr id="13" name="subhead-text"/>
          <p:cNvSpPr txBox="1"/>
          <p:nvPr/>
        </p:nvSpPr>
        <p:spPr>
          <a:xfrm>
            <a:off x="1161288" y="3383280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왜 예수님을 ‘말씀(로고스)’이라 묘사했는가</a:t>
            </a:r>
            <a:endParaRPr lang="en-US" sz="1900" dirty="0"/>
          </a:p>
        </p:txBody>
      </p:sp>
      <p:sp>
        <p:nvSpPr>
          <p:cNvPr id="14" name="card-0"/>
          <p:cNvSpPr/>
          <p:nvPr/>
        </p:nvSpPr>
        <p:spPr>
          <a:xfrm>
            <a:off x="685800" y="3822192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0-head"/>
          <p:cNvSpPr txBox="1"/>
          <p:nvPr/>
        </p:nvSpPr>
        <p:spPr>
          <a:xfrm>
            <a:off x="923544" y="4059936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하나님을 알려주시기 때문</a:t>
            </a:r>
            <a:endParaRPr lang="en-US" sz="1600" dirty="0"/>
          </a:p>
        </p:txBody>
      </p:sp>
      <p:sp>
        <p:nvSpPr>
          <p:cNvPr id="16" name="card-0-body"/>
          <p:cNvSpPr txBox="1"/>
          <p:nvPr/>
        </p:nvSpPr>
        <p:spPr>
          <a:xfrm>
            <a:off x="923544" y="4389120"/>
            <a:ext cx="297271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우리는 하나님에 대한 개념을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예수님을 통해서 얻는다.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예수님은 ‘하나님에 대한 말씀’이다.</a:t>
            </a:r>
            <a:endParaRPr lang="en-US" sz="1350" dirty="0"/>
          </a:p>
        </p:txBody>
      </p:sp>
      <p:sp>
        <p:nvSpPr>
          <p:cNvPr id="17" name="card-1"/>
          <p:cNvSpPr/>
          <p:nvPr/>
        </p:nvSpPr>
        <p:spPr>
          <a:xfrm>
            <a:off x="4371746" y="3822192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1-head"/>
          <p:cNvSpPr txBox="1"/>
          <p:nvPr/>
        </p:nvSpPr>
        <p:spPr>
          <a:xfrm>
            <a:off x="4609490" y="4059936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하나님이 먼저 행동하셨기 때문</a:t>
            </a:r>
            <a:endParaRPr lang="en-US" sz="1600" dirty="0"/>
          </a:p>
        </p:txBody>
      </p:sp>
      <p:sp>
        <p:nvSpPr>
          <p:cNvPr id="19" name="card-1-body"/>
          <p:cNvSpPr txBox="1"/>
          <p:nvPr/>
        </p:nvSpPr>
        <p:spPr>
          <a:xfrm>
            <a:off x="4609490" y="4389120"/>
            <a:ext cx="297271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우리 편에서 하나님을 만나는 것은 불가능하다.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그래서 하나님께서 먼저 말씀을 주셨다.</a:t>
            </a:r>
            <a:endParaRPr lang="en-US" sz="1350" dirty="0"/>
          </a:p>
        </p:txBody>
      </p:sp>
      <p:sp>
        <p:nvSpPr>
          <p:cNvPr id="20" name="card-2"/>
          <p:cNvSpPr/>
          <p:nvPr/>
        </p:nvSpPr>
        <p:spPr>
          <a:xfrm>
            <a:off x="8057693" y="3822192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1" name="card-2-head"/>
          <p:cNvSpPr txBox="1"/>
          <p:nvPr/>
        </p:nvSpPr>
        <p:spPr>
          <a:xfrm>
            <a:off x="8295437" y="4059936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하나님을 떠오르게 하시기 때문</a:t>
            </a:r>
            <a:endParaRPr lang="en-US" sz="1600" dirty="0"/>
          </a:p>
        </p:txBody>
      </p:sp>
      <p:sp>
        <p:nvSpPr>
          <p:cNvPr id="22" name="card-2-body"/>
          <p:cNvSpPr txBox="1"/>
          <p:nvPr/>
        </p:nvSpPr>
        <p:spPr>
          <a:xfrm>
            <a:off x="8295437" y="4389120"/>
            <a:ext cx="297271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말씀을 들으면 말하는 분이 떠오른다.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우리는 예수님을 통해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초월해 계신 하나님을 만난다.</a:t>
            </a:r>
            <a:endParaRPr lang="en-US" sz="1350" dirty="0"/>
          </a:p>
        </p:txBody>
      </p:sp>
      <p:sp>
        <p:nvSpPr>
          <p:cNvPr id="23" name="keyline"/>
          <p:cNvSpPr/>
          <p:nvPr/>
        </p:nvSpPr>
        <p:spPr>
          <a:xfrm>
            <a:off x="685800" y="5650992"/>
            <a:ext cx="10820095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</p:sp>
      <p:sp>
        <p:nvSpPr>
          <p:cNvPr id="24" name="keyline-text"/>
          <p:cNvSpPr txBox="1"/>
          <p:nvPr/>
        </p:nvSpPr>
        <p:spPr>
          <a:xfrm>
            <a:off x="960120" y="5650992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말씀 = 하나님을 설명하는 가장 정확한 단어. 예수님을 보면 하나님이 보입니다 (14:9)</a:t>
            </a:r>
            <a:endParaRPr lang="en-US" sz="1600" dirty="0"/>
          </a:p>
        </p:txBody>
      </p:sp>
      <p:sp>
        <p:nvSpPr>
          <p:cNvPr id="25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1절을 세 마디로 끊어 읽기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36192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27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04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태초에 말씀이 계시니라</a:t>
            </a:r>
            <a:endParaRPr lang="en-US" sz="17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649474"/>
            <a:ext cx="2972714" cy="488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시간 밖에 계신 분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예수님은 영원하신 분</a:t>
            </a:r>
            <a:endParaRPr lang="en-US" sz="14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174492"/>
            <a:ext cx="2972714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질문 27 · 모습 ①</a:t>
            </a:r>
            <a:endParaRPr lang="en-US" sz="1200" dirty="0"/>
          </a:p>
        </p:txBody>
      </p:sp>
      <p:sp>
        <p:nvSpPr>
          <p:cNvPr id="9" name="card-1"/>
          <p:cNvSpPr/>
          <p:nvPr/>
        </p:nvSpPr>
        <p:spPr>
          <a:xfrm>
            <a:off x="4371746" y="1536192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24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2304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하나님과 함께 계셨으니</a:t>
            </a:r>
            <a:endParaRPr lang="en-US" sz="17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2649474"/>
            <a:ext cx="2972714" cy="488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두 분은 함께 계셨다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구분된 인격, 친밀한 관계</a:t>
            </a:r>
            <a:endParaRPr lang="en-US" sz="1400" dirty="0"/>
          </a:p>
        </p:txBody>
      </p:sp>
      <p:sp>
        <p:nvSpPr>
          <p:cNvPr id="14" name="card-1-foot"/>
          <p:cNvSpPr txBox="1"/>
          <p:nvPr/>
        </p:nvSpPr>
        <p:spPr>
          <a:xfrm>
            <a:off x="4609490" y="3174492"/>
            <a:ext cx="2972714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질문 24</a:t>
            </a:r>
            <a:endParaRPr lang="en-US" sz="1200" dirty="0"/>
          </a:p>
        </p:txBody>
      </p:sp>
      <p:sp>
        <p:nvSpPr>
          <p:cNvPr id="15" name="card-2"/>
          <p:cNvSpPr/>
          <p:nvPr/>
        </p:nvSpPr>
        <p:spPr>
          <a:xfrm>
            <a:off x="8057693" y="1536192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8295437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8295437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25</a:t>
            </a:r>
            <a:endParaRPr lang="en-US" sz="1300" dirty="0"/>
          </a:p>
        </p:txBody>
      </p:sp>
      <p:sp>
        <p:nvSpPr>
          <p:cNvPr id="18" name="card-2-head"/>
          <p:cNvSpPr txBox="1"/>
          <p:nvPr/>
        </p:nvSpPr>
        <p:spPr>
          <a:xfrm>
            <a:off x="8295437" y="2304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이 말씀은 곧 하나님이시니라</a:t>
            </a:r>
            <a:endParaRPr lang="en-US" sz="1700" dirty="0"/>
          </a:p>
        </p:txBody>
      </p:sp>
      <p:sp>
        <p:nvSpPr>
          <p:cNvPr id="19" name="card-2-body"/>
          <p:cNvSpPr txBox="1"/>
          <p:nvPr/>
        </p:nvSpPr>
        <p:spPr>
          <a:xfrm>
            <a:off x="8295437" y="2649474"/>
            <a:ext cx="2972714" cy="488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예수님은 곧 하나님이시다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동일한 본질</a:t>
            </a:r>
            <a:endParaRPr lang="en-US" sz="1400" dirty="0"/>
          </a:p>
        </p:txBody>
      </p:sp>
      <p:sp>
        <p:nvSpPr>
          <p:cNvPr id="20" name="card-2-foot"/>
          <p:cNvSpPr txBox="1"/>
          <p:nvPr/>
        </p:nvSpPr>
        <p:spPr>
          <a:xfrm>
            <a:off x="8295437" y="3174492"/>
            <a:ext cx="2972714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질문 25</a:t>
            </a:r>
            <a:endParaRPr lang="en-US" sz="1200" dirty="0"/>
          </a:p>
        </p:txBody>
      </p:sp>
      <p:sp>
        <p:nvSpPr>
          <p:cNvPr id="21" name="subhead-badge"/>
          <p:cNvSpPr/>
          <p:nvPr/>
        </p:nvSpPr>
        <p:spPr>
          <a:xfrm>
            <a:off x="685800" y="370332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ubhead-badge-text"/>
          <p:cNvSpPr txBox="1"/>
          <p:nvPr/>
        </p:nvSpPr>
        <p:spPr>
          <a:xfrm>
            <a:off x="685800" y="3703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26</a:t>
            </a:r>
            <a:endParaRPr lang="en-US" sz="1400" dirty="0"/>
          </a:p>
        </p:txBody>
      </p:sp>
      <p:sp>
        <p:nvSpPr>
          <p:cNvPr id="23" name="subhead-text"/>
          <p:cNvSpPr txBox="1"/>
          <p:nvPr/>
        </p:nvSpPr>
        <p:spPr>
          <a:xfrm>
            <a:off x="1161288" y="3694176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어떻게 하나님과 ‘함께’ 계시면서 동시에 ‘하나님’이실 수 있는가 — 삼위일체(Trinity)</a:t>
            </a:r>
            <a:endParaRPr lang="en-US" sz="1900" dirty="0"/>
          </a:p>
        </p:txBody>
      </p:sp>
      <p:sp>
        <p:nvSpPr>
          <p:cNvPr id="24" name="cmp-0"/>
          <p:cNvSpPr/>
          <p:nvPr/>
        </p:nvSpPr>
        <p:spPr>
          <a:xfrm>
            <a:off x="685800" y="4096512"/>
            <a:ext cx="5272888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5" name="cmp-0-head"/>
          <p:cNvSpPr txBox="1"/>
          <p:nvPr/>
        </p:nvSpPr>
        <p:spPr>
          <a:xfrm>
            <a:off x="960120" y="433425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동일한 본질 (Essence)</a:t>
            </a:r>
            <a:endParaRPr lang="en-US" sz="2000" dirty="0"/>
          </a:p>
        </p:txBody>
      </p:sp>
      <p:sp>
        <p:nvSpPr>
          <p:cNvPr id="26" name="cmp-0-items"/>
          <p:cNvSpPr txBox="1"/>
          <p:nvPr/>
        </p:nvSpPr>
        <p:spPr>
          <a:xfrm>
            <a:off x="960120" y="4882896"/>
            <a:ext cx="472424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성부 · 성자 · 성령은 한 하나님이시다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본질에서 나뉘지 않는다 — “나와 아버지는 하나이니라” (10:30)</a:t>
            </a:r>
            <a:endParaRPr lang="en-US" sz="1500" dirty="0"/>
          </a:p>
        </p:txBody>
      </p:sp>
      <p:sp>
        <p:nvSpPr>
          <p:cNvPr id="27" name="cmp-1"/>
          <p:cNvSpPr/>
          <p:nvPr/>
        </p:nvSpPr>
        <p:spPr>
          <a:xfrm>
            <a:off x="6233008" y="4096512"/>
            <a:ext cx="5272888" cy="2011680"/>
          </a:xfrm>
          <a:prstGeom prst="roundRect">
            <a:avLst>
              <a:gd name="adj" fmla="val 272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mp-1-head"/>
          <p:cNvSpPr txBox="1"/>
          <p:nvPr/>
        </p:nvSpPr>
        <p:spPr>
          <a:xfrm>
            <a:off x="6507328" y="433425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구분된 위격 (Person)</a:t>
            </a:r>
            <a:endParaRPr lang="en-US" sz="2000" dirty="0"/>
          </a:p>
        </p:txBody>
      </p:sp>
      <p:sp>
        <p:nvSpPr>
          <p:cNvPr id="29" name="cmp-1-items"/>
          <p:cNvSpPr txBox="1"/>
          <p:nvPr/>
        </p:nvSpPr>
        <p:spPr>
          <a:xfrm>
            <a:off x="6507328" y="4882896"/>
            <a:ext cx="472424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세 분은 인격으로 구분되신다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아버지와 아들은 서로 사랑하고 대화하신다 (17장)</a:t>
            </a:r>
            <a:endParaRPr lang="en-US" sz="15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1:1~3이 보여주는 예수님의 두 모습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5291176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①</a:t>
            </a:r>
            <a:endParaRPr lang="en-US" sz="16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14016"/>
            <a:ext cx="4815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영원하신 분</a:t>
            </a:r>
            <a:endParaRPr lang="en-US" sz="24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71216"/>
            <a:ext cx="481568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“태초에 말씀이 계시니라”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창조 이전부터 계셨다.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시작도 끝도 없으시다.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요한복음에는 예수님의 족보도, 출생 기사도 없다 — 영원에서 물질 세계로 들어오신 분이기 때문이다.</a:t>
            </a:r>
            <a:endParaRPr lang="en-US" sz="1500" dirty="0"/>
          </a:p>
        </p:txBody>
      </p:sp>
      <p:sp>
        <p:nvSpPr>
          <p:cNvPr id="8" name="card-1"/>
          <p:cNvSpPr/>
          <p:nvPr/>
        </p:nvSpPr>
        <p:spPr>
          <a:xfrm>
            <a:off x="6214720" y="1572768"/>
            <a:ext cx="5291176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6452464" y="181051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6452464" y="1810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②</a:t>
            </a:r>
            <a:endParaRPr lang="en-US" sz="1600" dirty="0"/>
          </a:p>
        </p:txBody>
      </p:sp>
      <p:sp>
        <p:nvSpPr>
          <p:cNvPr id="11" name="card-1-head"/>
          <p:cNvSpPr txBox="1"/>
          <p:nvPr/>
        </p:nvSpPr>
        <p:spPr>
          <a:xfrm>
            <a:off x="6452464" y="2414016"/>
            <a:ext cx="4815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창조주</a:t>
            </a:r>
            <a:endParaRPr lang="en-US" sz="2400" dirty="0"/>
          </a:p>
        </p:txBody>
      </p:sp>
      <p:sp>
        <p:nvSpPr>
          <p:cNvPr id="12" name="card-1-body"/>
          <p:cNvSpPr txBox="1"/>
          <p:nvPr/>
        </p:nvSpPr>
        <p:spPr>
          <a:xfrm>
            <a:off x="6452464" y="2871216"/>
            <a:ext cx="481568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“만물이 그로 말미암아 지은 바 되었으니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지은 것이 하나도 그가 없이는 된 것이 없느니라” (3절)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창세기 1장의 “하나님이 말씀하시니…”와 연결된다.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cf. 골 1:15~17 — 만물이 그에게서 창조되고 그로 말미암아 함께 섰다.</a:t>
            </a:r>
            <a:endParaRPr lang="en-US" sz="1500" dirty="0"/>
          </a:p>
        </p:txBody>
      </p:sp>
      <p:sp>
        <p:nvSpPr>
          <p:cNvPr id="13" name="keyline"/>
          <p:cNvSpPr/>
          <p:nvPr/>
        </p:nvSpPr>
        <p:spPr>
          <a:xfrm>
            <a:off x="685800" y="5029200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4" name="keyline-text"/>
          <p:cNvSpPr txBox="1"/>
          <p:nvPr/>
        </p:nvSpPr>
        <p:spPr>
          <a:xfrm>
            <a:off x="960120" y="502920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나를 지으신 분이 나를 구원하러 오셨습니다.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창조주가 피조물을 가장 잘 아십니다 — 내가 나를 아는 것보다 더 잘.</a:t>
            </a:r>
            <a:endParaRPr lang="en-US" sz="18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예수님이 나의 창조주라는 사실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어떤 영향을 주는가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예수님이 창조주시라는 사실이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내 삶에 주는 영향은 무엇인가요?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(예: 위안 · 모든 것을 맡길 수 있음)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4371746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왜 창조하셨을까</a:t>
            </a:r>
            <a:endParaRPr lang="en-US" sz="20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특정한 목적이 있었을까요?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→ 우리와 교제하기 위해</a:t>
            </a:r>
            <a:endParaRPr lang="en-US" sz="1500" dirty="0"/>
          </a:p>
        </p:txBody>
      </p:sp>
      <p:sp>
        <p:nvSpPr>
          <p:cNvPr id="14" name="card-2"/>
          <p:cNvSpPr/>
          <p:nvPr/>
        </p:nvSpPr>
        <p:spPr>
          <a:xfrm>
            <a:off x="8057693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얼마나 아시는가</a:t>
            </a:r>
            <a:endParaRPr lang="en-US" sz="20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그분은 우리를 얼마나 아실까요?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내가 나를 아는 것보다 더 잘 아실까요?</a:t>
            </a:r>
            <a:endParaRPr lang="en-US" sz="15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285232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창조는 ‘소유’가 아니라 ‘관계’를 위한 일이었습니다.</a:t>
            </a:r>
            <a:endParaRPr lang="en-US" sz="15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요한복음 1:4~5</a:t>
            </a:r>
            <a:endParaRPr lang="en-US" sz="32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783080"/>
            <a:ext cx="10789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3000" i="1" dirty="0">
                <a:solidFill>
                  <a:schemeClr val="bg1"/>
                </a:solidFill>
              </a:rPr>
              <a:t>“그 안에 생명이 있었으니 이 생명은 사람들의 빛이라 빛이 어둠에 비치되 어둠이 깨닫지 못하더라”</a:t>
            </a:r>
            <a:endParaRPr lang="en-US" sz="30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375818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1:4~5 (개역개정)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4480560"/>
            <a:ext cx="10820095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4480560"/>
            <a:ext cx="10271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생명 → 빛 → 어둠.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요한복음의 모든 대조(빛/어둠, 영/육, 진리/거짓, 자유/종)가 여기서 시작됩니다.</a:t>
            </a:r>
            <a:endParaRPr lang="en-US" sz="19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나. 인도자이신 예수님 (1:4~13)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29~35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517904"/>
            <a:ext cx="3448202" cy="224028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556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29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286000"/>
            <a:ext cx="297271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1"/>
                </a:solidFill>
              </a:rPr>
              <a:t>‘생명’ 외에 또 다른 비유는?</a:t>
            </a:r>
            <a:endParaRPr lang="en-US" sz="165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23185"/>
            <a:ext cx="2972714" cy="897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빛 (4~9절)</a:t>
            </a:r>
            <a:endParaRPr lang="en-US" sz="1400" dirty="0"/>
          </a:p>
        </p:txBody>
      </p:sp>
      <p:sp>
        <p:nvSpPr>
          <p:cNvPr id="9" name="card-1"/>
          <p:cNvSpPr/>
          <p:nvPr/>
        </p:nvSpPr>
        <p:spPr>
          <a:xfrm>
            <a:off x="4371746" y="1517904"/>
            <a:ext cx="3448202" cy="224028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17556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기능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2286000"/>
            <a:ext cx="297271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1"/>
                </a:solidFill>
              </a:rPr>
              <a:t>빛은 무엇을 하는가</a:t>
            </a:r>
            <a:endParaRPr lang="en-US" sz="165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2623185"/>
            <a:ext cx="2972714" cy="897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어둠 속에서 볼 수 있게 한다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각 사람에게 비추어 하나님을 보고 알게 한다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내면의 어둠을 물러나게 한다</a:t>
            </a:r>
            <a:endParaRPr lang="en-US" sz="1400" dirty="0"/>
          </a:p>
        </p:txBody>
      </p:sp>
      <p:sp>
        <p:nvSpPr>
          <p:cNvPr id="14" name="card-2"/>
          <p:cNvSpPr/>
          <p:nvPr/>
        </p:nvSpPr>
        <p:spPr>
          <a:xfrm>
            <a:off x="8057693" y="1517904"/>
            <a:ext cx="3448202" cy="224028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17556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30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2286000"/>
            <a:ext cx="297271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1"/>
                </a:solidFill>
              </a:rPr>
              <a:t>그래서 예수님은</a:t>
            </a:r>
            <a:endParaRPr lang="en-US" sz="165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2623185"/>
            <a:ext cx="2972714" cy="897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인도자 (모습 ③)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빛은 ‘인도’의 기능을 수행한다</a:t>
            </a:r>
            <a:endParaRPr lang="en-US" sz="1400" dirty="0"/>
          </a:p>
        </p:txBody>
      </p:sp>
      <p:sp>
        <p:nvSpPr>
          <p:cNvPr id="19" name="subhead-badge"/>
          <p:cNvSpPr/>
          <p:nvPr/>
        </p:nvSpPr>
        <p:spPr>
          <a:xfrm>
            <a:off x="685800" y="3867912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subhead-badge-text"/>
          <p:cNvSpPr txBox="1"/>
          <p:nvPr/>
        </p:nvSpPr>
        <p:spPr>
          <a:xfrm>
            <a:off x="685800" y="3867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흐름</a:t>
            </a:r>
            <a:endParaRPr lang="en-US" sz="1400" dirty="0"/>
          </a:p>
        </p:txBody>
      </p:sp>
      <p:sp>
        <p:nvSpPr>
          <p:cNvPr id="21" name="subhead-text"/>
          <p:cNvSpPr txBox="1"/>
          <p:nvPr/>
        </p:nvSpPr>
        <p:spPr>
          <a:xfrm>
            <a:off x="1161288" y="3858768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모든 사람은 그분에 의해 창조되고 생명을 얻었다 — 그런데</a:t>
            </a:r>
            <a:endParaRPr lang="en-US" sz="1900" dirty="0"/>
          </a:p>
        </p:txBody>
      </p:sp>
      <p:sp>
        <p:nvSpPr>
          <p:cNvPr id="22" name="flow-0"/>
          <p:cNvSpPr/>
          <p:nvPr/>
        </p:nvSpPr>
        <p:spPr>
          <a:xfrm>
            <a:off x="685800" y="4297680"/>
            <a:ext cx="2416988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flow-0-head"/>
          <p:cNvSpPr txBox="1"/>
          <p:nvPr/>
        </p:nvSpPr>
        <p:spPr>
          <a:xfrm>
            <a:off x="832104" y="4480560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창조</a:t>
            </a:r>
            <a:endParaRPr lang="en-US" sz="1700" dirty="0"/>
          </a:p>
        </p:txBody>
      </p:sp>
      <p:sp>
        <p:nvSpPr>
          <p:cNvPr id="24" name="flow-0-body"/>
          <p:cNvSpPr txBox="1"/>
          <p:nvPr/>
        </p:nvSpPr>
        <p:spPr>
          <a:xfrm>
            <a:off x="813816" y="4901184"/>
            <a:ext cx="21609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그분에 의해 지어지고</a:t>
            </a:r>
            <a:endParaRPr lang="en-US" sz="13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생명을 얻었다</a:t>
            </a:r>
            <a:endParaRPr lang="en-US" sz="1300" dirty="0"/>
          </a:p>
        </p:txBody>
      </p:sp>
      <p:sp>
        <p:nvSpPr>
          <p:cNvPr id="25" name="flow-0-arrow"/>
          <p:cNvSpPr txBox="1"/>
          <p:nvPr/>
        </p:nvSpPr>
        <p:spPr>
          <a:xfrm>
            <a:off x="3102788" y="488289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▶</a:t>
            </a:r>
            <a:endParaRPr lang="en-US" sz="1500" dirty="0"/>
          </a:p>
        </p:txBody>
      </p:sp>
      <p:sp>
        <p:nvSpPr>
          <p:cNvPr id="26" name="flow-1"/>
          <p:cNvSpPr/>
          <p:nvPr/>
        </p:nvSpPr>
        <p:spPr>
          <a:xfrm>
            <a:off x="3486836" y="4297680"/>
            <a:ext cx="2416988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flow-1-head"/>
          <p:cNvSpPr txBox="1"/>
          <p:nvPr/>
        </p:nvSpPr>
        <p:spPr>
          <a:xfrm>
            <a:off x="3633140" y="4480560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타락</a:t>
            </a:r>
            <a:endParaRPr lang="en-US" sz="1700" dirty="0"/>
          </a:p>
        </p:txBody>
      </p:sp>
      <p:sp>
        <p:nvSpPr>
          <p:cNvPr id="28" name="flow-1-body"/>
          <p:cNvSpPr txBox="1"/>
          <p:nvPr/>
        </p:nvSpPr>
        <p:spPr>
          <a:xfrm>
            <a:off x="3614852" y="4901184"/>
            <a:ext cx="21609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근원을 버리고</a:t>
            </a:r>
            <a:endParaRPr lang="en-US" sz="13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어둠 속으로 들어갔다</a:t>
            </a:r>
            <a:endParaRPr lang="en-US" sz="1300" dirty="0"/>
          </a:p>
        </p:txBody>
      </p:sp>
      <p:sp>
        <p:nvSpPr>
          <p:cNvPr id="29" name="flow-1-arrow"/>
          <p:cNvSpPr txBox="1"/>
          <p:nvPr/>
        </p:nvSpPr>
        <p:spPr>
          <a:xfrm>
            <a:off x="5903824" y="488289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▶</a:t>
            </a:r>
            <a:endParaRPr lang="en-US" sz="1500" dirty="0"/>
          </a:p>
        </p:txBody>
      </p:sp>
      <p:sp>
        <p:nvSpPr>
          <p:cNvPr id="30" name="flow-2"/>
          <p:cNvSpPr/>
          <p:nvPr/>
        </p:nvSpPr>
        <p:spPr>
          <a:xfrm>
            <a:off x="6287872" y="4297680"/>
            <a:ext cx="2416988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1" name="flow-2-head"/>
          <p:cNvSpPr txBox="1"/>
          <p:nvPr/>
        </p:nvSpPr>
        <p:spPr>
          <a:xfrm>
            <a:off x="6434176" y="4480560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돌아섬</a:t>
            </a:r>
            <a:endParaRPr lang="en-US" sz="1700" dirty="0"/>
          </a:p>
        </p:txBody>
      </p:sp>
      <p:sp>
        <p:nvSpPr>
          <p:cNvPr id="32" name="flow-2-body"/>
          <p:cNvSpPr txBox="1"/>
          <p:nvPr/>
        </p:nvSpPr>
        <p:spPr>
          <a:xfrm>
            <a:off x="6415888" y="4901184"/>
            <a:ext cx="21609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새로운 방향으로 돌아오려면</a:t>
            </a:r>
            <a:endParaRPr lang="en-US" sz="13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오직 빛을 향해 돌아서는 길밖에 없다</a:t>
            </a:r>
            <a:endParaRPr lang="en-US" sz="1300" dirty="0"/>
          </a:p>
        </p:txBody>
      </p:sp>
      <p:sp>
        <p:nvSpPr>
          <p:cNvPr id="33" name="flow-2-arrow"/>
          <p:cNvSpPr txBox="1"/>
          <p:nvPr/>
        </p:nvSpPr>
        <p:spPr>
          <a:xfrm>
            <a:off x="8704859" y="488289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▶</a:t>
            </a:r>
            <a:endParaRPr lang="en-US" sz="1500" dirty="0"/>
          </a:p>
        </p:txBody>
      </p:sp>
      <p:sp>
        <p:nvSpPr>
          <p:cNvPr id="34" name="flow-3"/>
          <p:cNvSpPr/>
          <p:nvPr/>
        </p:nvSpPr>
        <p:spPr>
          <a:xfrm>
            <a:off x="9088907" y="4297680"/>
            <a:ext cx="2416988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5" name="flow-3-head"/>
          <p:cNvSpPr txBox="1"/>
          <p:nvPr/>
        </p:nvSpPr>
        <p:spPr>
          <a:xfrm>
            <a:off x="9235211" y="4480560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생명</a:t>
            </a:r>
            <a:endParaRPr lang="en-US" sz="1700" dirty="0"/>
          </a:p>
        </p:txBody>
      </p:sp>
      <p:sp>
        <p:nvSpPr>
          <p:cNvPr id="36" name="flow-3-body"/>
          <p:cNvSpPr txBox="1"/>
          <p:nvPr/>
        </p:nvSpPr>
        <p:spPr>
          <a:xfrm>
            <a:off x="9216923" y="4901184"/>
            <a:ext cx="21609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생명이 그분 안에 있다</a:t>
            </a:r>
            <a:endParaRPr lang="en-US" sz="13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빛으로 나아갈 때</a:t>
            </a:r>
            <a:endParaRPr lang="en-US" sz="13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나와 다른 사람의 삶을 이해하게 된다</a:t>
            </a:r>
            <a:endParaRPr lang="en-US" sz="1300" dirty="0"/>
          </a:p>
        </p:txBody>
      </p:sp>
      <p:sp>
        <p:nvSpPr>
          <p:cNvPr id="37" name="note"/>
          <p:cNvSpPr txBox="1"/>
          <p:nvPr/>
        </p:nvSpPr>
        <p:spPr>
          <a:xfrm>
            <a:off x="685800" y="596188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어둠은 빛을 이기지 못합니다 — 다만 깨닫지 못할 뿐입니다 (1:5)</a:t>
            </a:r>
            <a:endParaRPr lang="en-US" sz="1400" dirty="0"/>
          </a:p>
        </p:txBody>
      </p:sp>
      <p:sp>
        <p:nvSpPr>
          <p:cNvPr id="3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세례 요한의 자리, 그리고 ‘영접’의 뜻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31~33</a:t>
            </a:r>
            <a:endParaRPr lang="en-US" sz="1400" dirty="0"/>
          </a:p>
        </p:txBody>
      </p:sp>
      <p:sp>
        <p:nvSpPr>
          <p:cNvPr id="4" name="cmp-0"/>
          <p:cNvSpPr/>
          <p:nvPr/>
        </p:nvSpPr>
        <p:spPr>
          <a:xfrm>
            <a:off x="685800" y="1499616"/>
            <a:ext cx="5272888" cy="2377440"/>
          </a:xfrm>
          <a:prstGeom prst="roundRect">
            <a:avLst>
              <a:gd name="adj" fmla="val 230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mp-0-head"/>
          <p:cNvSpPr txBox="1"/>
          <p:nvPr/>
        </p:nvSpPr>
        <p:spPr>
          <a:xfrm>
            <a:off x="960120" y="1737360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31. 세례 요한의 사역 (6~8절)</a:t>
            </a:r>
            <a:endParaRPr lang="en-US" sz="2000" dirty="0"/>
          </a:p>
        </p:txBody>
      </p:sp>
      <p:sp>
        <p:nvSpPr>
          <p:cNvPr id="6" name="cmp-0-items"/>
          <p:cNvSpPr txBox="1"/>
          <p:nvPr/>
        </p:nvSpPr>
        <p:spPr>
          <a:xfrm>
            <a:off x="960120" y="2286000"/>
            <a:ext cx="4724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빛에 대해 증언함으로 예수님을 믿게 하는 것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“그는 빛이 아니요 이 빛에 대하여 증언하러 온 자라”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요한복음은 세례요한의 비중을 의도적으로 낮춘다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“그는 흥하여야 하겠고 나는 쇠하여야 하리라” (3:30)</a:t>
            </a:r>
            <a:endParaRPr lang="en-US" sz="1500" dirty="0"/>
          </a:p>
        </p:txBody>
      </p:sp>
      <p:sp>
        <p:nvSpPr>
          <p:cNvPr id="7" name="cmp-1"/>
          <p:cNvSpPr/>
          <p:nvPr/>
        </p:nvSpPr>
        <p:spPr>
          <a:xfrm>
            <a:off x="6233008" y="1499616"/>
            <a:ext cx="5272888" cy="2377440"/>
          </a:xfrm>
          <a:prstGeom prst="roundRect">
            <a:avLst>
              <a:gd name="adj" fmla="val 230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8" name="cmp-1-head"/>
          <p:cNvSpPr txBox="1"/>
          <p:nvPr/>
        </p:nvSpPr>
        <p:spPr>
          <a:xfrm>
            <a:off x="6507328" y="1737360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32~33. 영접한다는 것 = 믿는 것 = 순종하는 것</a:t>
            </a:r>
            <a:endParaRPr lang="en-US" sz="2000" dirty="0"/>
          </a:p>
        </p:txBody>
      </p:sp>
      <p:sp>
        <p:nvSpPr>
          <p:cNvPr id="9" name="cmp-1-items"/>
          <p:cNvSpPr txBox="1"/>
          <p:nvPr/>
        </p:nvSpPr>
        <p:spPr>
          <a:xfrm>
            <a:off x="6507328" y="2286000"/>
            <a:ext cx="4724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영접 = 그 이름을 믿는 것 (1:12)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‘영접함’과 ‘믿음’이 같은 뜻으로 쓰인다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믿음 = 순종 (3:36)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요한복음의 믿음은 ‘행동하는 믿음’이다</a:t>
            </a:r>
            <a:endParaRPr lang="en-US" sz="1500" dirty="0"/>
          </a:p>
        </p:txBody>
      </p:sp>
      <p:sp>
        <p:nvSpPr>
          <p:cNvPr id="10" name="subhead-badge"/>
          <p:cNvSpPr/>
          <p:nvPr/>
        </p:nvSpPr>
        <p:spPr>
          <a:xfrm>
            <a:off x="685800" y="397764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subhead-badge-text"/>
          <p:cNvSpPr txBox="1"/>
          <p:nvPr/>
        </p:nvSpPr>
        <p:spPr>
          <a:xfrm>
            <a:off x="685800" y="3977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34</a:t>
            </a:r>
            <a:endParaRPr lang="en-US" sz="1400" dirty="0"/>
          </a:p>
        </p:txBody>
      </p:sp>
      <p:sp>
        <p:nvSpPr>
          <p:cNvPr id="12" name="subhead-text"/>
          <p:cNvSpPr txBox="1"/>
          <p:nvPr/>
        </p:nvSpPr>
        <p:spPr>
          <a:xfrm>
            <a:off x="1161288" y="3968496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13절 — 하나님의 자녀가 되는 길</a:t>
            </a:r>
            <a:endParaRPr lang="en-US" sz="1900" dirty="0"/>
          </a:p>
        </p:txBody>
      </p:sp>
      <p:sp>
        <p:nvSpPr>
          <p:cNvPr id="13" name="card-0"/>
          <p:cNvSpPr/>
          <p:nvPr/>
        </p:nvSpPr>
        <p:spPr>
          <a:xfrm>
            <a:off x="685800" y="4389120"/>
            <a:ext cx="2526716" cy="16916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0-badge"/>
          <p:cNvSpPr/>
          <p:nvPr/>
        </p:nvSpPr>
        <p:spPr>
          <a:xfrm>
            <a:off x="868680" y="457200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0-badge-text"/>
          <p:cNvSpPr txBox="1"/>
          <p:nvPr/>
        </p:nvSpPr>
        <p:spPr>
          <a:xfrm>
            <a:off x="86868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✕</a:t>
            </a:r>
            <a:endParaRPr lang="en-US" sz="1200" dirty="0"/>
          </a:p>
        </p:txBody>
      </p:sp>
      <p:sp>
        <p:nvSpPr>
          <p:cNvPr id="16" name="card-0-head"/>
          <p:cNvSpPr txBox="1"/>
          <p:nvPr/>
        </p:nvSpPr>
        <p:spPr>
          <a:xfrm>
            <a:off x="868680" y="5065776"/>
            <a:ext cx="216095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혈통으로 나지 아니하고</a:t>
            </a:r>
            <a:endParaRPr lang="en-US" sz="1500" dirty="0"/>
          </a:p>
        </p:txBody>
      </p:sp>
      <p:sp>
        <p:nvSpPr>
          <p:cNvPr id="17" name="card-0-body"/>
          <p:cNvSpPr txBox="1"/>
          <p:nvPr/>
        </p:nvSpPr>
        <p:spPr>
          <a:xfrm>
            <a:off x="868680" y="5378958"/>
            <a:ext cx="2160956" cy="51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모태신앙이어서가 아니다</a:t>
            </a:r>
            <a:endParaRPr lang="en-US" sz="1300" dirty="0"/>
          </a:p>
        </p:txBody>
      </p:sp>
      <p:sp>
        <p:nvSpPr>
          <p:cNvPr id="18" name="card-1"/>
          <p:cNvSpPr/>
          <p:nvPr/>
        </p:nvSpPr>
        <p:spPr>
          <a:xfrm>
            <a:off x="3450260" y="4389120"/>
            <a:ext cx="2526716" cy="16916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1-badge"/>
          <p:cNvSpPr/>
          <p:nvPr/>
        </p:nvSpPr>
        <p:spPr>
          <a:xfrm>
            <a:off x="3633140" y="457200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1-badge-text"/>
          <p:cNvSpPr txBox="1"/>
          <p:nvPr/>
        </p:nvSpPr>
        <p:spPr>
          <a:xfrm>
            <a:off x="363314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✕</a:t>
            </a:r>
            <a:endParaRPr lang="en-US" sz="1200" dirty="0"/>
          </a:p>
        </p:txBody>
      </p:sp>
      <p:sp>
        <p:nvSpPr>
          <p:cNvPr id="21" name="card-1-head"/>
          <p:cNvSpPr txBox="1"/>
          <p:nvPr/>
        </p:nvSpPr>
        <p:spPr>
          <a:xfrm>
            <a:off x="3633140" y="5065776"/>
            <a:ext cx="216095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육정으로 나지 아니하고</a:t>
            </a:r>
            <a:endParaRPr lang="en-US" sz="1500" dirty="0"/>
          </a:p>
        </p:txBody>
      </p:sp>
      <p:sp>
        <p:nvSpPr>
          <p:cNvPr id="22" name="card-1-body"/>
          <p:cNvSpPr txBox="1"/>
          <p:nvPr/>
        </p:nvSpPr>
        <p:spPr>
          <a:xfrm>
            <a:off x="3633140" y="5378958"/>
            <a:ext cx="2160956" cy="51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사람의 욕구나 노력이 아니다</a:t>
            </a:r>
            <a:endParaRPr lang="en-US" sz="1300" dirty="0"/>
          </a:p>
        </p:txBody>
      </p:sp>
      <p:sp>
        <p:nvSpPr>
          <p:cNvPr id="23" name="card-2"/>
          <p:cNvSpPr/>
          <p:nvPr/>
        </p:nvSpPr>
        <p:spPr>
          <a:xfrm>
            <a:off x="6214720" y="4389120"/>
            <a:ext cx="2526716" cy="16916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2-badge"/>
          <p:cNvSpPr/>
          <p:nvPr/>
        </p:nvSpPr>
        <p:spPr>
          <a:xfrm>
            <a:off x="6397600" y="457200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2-badge-text"/>
          <p:cNvSpPr txBox="1"/>
          <p:nvPr/>
        </p:nvSpPr>
        <p:spPr>
          <a:xfrm>
            <a:off x="639760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✕</a:t>
            </a:r>
            <a:endParaRPr lang="en-US" sz="1200" dirty="0"/>
          </a:p>
        </p:txBody>
      </p:sp>
      <p:sp>
        <p:nvSpPr>
          <p:cNvPr id="26" name="card-2-head"/>
          <p:cNvSpPr txBox="1"/>
          <p:nvPr/>
        </p:nvSpPr>
        <p:spPr>
          <a:xfrm>
            <a:off x="6397600" y="5065776"/>
            <a:ext cx="216095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사람의 뜻으로 나지 않고</a:t>
            </a:r>
            <a:endParaRPr lang="en-US" sz="1500" dirty="0"/>
          </a:p>
        </p:txBody>
      </p:sp>
      <p:sp>
        <p:nvSpPr>
          <p:cNvPr id="27" name="card-2-body"/>
          <p:cNvSpPr txBox="1"/>
          <p:nvPr/>
        </p:nvSpPr>
        <p:spPr>
          <a:xfrm>
            <a:off x="6397600" y="5378958"/>
            <a:ext cx="2160956" cy="51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누군가의 결정으로 되지 않는다</a:t>
            </a:r>
            <a:endParaRPr lang="en-US" sz="1300" dirty="0"/>
          </a:p>
        </p:txBody>
      </p:sp>
      <p:sp>
        <p:nvSpPr>
          <p:cNvPr id="28" name="card-3"/>
          <p:cNvSpPr/>
          <p:nvPr/>
        </p:nvSpPr>
        <p:spPr>
          <a:xfrm>
            <a:off x="8979179" y="4389120"/>
            <a:ext cx="2526716" cy="16916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3-badge"/>
          <p:cNvSpPr/>
          <p:nvPr/>
        </p:nvSpPr>
        <p:spPr>
          <a:xfrm>
            <a:off x="9162059" y="457200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3-badge-text"/>
          <p:cNvSpPr txBox="1"/>
          <p:nvPr/>
        </p:nvSpPr>
        <p:spPr>
          <a:xfrm>
            <a:off x="9162059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○</a:t>
            </a:r>
            <a:endParaRPr lang="en-US" sz="1200" dirty="0"/>
          </a:p>
        </p:txBody>
      </p:sp>
      <p:sp>
        <p:nvSpPr>
          <p:cNvPr id="31" name="card-3-head"/>
          <p:cNvSpPr txBox="1"/>
          <p:nvPr/>
        </p:nvSpPr>
        <p:spPr>
          <a:xfrm>
            <a:off x="9162059" y="5065776"/>
            <a:ext cx="216095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오직 하나님께로 난 자들</a:t>
            </a:r>
            <a:endParaRPr lang="en-US" sz="1500" dirty="0"/>
          </a:p>
        </p:txBody>
      </p:sp>
      <p:sp>
        <p:nvSpPr>
          <p:cNvPr id="32" name="card-3-body"/>
          <p:cNvSpPr txBox="1"/>
          <p:nvPr/>
        </p:nvSpPr>
        <p:spPr>
          <a:xfrm>
            <a:off x="9162059" y="5378958"/>
            <a:ext cx="2160956" cy="263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하나님이 낳으셔야 한다</a:t>
            </a:r>
            <a:endParaRPr lang="en-US" sz="1300" dirty="0"/>
          </a:p>
        </p:txBody>
      </p:sp>
      <p:sp>
        <p:nvSpPr>
          <p:cNvPr id="33" name="card-3-foot"/>
          <p:cNvSpPr txBox="1"/>
          <p:nvPr/>
        </p:nvSpPr>
        <p:spPr>
          <a:xfrm>
            <a:off x="9162059" y="5678742"/>
            <a:ext cx="2160956" cy="25571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35. 자녀 됨의 근원은 예수님</a:t>
            </a:r>
            <a:endParaRPr lang="en-US" sz="115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Q7 · Q8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나는 누구에게 빛을 가리켜 줄 것인가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Q7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당신에게 세례요한의 역할을 한 사람은 누구입니까?</a:t>
            </a:r>
            <a:endParaRPr lang="en-US" sz="1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나를 예수님께로 가리켜 준 사람의 이름을 떠올려 봅시다.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그리고 — 당신은 누구에게 그런 사람이 되려 합니까?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621472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Q8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어두운 세상에서 예수님의 빛을 밝히기 위해 할 수 있는 일은 무엇입니까?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이번 주에 실제로 할 수 있는 한 가지를 구체적으로 적어 봅시다.</a:t>
            </a:r>
            <a:endParaRPr lang="en-US" sz="1500" dirty="0"/>
          </a:p>
        </p:txBody>
      </p:sp>
      <p:sp>
        <p:nvSpPr>
          <p:cNvPr id="14" name="guide"/>
          <p:cNvSpPr txBox="1"/>
          <p:nvPr/>
        </p:nvSpPr>
        <p:spPr>
          <a:xfrm>
            <a:off x="685800" y="53583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조별 나눔 10분 → 전체 나눔 2명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요한복음 1:14</a:t>
            </a:r>
            <a:endParaRPr lang="en-US" sz="32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69164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800" i="1" dirty="0">
                <a:solidFill>
                  <a:schemeClr val="bg1"/>
                </a:solidFill>
              </a:rPr>
              <a:t>“말씀이 육신이 되어 우리 가운데 거하시매 우리가 그의 영광을 보니 아버지의 독생자의 영광이요 은혜와 진리가 충만하더라”</a:t>
            </a:r>
            <a:endParaRPr lang="en-US" sz="28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41239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1:14 (개역개정)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4809744"/>
            <a:ext cx="10820095" cy="786384"/>
          </a:xfrm>
          <a:prstGeom prst="roundRect">
            <a:avLst>
              <a:gd name="adj" fmla="val 11628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4809744"/>
            <a:ext cx="1027145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요한복음에서 ‘영광’이 처음 등장하는 자리 — 영광은 성육신에서 보입니다</a:t>
            </a:r>
            <a:endParaRPr lang="en-US" sz="19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다. 하나님이신 예수님 (1:14~18) — 성육신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36~37</a:t>
            </a:r>
            <a:endParaRPr lang="en-US" sz="1400" dirty="0"/>
          </a:p>
        </p:txBody>
      </p:sp>
      <p:sp>
        <p:nvSpPr>
          <p:cNvPr id="4" name="keyline"/>
          <p:cNvSpPr/>
          <p:nvPr/>
        </p:nvSpPr>
        <p:spPr>
          <a:xfrm>
            <a:off x="685800" y="1517904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1517904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36. 말씀이 육신이 되었다 = 성육신(Incarnation)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먼저 찾아와 주시는 하나님 · 가까이 계시는 하나님</a:t>
            </a:r>
            <a:endParaRPr lang="en-US" sz="18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2660904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2660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37</a:t>
            </a:r>
            <a:endParaRPr lang="en-US" sz="1400" dirty="0"/>
          </a:p>
        </p:txBody>
      </p:sp>
      <p:sp>
        <p:nvSpPr>
          <p:cNvPr id="8" name="subhead-text"/>
          <p:cNvSpPr txBox="1"/>
          <p:nvPr/>
        </p:nvSpPr>
        <p:spPr>
          <a:xfrm>
            <a:off x="1161288" y="2651760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인간이 되기 위해 예수님이 포기하신 것, 그리고 그 이유</a:t>
            </a:r>
            <a:endParaRPr lang="en-US" sz="1900" dirty="0"/>
          </a:p>
        </p:txBody>
      </p:sp>
      <p:sp>
        <p:nvSpPr>
          <p:cNvPr id="9" name="cmp-0"/>
          <p:cNvSpPr/>
          <p:nvPr/>
        </p:nvSpPr>
        <p:spPr>
          <a:xfrm>
            <a:off x="685800" y="3163824"/>
            <a:ext cx="5272888" cy="2651760"/>
          </a:xfrm>
          <a:prstGeom prst="roundRect">
            <a:avLst>
              <a:gd name="adj" fmla="val 206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0-head"/>
          <p:cNvSpPr txBox="1"/>
          <p:nvPr/>
        </p:nvSpPr>
        <p:spPr>
          <a:xfrm>
            <a:off x="960120" y="340156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포기하신 것</a:t>
            </a:r>
            <a:endParaRPr lang="en-US" sz="2000" dirty="0"/>
          </a:p>
        </p:txBody>
      </p:sp>
      <p:sp>
        <p:nvSpPr>
          <p:cNvPr id="11" name="cmp-0-items"/>
          <p:cNvSpPr txBox="1"/>
          <p:nvPr/>
        </p:nvSpPr>
        <p:spPr>
          <a:xfrm>
            <a:off x="960120" y="3950208"/>
            <a:ext cx="472424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하나님으로서의 영광 그 자체 (빌 2:6)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신적 특권 — 전능·전지의 자유로운 사용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하나님과의 깊은 관계성 (“어찌하여 나를 버리셨나이까”)</a:t>
            </a:r>
            <a:endParaRPr lang="en-US" sz="1500" dirty="0"/>
          </a:p>
        </p:txBody>
      </p:sp>
      <p:sp>
        <p:nvSpPr>
          <p:cNvPr id="12" name="cmp-1"/>
          <p:cNvSpPr/>
          <p:nvPr/>
        </p:nvSpPr>
        <p:spPr>
          <a:xfrm>
            <a:off x="6233008" y="3163824"/>
            <a:ext cx="5272888" cy="2651760"/>
          </a:xfrm>
          <a:prstGeom prst="roundRect">
            <a:avLst>
              <a:gd name="adj" fmla="val 206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mp-1-head"/>
          <p:cNvSpPr txBox="1"/>
          <p:nvPr/>
        </p:nvSpPr>
        <p:spPr>
          <a:xfrm>
            <a:off x="6507328" y="340156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왜 포기하셨는가</a:t>
            </a:r>
            <a:endParaRPr lang="en-US" sz="2000" dirty="0"/>
          </a:p>
        </p:txBody>
      </p:sp>
      <p:sp>
        <p:nvSpPr>
          <p:cNvPr id="14" name="cmp-1-items"/>
          <p:cNvSpPr txBox="1"/>
          <p:nvPr/>
        </p:nvSpPr>
        <p:spPr>
          <a:xfrm>
            <a:off x="6507328" y="3950208"/>
            <a:ext cx="472424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믿는 이들에게 하나님의 자녀가 되는 권세를 주기 위해 (1:12)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구원의 놀라운 은혜를 주기 위해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“자기를 비워 종의 형체를 가지사 사람들과 같이 되셨고” (빌 2:7)</a:t>
            </a:r>
            <a:endParaRPr lang="en-US" sz="1500" dirty="0"/>
          </a:p>
        </p:txBody>
      </p:sp>
      <p:sp>
        <p:nvSpPr>
          <p:cNvPr id="15" name="note"/>
          <p:cNvSpPr txBox="1"/>
          <p:nvPr/>
        </p:nvSpPr>
        <p:spPr>
          <a:xfrm>
            <a:off x="685800" y="594360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포기 없는 사랑은 없습니다. 하나님이 먼저 포기하셨습니다.</a:t>
            </a:r>
            <a:endParaRPr lang="en-US" sz="15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율법과 은혜 (1:16~17)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38~40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4813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700" i="1" dirty="0">
                <a:solidFill>
                  <a:schemeClr val="tx1"/>
                </a:solidFill>
              </a:rPr>
              <a:t>“율법은 모세로 말미암아 주어진 것이요 은혜와 진리는 예수 그리스도로 말미암아 온 것이라”</a:t>
            </a:r>
            <a:endParaRPr lang="en-US" sz="17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19933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1:17</a:t>
            </a:r>
            <a:endParaRPr lang="en-US" sz="1500" dirty="0"/>
          </a:p>
        </p:txBody>
      </p:sp>
      <p:sp>
        <p:nvSpPr>
          <p:cNvPr id="6" name="cmp-0"/>
          <p:cNvSpPr/>
          <p:nvPr/>
        </p:nvSpPr>
        <p:spPr>
          <a:xfrm>
            <a:off x="685800" y="2523744"/>
            <a:ext cx="5272888" cy="246888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0-head"/>
          <p:cNvSpPr txBox="1"/>
          <p:nvPr/>
        </p:nvSpPr>
        <p:spPr>
          <a:xfrm>
            <a:off x="960120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율법의 역할</a:t>
            </a:r>
            <a:endParaRPr lang="en-US" sz="2000" dirty="0"/>
          </a:p>
        </p:txBody>
      </p:sp>
      <p:sp>
        <p:nvSpPr>
          <p:cNvPr id="8" name="cmp-0-items"/>
          <p:cNvSpPr txBox="1"/>
          <p:nvPr/>
        </p:nvSpPr>
        <p:spPr>
          <a:xfrm>
            <a:off x="960120" y="3310128"/>
            <a:ext cx="47242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죄를 깨닫게 하고 정죄한다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죄를 있는 그대로 보여주기 위해 주어졌다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진단은 하지만 치료는 못 한다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체온계와 같다 — 열이 있음을 알려주지만 열을 내리지는 못한다</a:t>
            </a:r>
            <a:endParaRPr lang="en-US" sz="1500" dirty="0"/>
          </a:p>
        </p:txBody>
      </p:sp>
      <p:sp>
        <p:nvSpPr>
          <p:cNvPr id="9" name="cmp-1"/>
          <p:cNvSpPr/>
          <p:nvPr/>
        </p:nvSpPr>
        <p:spPr>
          <a:xfrm>
            <a:off x="6233008" y="2523744"/>
            <a:ext cx="5272888" cy="246888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1-head"/>
          <p:cNvSpPr txBox="1"/>
          <p:nvPr/>
        </p:nvSpPr>
        <p:spPr>
          <a:xfrm>
            <a:off x="6507328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은혜의 역할</a:t>
            </a:r>
            <a:endParaRPr lang="en-US" sz="2000" dirty="0"/>
          </a:p>
        </p:txBody>
      </p:sp>
      <p:sp>
        <p:nvSpPr>
          <p:cNvPr id="11" name="cmp-1-items"/>
          <p:cNvSpPr txBox="1"/>
          <p:nvPr/>
        </p:nvSpPr>
        <p:spPr>
          <a:xfrm>
            <a:off x="6507328" y="3310128"/>
            <a:ext cx="47242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죄인을 용서한다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죄의 치료이며 해결이다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노력이 아닌 하나님의 선물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예수님의 십자가가 죄의 문제를 푸는 열쇠다</a:t>
            </a:r>
            <a:endParaRPr lang="en-US" sz="1500" dirty="0"/>
          </a:p>
        </p:txBody>
      </p:sp>
      <p:sp>
        <p:nvSpPr>
          <p:cNvPr id="12" name="keyline"/>
          <p:cNvSpPr/>
          <p:nvPr/>
        </p:nvSpPr>
        <p:spPr>
          <a:xfrm>
            <a:off x="685800" y="5138928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3" name="keyline-text"/>
          <p:cNvSpPr txBox="1"/>
          <p:nvPr/>
        </p:nvSpPr>
        <p:spPr>
          <a:xfrm>
            <a:off x="960120" y="5138928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38. 왜 비교되는가 — 유대인은 율법을 지킴으로 구원받는다고 생각했습니다.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그러나 누구도 완벽히 지킬 수 없기에, 하나님의 은혜로 용서받을 필요가 있습니다.</a:t>
            </a:r>
            <a:endParaRPr lang="en-US" sz="16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18절 — 아버지 품 속에 있는 독생하신 하나님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241280" y="420624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41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48132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800" i="1" dirty="0">
                <a:solidFill>
                  <a:schemeClr val="tx1"/>
                </a:solidFill>
              </a:rPr>
              <a:t>“본래 하나님을 본 사람이 없으되 아버지 품 속에 있는 독생하신 하나님이 나타내셨느니라”</a:t>
            </a:r>
            <a:endParaRPr lang="en-US" sz="18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0848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1:18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265176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28895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41985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아버지 품 속 — 관계성</a:t>
            </a:r>
            <a:endParaRPr lang="en-US" sz="17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3765042"/>
            <a:ext cx="2972714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하나님과의 친밀한 인격적 관계를 뜻한다.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1절의 “하나님과 함께 계셨으니”와 같은 의미다.</a:t>
            </a:r>
            <a:endParaRPr lang="en-US" sz="1400" dirty="0"/>
          </a:p>
        </p:txBody>
      </p:sp>
      <p:sp>
        <p:nvSpPr>
          <p:cNvPr id="11" name="card-1"/>
          <p:cNvSpPr/>
          <p:nvPr/>
        </p:nvSpPr>
        <p:spPr>
          <a:xfrm>
            <a:off x="4371746" y="265176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28895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41985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독생하신 하나님 — 신성</a:t>
            </a:r>
            <a:endParaRPr lang="en-US" sz="17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3765042"/>
            <a:ext cx="2972714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하나님과 동일한 속성을 가지셨다는 뜻이며,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피조된 분이 아님을 뜻한다.</a:t>
            </a:r>
            <a:endParaRPr lang="en-US" sz="1400" dirty="0"/>
          </a:p>
        </p:txBody>
      </p:sp>
      <p:sp>
        <p:nvSpPr>
          <p:cNvPr id="16" name="card-2"/>
          <p:cNvSpPr/>
          <p:nvPr/>
        </p:nvSpPr>
        <p:spPr>
          <a:xfrm>
            <a:off x="8057693" y="265176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28895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③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41985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나타내셨느니라 — 계시</a:t>
            </a:r>
            <a:endParaRPr lang="en-US" sz="17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3765042"/>
            <a:ext cx="2972714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아무도 보지 못한 하나님을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예수님이 보여주셨다.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요한복음은 이 계시에 대한 복음서다.</a:t>
            </a:r>
            <a:endParaRPr lang="en-US" sz="1400" dirty="0"/>
          </a:p>
        </p:txBody>
      </p:sp>
      <p:sp>
        <p:nvSpPr>
          <p:cNvPr id="21" name="bullets"/>
          <p:cNvSpPr txBox="1"/>
          <p:nvPr/>
        </p:nvSpPr>
        <p:spPr>
          <a:xfrm>
            <a:off x="685800" y="5084064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“하나님을 본 사람이 없다”면 모세는? — 모세도 하나님의 본체를 본 것이 아닙니다 (출 33:20~23).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유한하고 죄악된 인생이 하나님을 보는 것은 곧 죽음을 의미합니다. 그래서 하나님이 사람이 되어 오셨습니다.</a:t>
            </a:r>
            <a:endParaRPr lang="en-US" sz="16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Q9 · Q10 · Q11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말씀이 육신이 되셨다면, 나는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Q9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성육신의 의미</a:t>
            </a:r>
            <a:endParaRPr lang="en-US" sz="1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415284"/>
            <a:ext cx="2972714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“말씀이 육신이 되셨다”는 것이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나에게 어떤 의미입니까?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가까이 계시는 하나님 · 포기하시는 분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말씀의 능력</a:t>
            </a:r>
            <a:endParaRPr lang="en-US" sz="1450" dirty="0"/>
          </a:p>
        </p:txBody>
      </p:sp>
      <p:sp>
        <p:nvSpPr>
          <p:cNvPr id="9" name="card-1"/>
          <p:cNvSpPr/>
          <p:nvPr/>
        </p:nvSpPr>
        <p:spPr>
          <a:xfrm>
            <a:off x="4371746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Q10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054096"/>
            <a:ext cx="297271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예수님을 통해 알게 된 하나님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703320"/>
            <a:ext cx="297271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예수님을 통해 하나님의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어떤 부분을 알게 되었습니까?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구원의 뜻 · 진리 · 사랑</a:t>
            </a:r>
            <a:endParaRPr lang="en-US" sz="1450" dirty="0"/>
          </a:p>
        </p:txBody>
      </p:sp>
      <p:sp>
        <p:nvSpPr>
          <p:cNvPr id="14" name="card-2"/>
          <p:cNvSpPr/>
          <p:nvPr/>
        </p:nvSpPr>
        <p:spPr>
          <a:xfrm>
            <a:off x="8057693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Q11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054096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나는 무엇을 포기할 것인가</a:t>
            </a:r>
            <a:endParaRPr lang="en-US" sz="18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415284"/>
            <a:ext cx="2972714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이웃을 위해 무엇을 포기하시겠습니까?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시간 · 돈 · 편안함 · 자존심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이번 주에 한 가지를 정해 봅시다.</a:t>
            </a:r>
            <a:endParaRPr lang="en-US" sz="145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376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조별 나눔 10분 → 전체 나눔 2명</a:t>
            </a:r>
            <a:endParaRPr lang="en-US" sz="14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1강 한 장 정리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17904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7556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286000"/>
            <a:ext cx="481568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핵심 주제</a:t>
            </a:r>
            <a:endParaRPr lang="en-US" sz="1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647188"/>
            <a:ext cx="4815688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예수님은 누구신가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예수님의 신성(神性)에 초점</a:t>
            </a:r>
            <a:endParaRPr lang="en-US" sz="1400" dirty="0"/>
          </a:p>
        </p:txBody>
      </p:sp>
      <p:sp>
        <p:nvSpPr>
          <p:cNvPr id="8" name="card-1"/>
          <p:cNvSpPr/>
          <p:nvPr/>
        </p:nvSpPr>
        <p:spPr>
          <a:xfrm>
            <a:off x="6214720" y="1517904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6452464" y="17556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6452464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6452464" y="2286000"/>
            <a:ext cx="481568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기록목적 (20:31)</a:t>
            </a:r>
            <a:endParaRPr lang="en-US" sz="1800" dirty="0"/>
          </a:p>
        </p:txBody>
      </p:sp>
      <p:sp>
        <p:nvSpPr>
          <p:cNvPr id="12" name="card-1-body"/>
          <p:cNvSpPr txBox="1"/>
          <p:nvPr/>
        </p:nvSpPr>
        <p:spPr>
          <a:xfrm>
            <a:off x="6452464" y="2647188"/>
            <a:ext cx="4815688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예수가 하나님의 아들이심을 믿고,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그 이름을 힘입어 생명을 얻게 함</a:t>
            </a:r>
            <a:endParaRPr lang="en-US" sz="1400" dirty="0"/>
          </a:p>
        </p:txBody>
      </p:sp>
      <p:sp>
        <p:nvSpPr>
          <p:cNvPr id="13" name="subhead-badge"/>
          <p:cNvSpPr/>
          <p:nvPr/>
        </p:nvSpPr>
        <p:spPr>
          <a:xfrm>
            <a:off x="685800" y="3447288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subhead-badge-text"/>
          <p:cNvSpPr txBox="1"/>
          <p:nvPr/>
        </p:nvSpPr>
        <p:spPr>
          <a:xfrm>
            <a:off x="68580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subhead-text"/>
          <p:cNvSpPr txBox="1"/>
          <p:nvPr/>
        </p:nvSpPr>
        <p:spPr>
          <a:xfrm>
            <a:off x="1161288" y="3438144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신성의 근거 여섯 가지</a:t>
            </a:r>
            <a:endParaRPr lang="en-US" sz="1900" dirty="0"/>
          </a:p>
        </p:txBody>
      </p:sp>
      <p:sp>
        <p:nvSpPr>
          <p:cNvPr id="16" name="card-0"/>
          <p:cNvSpPr/>
          <p:nvPr/>
        </p:nvSpPr>
        <p:spPr>
          <a:xfrm>
            <a:off x="685800" y="3877056"/>
            <a:ext cx="1605229" cy="164592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0-head"/>
          <p:cNvSpPr txBox="1"/>
          <p:nvPr/>
        </p:nvSpPr>
        <p:spPr>
          <a:xfrm>
            <a:off x="850392" y="4041648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일곱 자기선언</a:t>
            </a:r>
            <a:endParaRPr lang="en-US" sz="1350" dirty="0"/>
          </a:p>
        </p:txBody>
      </p:sp>
      <p:sp>
        <p:nvSpPr>
          <p:cNvPr id="18" name="card-0-body"/>
          <p:cNvSpPr txBox="1"/>
          <p:nvPr/>
        </p:nvSpPr>
        <p:spPr>
          <a:xfrm>
            <a:off x="850392" y="4330827"/>
            <a:ext cx="1276045" cy="1027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떡 · 빛 · 문 · 목자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부활생명 · 길진리생명 · 포도나무</a:t>
            </a:r>
            <a:endParaRPr lang="en-US" sz="1200" dirty="0"/>
          </a:p>
        </p:txBody>
      </p:sp>
      <p:sp>
        <p:nvSpPr>
          <p:cNvPr id="19" name="card-1"/>
          <p:cNvSpPr/>
          <p:nvPr/>
        </p:nvSpPr>
        <p:spPr>
          <a:xfrm>
            <a:off x="2528773" y="3877056"/>
            <a:ext cx="1605229" cy="164592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1-head"/>
          <p:cNvSpPr txBox="1"/>
          <p:nvPr/>
        </p:nvSpPr>
        <p:spPr>
          <a:xfrm>
            <a:off x="2693365" y="4041648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성령의 복음서</a:t>
            </a:r>
            <a:endParaRPr lang="en-US" sz="1350" dirty="0"/>
          </a:p>
        </p:txBody>
      </p:sp>
      <p:sp>
        <p:nvSpPr>
          <p:cNvPr id="21" name="card-1-body"/>
          <p:cNvSpPr txBox="1"/>
          <p:nvPr/>
        </p:nvSpPr>
        <p:spPr>
          <a:xfrm>
            <a:off x="2693365" y="4330827"/>
            <a:ext cx="1276045" cy="1027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하나님은 영이시다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배에서 생수의 강이 흘러나리라</a:t>
            </a:r>
            <a:endParaRPr lang="en-US" sz="1200" dirty="0"/>
          </a:p>
        </p:txBody>
      </p:sp>
      <p:sp>
        <p:nvSpPr>
          <p:cNvPr id="22" name="card-2"/>
          <p:cNvSpPr/>
          <p:nvPr/>
        </p:nvSpPr>
        <p:spPr>
          <a:xfrm>
            <a:off x="4371746" y="3877056"/>
            <a:ext cx="1605229" cy="164592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2-head"/>
          <p:cNvSpPr txBox="1"/>
          <p:nvPr/>
        </p:nvSpPr>
        <p:spPr>
          <a:xfrm>
            <a:off x="4536338" y="4041648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영광의 복음서</a:t>
            </a:r>
            <a:endParaRPr lang="en-US" sz="1350" dirty="0"/>
          </a:p>
        </p:txBody>
      </p:sp>
      <p:sp>
        <p:nvSpPr>
          <p:cNvPr id="24" name="card-2-body"/>
          <p:cNvSpPr txBox="1"/>
          <p:nvPr/>
        </p:nvSpPr>
        <p:spPr>
          <a:xfrm>
            <a:off x="4536338" y="4330827"/>
            <a:ext cx="1276045" cy="1027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‘영광’이라는 표현이 많다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대표적으로 1:14과 17장</a:t>
            </a:r>
            <a:endParaRPr lang="en-US" sz="1200" dirty="0"/>
          </a:p>
        </p:txBody>
      </p:sp>
      <p:sp>
        <p:nvSpPr>
          <p:cNvPr id="25" name="card-3"/>
          <p:cNvSpPr/>
          <p:nvPr/>
        </p:nvSpPr>
        <p:spPr>
          <a:xfrm>
            <a:off x="6214720" y="3877056"/>
            <a:ext cx="1605229" cy="164592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ard-3-head"/>
          <p:cNvSpPr txBox="1"/>
          <p:nvPr/>
        </p:nvSpPr>
        <p:spPr>
          <a:xfrm>
            <a:off x="6379312" y="4041648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사랑의 복음서</a:t>
            </a:r>
            <a:endParaRPr lang="en-US" sz="1350" dirty="0"/>
          </a:p>
        </p:txBody>
      </p:sp>
      <p:sp>
        <p:nvSpPr>
          <p:cNvPr id="27" name="card-3-body"/>
          <p:cNvSpPr txBox="1"/>
          <p:nvPr/>
        </p:nvSpPr>
        <p:spPr>
          <a:xfrm>
            <a:off x="6379312" y="4330827"/>
            <a:ext cx="1276045" cy="1027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“내가 너희를 사랑한 것 같이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너희도 서로 사랑하라”</a:t>
            </a:r>
            <a:endParaRPr lang="en-US" sz="1200" dirty="0"/>
          </a:p>
        </p:txBody>
      </p:sp>
      <p:sp>
        <p:nvSpPr>
          <p:cNvPr id="28" name="card-4"/>
          <p:cNvSpPr/>
          <p:nvPr/>
        </p:nvSpPr>
        <p:spPr>
          <a:xfrm>
            <a:off x="8057693" y="3877056"/>
            <a:ext cx="1605229" cy="164592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4-head"/>
          <p:cNvSpPr txBox="1"/>
          <p:nvPr/>
        </p:nvSpPr>
        <p:spPr>
          <a:xfrm>
            <a:off x="8222285" y="4041648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일곱 표적</a:t>
            </a:r>
            <a:endParaRPr lang="en-US" sz="1350" dirty="0"/>
          </a:p>
        </p:txBody>
      </p:sp>
      <p:sp>
        <p:nvSpPr>
          <p:cNvPr id="30" name="card-4-body"/>
          <p:cNvSpPr txBox="1"/>
          <p:nvPr/>
        </p:nvSpPr>
        <p:spPr>
          <a:xfrm>
            <a:off x="8222285" y="4330827"/>
            <a:ext cx="1276045" cy="1027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가 왕 베 오 물 실 나</a:t>
            </a:r>
            <a:endParaRPr lang="en-US" sz="1200" dirty="0"/>
          </a:p>
        </p:txBody>
      </p:sp>
      <p:sp>
        <p:nvSpPr>
          <p:cNvPr id="31" name="card-5"/>
          <p:cNvSpPr/>
          <p:nvPr/>
        </p:nvSpPr>
        <p:spPr>
          <a:xfrm>
            <a:off x="9900666" y="3877056"/>
            <a:ext cx="1605229" cy="164592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2" name="card-5-head"/>
          <p:cNvSpPr txBox="1"/>
          <p:nvPr/>
        </p:nvSpPr>
        <p:spPr>
          <a:xfrm>
            <a:off x="10065258" y="4041648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유대 중심 사역</a:t>
            </a:r>
            <a:endParaRPr lang="en-US" sz="1350" dirty="0"/>
          </a:p>
        </p:txBody>
      </p:sp>
      <p:sp>
        <p:nvSpPr>
          <p:cNvPr id="33" name="card-5-body"/>
          <p:cNvSpPr txBox="1"/>
          <p:nvPr/>
        </p:nvSpPr>
        <p:spPr>
          <a:xfrm>
            <a:off x="10065258" y="4330827"/>
            <a:ext cx="1276045" cy="1027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명절마다 예루살렘으로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올라가심 (공관복음은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갈릴리 중심)</a:t>
            </a:r>
            <a:endParaRPr lang="en-US" sz="1200" dirty="0"/>
          </a:p>
        </p:txBody>
      </p:sp>
      <p:sp>
        <p:nvSpPr>
          <p:cNvPr id="34" name="keyline"/>
          <p:cNvSpPr/>
          <p:nvPr/>
        </p:nvSpPr>
        <p:spPr>
          <a:xfrm>
            <a:off x="685800" y="5632704"/>
            <a:ext cx="10820095" cy="512064"/>
          </a:xfrm>
          <a:prstGeom prst="roundRect">
            <a:avLst>
              <a:gd name="adj" fmla="val 17857"/>
            </a:avLst>
          </a:prstGeom>
          <a:solidFill>
            <a:schemeClr val="tx2"/>
          </a:solidFill>
          <a:ln/>
        </p:spPr>
      </p:sp>
      <p:sp>
        <p:nvSpPr>
          <p:cNvPr id="35" name="keyline-text"/>
          <p:cNvSpPr txBox="1"/>
          <p:nvPr/>
        </p:nvSpPr>
        <p:spPr>
          <a:xfrm>
            <a:off x="960120" y="563270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4. 구조  ·  신학적 서론(~1:18) → 유대·예루살렘 사역(1:19~12) → 다락방 강화(13~17) → 수난과 부활(18~20) → 갈릴리 현현(21)</a:t>
            </a:r>
            <a:endParaRPr lang="en-US" sz="1300" dirty="0"/>
          </a:p>
        </p:txBody>
      </p:sp>
      <p:sp>
        <p:nvSpPr>
          <p:cNvPr id="36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다음 주까지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2526716" cy="246888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40864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1강 소감문</a:t>
            </a:r>
            <a:endParaRPr lang="en-US" sz="1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02052"/>
            <a:ext cx="205122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오늘 강의에서 가장 마음에 남은 것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한 가지를 중심으로 작성</a:t>
            </a:r>
            <a:endParaRPr lang="en-US" sz="14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57682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제출 : 2주차</a:t>
            </a:r>
            <a:endParaRPr lang="en-US" sz="1200" dirty="0"/>
          </a:p>
        </p:txBody>
      </p:sp>
      <p:sp>
        <p:nvSpPr>
          <p:cNvPr id="9" name="card-1"/>
          <p:cNvSpPr/>
          <p:nvPr/>
        </p:nvSpPr>
        <p:spPr>
          <a:xfrm>
            <a:off x="3450260" y="1572768"/>
            <a:ext cx="2526716" cy="246888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40864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제2과 예습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702052"/>
            <a:ext cx="205122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요 1:19~4:42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교재 질문에 미리 답해 보기</a:t>
            </a:r>
            <a:endParaRPr lang="en-US" sz="14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57682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제2과 영광이 드러나다</a:t>
            </a:r>
            <a:endParaRPr lang="en-US" sz="1200" dirty="0"/>
          </a:p>
        </p:txBody>
      </p:sp>
      <p:sp>
        <p:nvSpPr>
          <p:cNvPr id="15" name="card-2"/>
          <p:cNvSpPr/>
          <p:nvPr/>
        </p:nvSpPr>
        <p:spPr>
          <a:xfrm>
            <a:off x="6214720" y="1572768"/>
            <a:ext cx="2526716" cy="246888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340864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요한복음 통독</a:t>
            </a:r>
            <a:endParaRPr lang="en-US" sz="18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702052"/>
            <a:ext cx="205122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한 주에 21장 일독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한 번에 쭉 읽어 보기</a:t>
            </a:r>
            <a:endParaRPr lang="en-US" sz="14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57682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권장</a:t>
            </a:r>
            <a:endParaRPr lang="en-US" sz="1200" dirty="0"/>
          </a:p>
        </p:txBody>
      </p:sp>
      <p:sp>
        <p:nvSpPr>
          <p:cNvPr id="21" name="card-3"/>
          <p:cNvSpPr/>
          <p:nvPr/>
        </p:nvSpPr>
        <p:spPr>
          <a:xfrm>
            <a:off x="8979179" y="1572768"/>
            <a:ext cx="2526716" cy="246888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340864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성구 암송</a:t>
            </a:r>
            <a:endParaRPr lang="en-US" sz="18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702052"/>
            <a:ext cx="205122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요한복음 1:12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요한복음 20:31</a:t>
            </a:r>
            <a:endParaRPr lang="en-US" sz="14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576828"/>
            <a:ext cx="2051228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권장</a:t>
            </a:r>
            <a:endParaRPr lang="en-US" sz="1200" dirty="0"/>
          </a:p>
        </p:txBody>
      </p:sp>
      <p:sp>
        <p:nvSpPr>
          <p:cNvPr id="27" name="scripture-text"/>
          <p:cNvSpPr txBox="1"/>
          <p:nvPr/>
        </p:nvSpPr>
        <p:spPr>
          <a:xfrm>
            <a:off x="685800" y="4261104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“영접하는 자 곧 그 이름을 믿는 자들에게는 하나님의 자녀가 되는 권세를 주셨으니”</a:t>
            </a:r>
            <a:endParaRPr lang="en-US" sz="1900" dirty="0"/>
          </a:p>
        </p:txBody>
      </p:sp>
      <p:sp>
        <p:nvSpPr>
          <p:cNvPr id="28" name="scripture-ref"/>
          <p:cNvSpPr txBox="1"/>
          <p:nvPr/>
        </p:nvSpPr>
        <p:spPr>
          <a:xfrm>
            <a:off x="685800" y="54132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1:12 — 이번 주 암송 구절</a:t>
            </a:r>
            <a:endParaRPr lang="en-US" sz="15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1"/>
                </a:solidFill>
              </a:rPr>
              <a:t>제1강을 마칩니다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절대 예수</a:t>
            </a:r>
            <a:endParaRPr lang="en-US" sz="5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i="1" dirty="0">
                <a:solidFill>
                  <a:schemeClr val="accent6"/>
                </a:solidFill>
              </a:rPr>
              <a:t>“오직 이것을 기록함은 너희로 예수께서 하나님의 아들 그리스도이심을 믿게 하려 함이요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i="1" dirty="0">
                <a:solidFill>
                  <a:schemeClr val="accent6"/>
                </a:solidFill>
              </a:rPr>
              <a:t>또 너희로 믿고 그 이름을 힘입어 생명을 얻게 하려 함이니라”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chemeClr val="accent6"/>
                </a:solidFill>
              </a:rPr>
              <a:t>요한복음 20:31</a:t>
            </a:r>
            <a:endParaRPr lang="en-US" sz="1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부록 ① 요한복음을 더 깊이 읽는 자료</a:t>
            </a:r>
            <a:endParaRPr lang="en-US" sz="3200" dirty="0"/>
          </a:p>
        </p:txBody>
      </p:sp>
      <p:sp>
        <p:nvSpPr>
          <p:cNvPr id="3" name="ap-0.75-0"/>
          <p:cNvSpPr/>
          <p:nvPr/>
        </p:nvSpPr>
        <p:spPr>
          <a:xfrm>
            <a:off x="685800" y="1536192"/>
            <a:ext cx="5577840" cy="676656"/>
          </a:xfrm>
          <a:prstGeom prst="roundRect">
            <a:avLst>
              <a:gd name="adj" fmla="val 8108"/>
            </a:avLst>
          </a:prstGeom>
          <a:solidFill>
            <a:schemeClr val="bg2"/>
          </a:solidFill>
          <a:ln/>
        </p:spPr>
      </p:sp>
      <p:sp>
        <p:nvSpPr>
          <p:cNvPr id="4" name="ap-0.75-0-k"/>
          <p:cNvSpPr txBox="1"/>
          <p:nvPr/>
        </p:nvSpPr>
        <p:spPr>
          <a:xfrm>
            <a:off x="868680" y="160934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성령의 상징</a:t>
            </a:r>
            <a:endParaRPr lang="en-US" sz="1300" dirty="0"/>
          </a:p>
        </p:txBody>
      </p:sp>
      <p:sp>
        <p:nvSpPr>
          <p:cNvPr id="5" name="ap-0.75-0-v"/>
          <p:cNvSpPr txBox="1"/>
          <p:nvPr/>
        </p:nvSpPr>
        <p:spPr>
          <a:xfrm>
            <a:off x="868680" y="186537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바람(3장) · 비둘기(1:32) · 물(7장) · 기름(눅 4장) · 인(엡 1장) · 불(행 2장)</a:t>
            </a:r>
            <a:endParaRPr lang="en-US" sz="1200" dirty="0"/>
          </a:p>
        </p:txBody>
      </p:sp>
      <p:sp>
        <p:nvSpPr>
          <p:cNvPr id="6" name="ap-0.75-1"/>
          <p:cNvSpPr/>
          <p:nvPr/>
        </p:nvSpPr>
        <p:spPr>
          <a:xfrm>
            <a:off x="685800" y="2340864"/>
            <a:ext cx="557784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7" name="ap-0.75-1-k"/>
          <p:cNvSpPr txBox="1"/>
          <p:nvPr/>
        </p:nvSpPr>
        <p:spPr>
          <a:xfrm>
            <a:off x="868680" y="241401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안식일 치유 6</a:t>
            </a:r>
            <a:endParaRPr lang="en-US" sz="1300" dirty="0"/>
          </a:p>
        </p:txBody>
      </p:sp>
      <p:sp>
        <p:nvSpPr>
          <p:cNvPr id="8" name="ap-0.75-1-v"/>
          <p:cNvSpPr txBox="1"/>
          <p:nvPr/>
        </p:nvSpPr>
        <p:spPr>
          <a:xfrm>
            <a:off x="868680" y="2670048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손 마른 자 · 꼬부라진 여인(눅 13) · 수종병자(눅 14)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베데스다 병자(요 5) · 실로암 맹인(요 9) · 가버나움 회당 축귀</a:t>
            </a:r>
            <a:endParaRPr lang="en-US" sz="1200" dirty="0"/>
          </a:p>
        </p:txBody>
      </p:sp>
      <p:sp>
        <p:nvSpPr>
          <p:cNvPr id="9" name="ap-0.75-2"/>
          <p:cNvSpPr/>
          <p:nvPr/>
        </p:nvSpPr>
        <p:spPr>
          <a:xfrm>
            <a:off x="685800" y="3383280"/>
            <a:ext cx="5577840" cy="676656"/>
          </a:xfrm>
          <a:prstGeom prst="roundRect">
            <a:avLst>
              <a:gd name="adj" fmla="val 8108"/>
            </a:avLst>
          </a:prstGeom>
          <a:solidFill>
            <a:schemeClr val="bg2"/>
          </a:solidFill>
          <a:ln/>
        </p:spPr>
      </p:sp>
      <p:sp>
        <p:nvSpPr>
          <p:cNvPr id="10" name="ap-0.75-2-k"/>
          <p:cNvSpPr txBox="1"/>
          <p:nvPr/>
        </p:nvSpPr>
        <p:spPr>
          <a:xfrm>
            <a:off x="868680" y="34564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“다시는 죄를 범하지 말라”</a:t>
            </a:r>
            <a:endParaRPr lang="en-US" sz="1300" dirty="0"/>
          </a:p>
        </p:txBody>
      </p:sp>
      <p:sp>
        <p:nvSpPr>
          <p:cNvPr id="11" name="ap-0.75-2-v"/>
          <p:cNvSpPr txBox="1"/>
          <p:nvPr/>
        </p:nvSpPr>
        <p:spPr>
          <a:xfrm>
            <a:off x="868680" y="371246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간음한 여인(요 8:11) · 베데스다 못가 병자(요 5:14)</a:t>
            </a:r>
            <a:endParaRPr lang="en-US" sz="1200" dirty="0"/>
          </a:p>
        </p:txBody>
      </p:sp>
      <p:sp>
        <p:nvSpPr>
          <p:cNvPr id="12" name="ap-0.75-3"/>
          <p:cNvSpPr/>
          <p:nvPr/>
        </p:nvSpPr>
        <p:spPr>
          <a:xfrm>
            <a:off x="685800" y="4187952"/>
            <a:ext cx="5577840" cy="676656"/>
          </a:xfrm>
          <a:prstGeom prst="roundRect">
            <a:avLst>
              <a:gd name="adj" fmla="val 8108"/>
            </a:avLst>
          </a:prstGeom>
          <a:solidFill>
            <a:schemeClr val="bg2"/>
          </a:solidFill>
          <a:ln/>
        </p:spPr>
      </p:sp>
      <p:sp>
        <p:nvSpPr>
          <p:cNvPr id="13" name="ap-0.75-3-k"/>
          <p:cNvSpPr txBox="1"/>
          <p:nvPr/>
        </p:nvSpPr>
        <p:spPr>
          <a:xfrm>
            <a:off x="868680" y="42611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출교(쫓아냄)</a:t>
            </a:r>
            <a:endParaRPr lang="en-US" sz="1300" dirty="0"/>
          </a:p>
        </p:txBody>
      </p:sp>
      <p:sp>
        <p:nvSpPr>
          <p:cNvPr id="14" name="ap-0.75-3-v"/>
          <p:cNvSpPr txBox="1"/>
          <p:nvPr/>
        </p:nvSpPr>
        <p:spPr>
          <a:xfrm>
            <a:off x="868680" y="451713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9:22 · 12:42 · 16:2 — 당시 유대 공동체의 실제 위협</a:t>
            </a:r>
            <a:endParaRPr lang="en-US" sz="1200" dirty="0"/>
          </a:p>
        </p:txBody>
      </p:sp>
      <p:sp>
        <p:nvSpPr>
          <p:cNvPr id="15" name="ap-7.08-0"/>
          <p:cNvSpPr/>
          <p:nvPr/>
        </p:nvSpPr>
        <p:spPr>
          <a:xfrm>
            <a:off x="6473952" y="1536192"/>
            <a:ext cx="5577840" cy="676656"/>
          </a:xfrm>
          <a:prstGeom prst="roundRect">
            <a:avLst>
              <a:gd name="adj" fmla="val 8108"/>
            </a:avLst>
          </a:prstGeom>
          <a:solidFill>
            <a:schemeClr val="bg2"/>
          </a:solidFill>
          <a:ln/>
        </p:spPr>
      </p:sp>
      <p:sp>
        <p:nvSpPr>
          <p:cNvPr id="16" name="ap-7.08-0-k"/>
          <p:cNvSpPr txBox="1"/>
          <p:nvPr/>
        </p:nvSpPr>
        <p:spPr>
          <a:xfrm>
            <a:off x="6656832" y="160934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제6시</a:t>
            </a:r>
            <a:endParaRPr lang="en-US" sz="1300" dirty="0"/>
          </a:p>
        </p:txBody>
      </p:sp>
      <p:sp>
        <p:nvSpPr>
          <p:cNvPr id="17" name="ap-7.08-0-v"/>
          <p:cNvSpPr txBox="1"/>
          <p:nvPr/>
        </p:nvSpPr>
        <p:spPr>
          <a:xfrm>
            <a:off x="6656832" y="186537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수가성 여인(4장) · 십자가의 어둠 · 베드로의 환상(행 10)</a:t>
            </a:r>
            <a:endParaRPr lang="en-US" sz="1200" dirty="0"/>
          </a:p>
        </p:txBody>
      </p:sp>
      <p:sp>
        <p:nvSpPr>
          <p:cNvPr id="18" name="ap-7.08-1"/>
          <p:cNvSpPr/>
          <p:nvPr/>
        </p:nvSpPr>
        <p:spPr>
          <a:xfrm>
            <a:off x="6473952" y="2340864"/>
            <a:ext cx="5577840" cy="676656"/>
          </a:xfrm>
          <a:prstGeom prst="roundRect">
            <a:avLst>
              <a:gd name="adj" fmla="val 8108"/>
            </a:avLst>
          </a:prstGeom>
          <a:solidFill>
            <a:schemeClr val="bg2"/>
          </a:solidFill>
          <a:ln/>
        </p:spPr>
      </p:sp>
      <p:sp>
        <p:nvSpPr>
          <p:cNvPr id="19" name="ap-7.08-1-k"/>
          <p:cNvSpPr txBox="1"/>
          <p:nvPr/>
        </p:nvSpPr>
        <p:spPr>
          <a:xfrm>
            <a:off x="6656832" y="241401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제3시</a:t>
            </a:r>
            <a:endParaRPr lang="en-US" sz="1300" dirty="0"/>
          </a:p>
        </p:txBody>
      </p:sp>
      <p:sp>
        <p:nvSpPr>
          <p:cNvPr id="20" name="ap-7.08-1-v"/>
          <p:cNvSpPr txBox="1"/>
          <p:nvPr/>
        </p:nvSpPr>
        <p:spPr>
          <a:xfrm>
            <a:off x="6656832" y="267004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십자가에 못 박히심(막) · 성령 강림(행 2)</a:t>
            </a:r>
            <a:endParaRPr lang="en-US" sz="1200" dirty="0"/>
          </a:p>
        </p:txBody>
      </p:sp>
      <p:sp>
        <p:nvSpPr>
          <p:cNvPr id="21" name="ap-7.08-2"/>
          <p:cNvSpPr/>
          <p:nvPr/>
        </p:nvSpPr>
        <p:spPr>
          <a:xfrm>
            <a:off x="6473952" y="3145536"/>
            <a:ext cx="5577840" cy="676656"/>
          </a:xfrm>
          <a:prstGeom prst="roundRect">
            <a:avLst>
              <a:gd name="adj" fmla="val 8108"/>
            </a:avLst>
          </a:prstGeom>
          <a:solidFill>
            <a:schemeClr val="bg2"/>
          </a:solidFill>
          <a:ln/>
        </p:spPr>
      </p:sp>
      <p:sp>
        <p:nvSpPr>
          <p:cNvPr id="22" name="ap-7.08-2-k"/>
          <p:cNvSpPr txBox="1"/>
          <p:nvPr/>
        </p:nvSpPr>
        <p:spPr>
          <a:xfrm>
            <a:off x="6656832" y="32186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제7시</a:t>
            </a:r>
            <a:endParaRPr lang="en-US" sz="1300" dirty="0"/>
          </a:p>
        </p:txBody>
      </p:sp>
      <p:sp>
        <p:nvSpPr>
          <p:cNvPr id="23" name="ap-7.08-2-v"/>
          <p:cNvSpPr txBox="1"/>
          <p:nvPr/>
        </p:nvSpPr>
        <p:spPr>
          <a:xfrm>
            <a:off x="6656832" y="3474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왕의 신하 아들의 열이 내림(요 4:52)</a:t>
            </a:r>
            <a:endParaRPr lang="en-US" sz="1200" dirty="0"/>
          </a:p>
        </p:txBody>
      </p:sp>
      <p:sp>
        <p:nvSpPr>
          <p:cNvPr id="24" name="ap-7.08-3"/>
          <p:cNvSpPr/>
          <p:nvPr/>
        </p:nvSpPr>
        <p:spPr>
          <a:xfrm>
            <a:off x="6473952" y="3950208"/>
            <a:ext cx="5577840" cy="676656"/>
          </a:xfrm>
          <a:prstGeom prst="roundRect">
            <a:avLst>
              <a:gd name="adj" fmla="val 8108"/>
            </a:avLst>
          </a:prstGeom>
          <a:solidFill>
            <a:schemeClr val="bg2"/>
          </a:solidFill>
          <a:ln/>
        </p:spPr>
      </p:sp>
      <p:sp>
        <p:nvSpPr>
          <p:cNvPr id="25" name="ap-7.08-3-k"/>
          <p:cNvSpPr txBox="1"/>
          <p:nvPr/>
        </p:nvSpPr>
        <p:spPr>
          <a:xfrm>
            <a:off x="6656832" y="40233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제9시</a:t>
            </a:r>
            <a:endParaRPr lang="en-US" sz="1300" dirty="0"/>
          </a:p>
        </p:txBody>
      </p:sp>
      <p:sp>
        <p:nvSpPr>
          <p:cNvPr id="26" name="ap-7.08-3-v"/>
          <p:cNvSpPr txBox="1"/>
          <p:nvPr/>
        </p:nvSpPr>
        <p:spPr>
          <a:xfrm>
            <a:off x="6656832" y="42793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예수님의 죽음 · 미문의 앉은뱅이 치유(행 3) · 고넬료의 환상(행 10)</a:t>
            </a:r>
            <a:endParaRPr lang="en-US" sz="1200" dirty="0"/>
          </a:p>
        </p:txBody>
      </p:sp>
      <p:sp>
        <p:nvSpPr>
          <p:cNvPr id="27" name="ap-7.08-4"/>
          <p:cNvSpPr/>
          <p:nvPr/>
        </p:nvSpPr>
        <p:spPr>
          <a:xfrm>
            <a:off x="6473952" y="4754880"/>
            <a:ext cx="5577840" cy="676656"/>
          </a:xfrm>
          <a:prstGeom prst="roundRect">
            <a:avLst>
              <a:gd name="adj" fmla="val 8108"/>
            </a:avLst>
          </a:prstGeom>
          <a:solidFill>
            <a:schemeClr val="bg2"/>
          </a:solidFill>
          <a:ln/>
        </p:spPr>
      </p:sp>
      <p:sp>
        <p:nvSpPr>
          <p:cNvPr id="28" name="ap-7.08-4-k"/>
          <p:cNvSpPr txBox="1"/>
          <p:nvPr/>
        </p:nvSpPr>
        <p:spPr>
          <a:xfrm>
            <a:off x="6656832" y="48280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제10시</a:t>
            </a:r>
            <a:endParaRPr lang="en-US" sz="1300" dirty="0"/>
          </a:p>
        </p:txBody>
      </p:sp>
      <p:sp>
        <p:nvSpPr>
          <p:cNvPr id="29" name="ap-7.08-4-v"/>
          <p:cNvSpPr txBox="1"/>
          <p:nvPr/>
        </p:nvSpPr>
        <p:spPr>
          <a:xfrm>
            <a:off x="6656832" y="508406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안드레의 부르심(요 1:39)</a:t>
            </a:r>
            <a:endParaRPr lang="en-US" sz="1200" dirty="0"/>
          </a:p>
        </p:txBody>
      </p:sp>
      <p:sp>
        <p:nvSpPr>
          <p:cNvPr id="30" name="ap-7.08-5"/>
          <p:cNvSpPr/>
          <p:nvPr/>
        </p:nvSpPr>
        <p:spPr>
          <a:xfrm>
            <a:off x="6473952" y="5559552"/>
            <a:ext cx="5577840" cy="676656"/>
          </a:xfrm>
          <a:prstGeom prst="roundRect">
            <a:avLst>
              <a:gd name="adj" fmla="val 8108"/>
            </a:avLst>
          </a:prstGeom>
          <a:solidFill>
            <a:schemeClr val="bg2"/>
          </a:solidFill>
          <a:ln/>
        </p:spPr>
      </p:sp>
      <p:sp>
        <p:nvSpPr>
          <p:cNvPr id="31" name="ap-7.08-5-k"/>
          <p:cNvSpPr txBox="1"/>
          <p:nvPr/>
        </p:nvSpPr>
        <p:spPr>
          <a:xfrm>
            <a:off x="6656832" y="56327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밤 사경</a:t>
            </a:r>
            <a:endParaRPr lang="en-US" sz="1300" dirty="0"/>
          </a:p>
        </p:txBody>
      </p:sp>
      <p:sp>
        <p:nvSpPr>
          <p:cNvPr id="32" name="ap-7.08-5-v"/>
          <p:cNvSpPr txBox="1"/>
          <p:nvPr/>
        </p:nvSpPr>
        <p:spPr>
          <a:xfrm>
            <a:off x="6656832" y="588873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예수님이 바다 위를 걸으심(요 6, 마 14)</a:t>
            </a:r>
            <a:endParaRPr lang="en-US" sz="1200" dirty="0"/>
          </a:p>
        </p:txBody>
      </p:sp>
      <p:sp>
        <p:nvSpPr>
          <p:cNvPr id="33" name="note"/>
          <p:cNvSpPr txBox="1"/>
          <p:nvPr/>
        </p:nvSpPr>
        <p:spPr>
          <a:xfrm>
            <a:off x="6473952" y="5760720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※ 시간은 유대식 시간 — 제6시는 정오, 제9시는 오후 3시입니다.</a:t>
            </a:r>
            <a:endParaRPr lang="en-US" sz="120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부록 ② 14장의 세 가지 질문, 그리고 부활 현현</a:t>
            </a:r>
            <a:endParaRPr lang="en-US" sz="32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17904"/>
          <a:ext cx="108200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754880"/>
                <a:gridCol w="4325112"/>
              </a:tblGrid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묻는 제자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예수님의 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도마 (14:5)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주여, 어디로 가시는지 우리가 알지 못하거니와 그 길을 어찌 알겠사옵나이까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내가 곧 길이요 진리요 생명이니 (14:6)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빌립 (14:8)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주여, 아버지를 우리에게 보여 주옵소서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나를 본 자는 아버지를 보았거늘 (14:9)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→ 보혜사를 영원토록 함께 있게 하시리라 (14:16)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유다 (14:22)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주여, 어찌하여 세상에는 나타내지 아니하시고 우리에게는 나타내려 하시나이까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보혜사 성령이 모든 것을 생각나게 하시리라 (14:26)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subhead-badge"/>
          <p:cNvSpPr/>
          <p:nvPr/>
        </p:nvSpPr>
        <p:spPr>
          <a:xfrm>
            <a:off x="685800" y="4910328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ubhead-badge-text"/>
          <p:cNvSpPr txBox="1"/>
          <p:nvPr/>
        </p:nvSpPr>
        <p:spPr>
          <a:xfrm>
            <a:off x="685800" y="4910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cf</a:t>
            </a:r>
            <a:endParaRPr lang="en-US" sz="1400" dirty="0"/>
          </a:p>
        </p:txBody>
      </p:sp>
      <p:sp>
        <p:nvSpPr>
          <p:cNvPr id="6" name="subhead-text"/>
          <p:cNvSpPr txBox="1"/>
          <p:nvPr/>
        </p:nvSpPr>
        <p:spPr>
          <a:xfrm>
            <a:off x="1161288" y="4901184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요한복음에서 부활하신 예수님이 제자들에게 나타나신 세 장면</a:t>
            </a:r>
            <a:endParaRPr lang="en-US" sz="1900" dirty="0"/>
          </a:p>
        </p:txBody>
      </p:sp>
      <p:sp>
        <p:nvSpPr>
          <p:cNvPr id="7" name="card-0"/>
          <p:cNvSpPr/>
          <p:nvPr/>
        </p:nvSpPr>
        <p:spPr>
          <a:xfrm>
            <a:off x="685800" y="5321808"/>
            <a:ext cx="3448202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8" name="card-0-head"/>
          <p:cNvSpPr txBox="1"/>
          <p:nvPr/>
        </p:nvSpPr>
        <p:spPr>
          <a:xfrm>
            <a:off x="850392" y="5486400"/>
            <a:ext cx="311901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① 안식 후 첫날 저녁</a:t>
            </a:r>
            <a:endParaRPr lang="en-US" sz="1400" dirty="0"/>
          </a:p>
        </p:txBody>
      </p:sp>
      <p:sp>
        <p:nvSpPr>
          <p:cNvPr id="9" name="card-0-body"/>
          <p:cNvSpPr txBox="1"/>
          <p:nvPr/>
        </p:nvSpPr>
        <p:spPr>
          <a:xfrm>
            <a:off x="850392" y="5783580"/>
            <a:ext cx="311901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20:19~23 · 성령을 받으라</a:t>
            </a:r>
            <a:endParaRPr lang="en-US" sz="1200" dirty="0"/>
          </a:p>
        </p:txBody>
      </p:sp>
      <p:sp>
        <p:nvSpPr>
          <p:cNvPr id="10" name="card-1"/>
          <p:cNvSpPr/>
          <p:nvPr/>
        </p:nvSpPr>
        <p:spPr>
          <a:xfrm>
            <a:off x="4371746" y="5321808"/>
            <a:ext cx="3448202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head"/>
          <p:cNvSpPr txBox="1"/>
          <p:nvPr/>
        </p:nvSpPr>
        <p:spPr>
          <a:xfrm>
            <a:off x="4536338" y="5486400"/>
            <a:ext cx="311901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② 도마의 회심</a:t>
            </a:r>
            <a:endParaRPr lang="en-US" sz="1400" dirty="0"/>
          </a:p>
        </p:txBody>
      </p:sp>
      <p:sp>
        <p:nvSpPr>
          <p:cNvPr id="12" name="card-1-body"/>
          <p:cNvSpPr txBox="1"/>
          <p:nvPr/>
        </p:nvSpPr>
        <p:spPr>
          <a:xfrm>
            <a:off x="4536338" y="5783580"/>
            <a:ext cx="311901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20:26~29 · 나의 주, 나의 하나님</a:t>
            </a:r>
            <a:endParaRPr lang="en-US" sz="1200" dirty="0"/>
          </a:p>
        </p:txBody>
      </p:sp>
      <p:sp>
        <p:nvSpPr>
          <p:cNvPr id="13" name="card-2"/>
          <p:cNvSpPr/>
          <p:nvPr/>
        </p:nvSpPr>
        <p:spPr>
          <a:xfrm>
            <a:off x="8057693" y="5321808"/>
            <a:ext cx="3448202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head"/>
          <p:cNvSpPr txBox="1"/>
          <p:nvPr/>
        </p:nvSpPr>
        <p:spPr>
          <a:xfrm>
            <a:off x="8222285" y="5486400"/>
            <a:ext cx="311901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③ 디베랴 바닷가 153마리</a:t>
            </a:r>
            <a:endParaRPr lang="en-US" sz="1400" dirty="0"/>
          </a:p>
        </p:txBody>
      </p:sp>
      <p:sp>
        <p:nvSpPr>
          <p:cNvPr id="15" name="card-2-body"/>
          <p:cNvSpPr txBox="1"/>
          <p:nvPr/>
        </p:nvSpPr>
        <p:spPr>
          <a:xfrm>
            <a:off x="8222285" y="5783580"/>
            <a:ext cx="311901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21:1~14 · 숯불 위의 생선과 떡</a:t>
            </a:r>
            <a:endParaRPr lang="en-US" sz="12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ry - Gospel of John">
  <a:themeElements>
    <a:clrScheme name="Glory - Gospel of John">
      <a:dk1>
        <a:srgbClr val="17202B"/>
      </a:dk1>
      <a:lt1>
        <a:srgbClr val="FFFFFF"/>
      </a:lt1>
      <a:dk2>
        <a:srgbClr val="0E1826"/>
      </a:dk2>
      <a:lt2>
        <a:srgbClr val="F1F4F7"/>
      </a:lt2>
      <a:accent1>
        <a:srgbClr val="C19A4B"/>
      </a:accent1>
      <a:accent2>
        <a:srgbClr val="1F3A52"/>
      </a:accent2>
      <a:accent3>
        <a:srgbClr val="5E7488"/>
      </a:accent3>
      <a:accent4>
        <a:srgbClr val="AEB9C4"/>
      </a:accent4>
      <a:accent5>
        <a:srgbClr val="9A7628"/>
      </a:accent5>
      <a:accent6>
        <a:srgbClr val="E0CA9A"/>
      </a:accent6>
      <a:hlink>
        <a:srgbClr val="1F3A52"/>
      </a:hlink>
      <a:folHlink>
        <a:srgbClr val="5E7488"/>
      </a:folHlink>
    </a:clrScheme>
    <a:fontScheme name="Glory - Gospel of John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요한복음 제1강 영광을 만나기 위한 준비</dc:title>
  <dc:subject>요한복음 제1과 · 요한복음 1:1~18</dc:subject>
  <dc:creator>박성은 목사</dc:creator>
  <cp:lastModifiedBy>박성은 목사</cp:lastModifiedBy>
  <cp:revision>1</cp:revision>
  <dcterms:created xsi:type="dcterms:W3CDTF">2026-10-23T14:30:09Z</dcterms:created>
  <dcterms:modified xsi:type="dcterms:W3CDTF">2026-10-23T14:30:09Z</dcterms:modified>
</cp:coreProperties>
</file>